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02 de la unidad Ethereum. Objetivo: entender cómo una cuenta firma una transacción, cómo esa transacción modifica el estado y cómo el gas disciplina la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fórmula Y(S,T)=S prima resume el modelo: las transacciones no son simples mensajes, son entradas que transforman el estado global según reglas comunes.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prepara el terreno para los laboratorios: Transaction Lab, EVM Lab y Gas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Ethereum distingue cuentas de usuario y cuentas de contrato. Ambas pueden tener ETH, recibir tokens e interactuar con contratos, pero solo una EOA puede originar una transacción por firma directa.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cuenta no es solamente una dirección: es un paquete de estado mínimo. El nonce aparece repetidamente en la práctica: reemplazo de transacciones, transacciones atascadas y creación de contratos.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práctica está en el manejo de la clave privada. Una wallet es interfaz y custodia de claves, no la cuenta en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prevenir una confusión común: las wallets no contienen ETH como archivos, gestionan claves que autorizan cambios en el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transacción combina intención económica, autorización criptográfica y límites de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estado de usuario de estado de red: un wallet puede mostrar pendiente, incluido, confirmado o fallido.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nonce es uno de los conceptos operativos más importantes. Explica las transacciones atascadas y el reemplazo por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distinción es central para leer block explorers: una transacción normal puede ser una transferencia simple, una interacción con contrato o un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alumnos no programadores: ABI es el diccionario que permite que una interfaz traduzca transfer(to, amount) a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logs son centrales para APIs, indexadores, Dune, The Graph y exploradores.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EVM no es una computadora física única; es una especificación de ejecución compartida por todos los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ayuda a explicar por qué escribir en storage cuesta más gas y por qué calldata se usa para parámetros.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con analogía: gas como litros de combustible/medición de esfuerzo; gwei como precio por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EIP-1559 separa un componente de precio dinámico fijado por el protocolo y una propina. La base fee se quema y el validador recibe la prioridad.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fórmula ayuda a separar unidades: gas, gwei, ETH y dólares. No confundir gas usado con precio por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base fee no se subasta directamente en el momento: se calcula a partir del bloque anterior y crea un mecanismo de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actualiza la discusión a 2026: Type 3 por blobs y Type 4 por EIP-7702/Pectra.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transacción fallida puede tener status 0 en el receipt y de todas maneras haber consumido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ejercicio oralmente y pedir a estudiantes que separen valor transferido, fee y balance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conecta el PPT 02 con el repositorio: las simulaciones deben permitir manipulación directa de parámetros, como en la U2 de Bitcoin.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recapitulación. El objetivo es que el alumno pueda leer un explorador de bloques con criterio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fuentes primarias. Recomendación: abrir explorer real y leer una tx tipo 2, un contract creation y un receipt con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abstract_sci_fi_tech_background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86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96012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ETHEREUM 02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1261872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Cuentas, Transacciones,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EVM y Gas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548640" y="2907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CEBFF"/>
                </a:solidFill>
              </a:rPr>
              <a:t>De la firma criptográfica a la ejecución determinística de contratos inteligentes.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443484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08152B">
              <a:alpha val="82000"/>
            </a:srgbClr>
          </a:solidFill>
          <a:ln w="12700">
            <a:solidFill>
              <a:srgbClr val="2B64A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4645152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CCFF"/>
                </a:solidFill>
              </a:rPr>
              <a:t>Material elaborado por el profesor Sergio Gevatschnaider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62910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B8F7"/>
                </a:solidFill>
              </a:rPr>
              <a:t>Unidad Ethereum · Presentación 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futuristic_sci_fi_abstract_visualizatio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56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central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Ethereum no “guarda saldos” solamente: ejecuta cambios de estado verificables.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417320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puede pensarse como una máquina de estado global: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202996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81831">
              <a:alpha val="9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02996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11739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77072" y="202996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D1E35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11880" y="2505456"/>
            <a:ext cx="7772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562088" y="2505456"/>
            <a:ext cx="7772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22960" y="2249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Estado anterior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800600" y="2249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Transacciones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759952" y="22494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Nuevo estado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S’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3520440" y="3794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Y(S, T) = S’</a:t>
            </a:r>
            <a:endParaRPr lang="en-US" sz="3800" dirty="0"/>
          </a:p>
        </p:txBody>
      </p:sp>
      <p:sp>
        <p:nvSpPr>
          <p:cNvPr id="21" name="Shape 18"/>
          <p:cNvSpPr/>
          <p:nvPr/>
        </p:nvSpPr>
        <p:spPr>
          <a:xfrm>
            <a:off x="786384" y="490118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482803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Las cuentas definen quién puede iniciar o responder a una acción.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786384" y="528523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521208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Las transacciones son instrucciones firmadas que intentan modificar el estado.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786384" y="566928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559612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La EVM ejecuta reglas determinísticas: todos los nodos deben llegar al mismo resultado.</a:t>
            </a:r>
            <a:endParaRPr lang="en-US" sz="1420" dirty="0"/>
          </a:p>
        </p:txBody>
      </p:sp>
      <p:sp>
        <p:nvSpPr>
          <p:cNvPr id="27" name="Shape 24"/>
          <p:cNvSpPr/>
          <p:nvPr/>
        </p:nvSpPr>
        <p:spPr>
          <a:xfrm>
            <a:off x="786384" y="60533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0976" y="5980176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El gas mide trabajo computacional, limita abusos y coordina prioridades.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aprendizaje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91B34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39112"/>
            <a:ext cx="310896" cy="310896"/>
          </a:xfrm>
          <a:prstGeom prst="ellipse">
            <a:avLst/>
          </a:prstGeom>
          <a:solidFill>
            <a:srgbClr val="22D3EE">
              <a:alpha val="85000"/>
            </a:srgbClr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894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Cuentas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127248"/>
            <a:ext cx="1965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4D6"/>
                </a:solidFill>
              </a:rPr>
              <a:t>EOA, contratos, nonce y storage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2039112"/>
            <a:ext cx="310896" cy="310896"/>
          </a:xfrm>
          <a:prstGeom prst="ellipse">
            <a:avLst/>
          </a:prstGeom>
          <a:solidFill>
            <a:srgbClr val="8B5CF6">
              <a:alpha val="85000"/>
            </a:srgbClr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894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Transacciones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3127248"/>
            <a:ext cx="1965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4D6"/>
                </a:solidFill>
              </a:rPr>
              <a:t>firma, campos, ciclo de vida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91B34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039112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0894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560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3127248"/>
            <a:ext cx="1965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4D6"/>
                </a:solidFill>
              </a:rPr>
              <a:t>state machine, stack, memoria y storage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052560" y="182880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5440" y="2039112"/>
            <a:ext cx="310896" cy="310896"/>
          </a:xfrm>
          <a:prstGeom prst="ellipse">
            <a:avLst/>
          </a:prstGeom>
          <a:solidFill>
            <a:srgbClr val="F59E0B">
              <a:alpha val="85000"/>
            </a:srgbClr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20894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35440" y="2560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35440" y="3127248"/>
            <a:ext cx="1965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4D6"/>
                </a:solidFill>
              </a:rPr>
              <a:t>costo, límite, fee market y fallas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127248" y="3255264"/>
            <a:ext cx="27432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16168" y="3255264"/>
            <a:ext cx="27432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05088" y="3255264"/>
            <a:ext cx="27432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" y="525780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61529">
              <a:alpha val="94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43000" y="5413248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EBFF"/>
                </a:solidFill>
              </a:rPr>
              <a:t>Resultado esperado: poder leer una transacción, anticipar su efecto y explicar su costo.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neon_sci_fi_3d_render_of_a_blockchai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4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tipos de cuenta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Misma forma externa: dirección de 20 bytes. Diferente lógica de control.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41732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081831">
              <a:alpha val="9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4173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11739">
              <a:alpha val="9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16916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Externally Owned Account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EOA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702552" y="16916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B5CF6"/>
                </a:solidFill>
              </a:rPr>
              <a:t>Contract Account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8B5CF6"/>
                </a:solidFill>
              </a:rPr>
              <a:t>cuenta de contrato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987552" y="26517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257860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Controlada por clave privada.</a:t>
            </a:r>
            <a:endParaRPr lang="en-US" sz="1470" dirty="0"/>
          </a:p>
        </p:txBody>
      </p:sp>
      <p:sp>
        <p:nvSpPr>
          <p:cNvPr id="17" name="Shape 14"/>
          <p:cNvSpPr/>
          <p:nvPr/>
        </p:nvSpPr>
        <p:spPr>
          <a:xfrm>
            <a:off x="987552" y="30632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299008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Puede iniciar transacciones.</a:t>
            </a:r>
            <a:endParaRPr lang="en-US" sz="1470" dirty="0"/>
          </a:p>
        </p:txBody>
      </p:sp>
      <p:sp>
        <p:nvSpPr>
          <p:cNvPr id="19" name="Shape 16"/>
          <p:cNvSpPr/>
          <p:nvPr/>
        </p:nvSpPr>
        <p:spPr>
          <a:xfrm>
            <a:off x="987552" y="34747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340156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Firma mensajes y órdenes.</a:t>
            </a:r>
            <a:endParaRPr lang="en-US" sz="1470" dirty="0"/>
          </a:p>
        </p:txBody>
      </p:sp>
      <p:sp>
        <p:nvSpPr>
          <p:cNvPr id="21" name="Shape 18"/>
          <p:cNvSpPr/>
          <p:nvPr/>
        </p:nvSpPr>
        <p:spPr>
          <a:xfrm>
            <a:off x="987552" y="38862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52144" y="381304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No contiene código EVM.</a:t>
            </a:r>
            <a:endParaRPr lang="en-US" sz="1470" dirty="0"/>
          </a:p>
        </p:txBody>
      </p:sp>
      <p:sp>
        <p:nvSpPr>
          <p:cNvPr id="23" name="Shape 20"/>
          <p:cNvSpPr/>
          <p:nvPr/>
        </p:nvSpPr>
        <p:spPr>
          <a:xfrm>
            <a:off x="6784848" y="26517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0" y="257860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Controlada por código desplegado.</a:t>
            </a:r>
            <a:endParaRPr lang="en-US" sz="1470" dirty="0"/>
          </a:p>
        </p:txBody>
      </p:sp>
      <p:sp>
        <p:nvSpPr>
          <p:cNvPr id="25" name="Shape 22"/>
          <p:cNvSpPr/>
          <p:nvPr/>
        </p:nvSpPr>
        <p:spPr>
          <a:xfrm>
            <a:off x="6784848" y="30632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299008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Responde a llamadas o creación.</a:t>
            </a:r>
            <a:endParaRPr lang="en-US" sz="1470" dirty="0"/>
          </a:p>
        </p:txBody>
      </p:sp>
      <p:sp>
        <p:nvSpPr>
          <p:cNvPr id="27" name="Shape 24"/>
          <p:cNvSpPr/>
          <p:nvPr/>
        </p:nvSpPr>
        <p:spPr>
          <a:xfrm>
            <a:off x="6784848" y="34747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0" y="340156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Tiene bytecode y storage.</a:t>
            </a:r>
            <a:endParaRPr lang="en-US" sz="1470" dirty="0"/>
          </a:p>
        </p:txBody>
      </p:sp>
      <p:sp>
        <p:nvSpPr>
          <p:cNvPr id="29" name="Shape 26"/>
          <p:cNvSpPr/>
          <p:nvPr/>
        </p:nvSpPr>
        <p:spPr>
          <a:xfrm>
            <a:off x="6784848" y="38862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381304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2FF"/>
                </a:solidFill>
              </a:rPr>
              <a:t>No tiene clave privada.</a:t>
            </a:r>
            <a:endParaRPr lang="en-US" sz="1470" dirty="0"/>
          </a:p>
        </p:txBody>
      </p:sp>
      <p:sp>
        <p:nvSpPr>
          <p:cNvPr id="31" name="Shape 28"/>
          <p:cNvSpPr/>
          <p:nvPr/>
        </p:nvSpPr>
        <p:spPr>
          <a:xfrm>
            <a:off x="6080760" y="1463040"/>
            <a:ext cx="0" cy="4251960"/>
          </a:xfrm>
          <a:prstGeom prst="line">
            <a:avLst/>
          </a:prstGeom>
          <a:noFill/>
          <a:ln w="13970">
            <a:solidFill>
              <a:srgbClr val="304060">
                <a:alpha val="7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97280" y="5943600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docente: las EOAs “deciden”; los contratos “ejecutan reglas”.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contiene una cuenta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173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Account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15568" y="21762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0xA1...9F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15568" y="2743200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0E1B35">
              <a:alpha val="92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8620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2D3EE"/>
                </a:solidFill>
              </a:rPr>
              <a:t>nonce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304288" y="283921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FD0FF"/>
                </a:solidFill>
              </a:rPr>
              <a:t>contador que ordena transacciones o creaciones de contratos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115568" y="3364992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0E1B35">
              <a:alpha val="92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4838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4D399"/>
                </a:solidFill>
              </a:rPr>
              <a:t>balance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304288" y="34610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FD0FF"/>
                </a:solidFill>
              </a:rPr>
              <a:t>ETH en wei asociado a la dirección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1115568" y="398678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0E1B35">
              <a:alpha val="9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10565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B5CF6"/>
                </a:solidFill>
              </a:rPr>
              <a:t>codeHash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304288" y="408279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FD0FF"/>
                </a:solidFill>
              </a:rPr>
              <a:t>huella del bytecode si la cuenta es contrato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1115568" y="4608576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0E1B35">
              <a:alpha val="9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7274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storageRoot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2304288" y="470458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FD0FF"/>
                </a:solidFill>
              </a:rPr>
              <a:t>raíz del trie de almacenamiento persistente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5166360" y="1554480"/>
            <a:ext cx="6217920" cy="4160520"/>
          </a:xfrm>
          <a:prstGeom prst="roundRect">
            <a:avLst>
              <a:gd name="adj" fmla="val 1758"/>
            </a:avLst>
          </a:prstGeom>
          <a:solidFill>
            <a:srgbClr val="081229">
              <a:alpha val="92000"/>
            </a:srgbClr>
          </a:solidFill>
          <a:ln w="12700">
            <a:solidFill>
              <a:srgbClr val="253B6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19019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 cuenta es una unidad de estado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532120" y="27066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96712" y="263347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No todos los campos importan igual para EOA y contrato.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31638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309067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El nonce evita repetición y fija orden de ejecución desde una cuenta.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32120" y="36210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96712" y="354787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El balance se mide en wei: 1 ETH = 10¹⁸ wei.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32120" y="40782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400507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El storageRoot permite verificar estado de contrato sin re-leer todo el storage.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23560" y="48463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4896612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7E8FF"/>
                </a:solidFill>
              </a:rPr>
              <a:t>EOA: codeHash vacío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7635240" y="484632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489661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7E8FF"/>
                </a:solidFill>
              </a:rPr>
              <a:t>Contrato: storage persistente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clave privada a dirección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20240"/>
            <a:ext cx="2148840" cy="1042416"/>
          </a:xfrm>
          <a:prstGeom prst="roundRect">
            <a:avLst>
              <a:gd name="adj" fmla="val 7018"/>
            </a:avLst>
          </a:prstGeom>
          <a:solidFill>
            <a:srgbClr val="091C35">
              <a:alpha val="97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14884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Clave privada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542032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4899"/>
                </a:solidFill>
              </a:rPr>
              <a:t>secreto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90672" y="2441448"/>
            <a:ext cx="356616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1920240"/>
            <a:ext cx="2148840" cy="1042416"/>
          </a:xfrm>
          <a:prstGeom prst="roundRect">
            <a:avLst>
              <a:gd name="adj" fmla="val 7018"/>
            </a:avLst>
          </a:prstGeom>
          <a:solidFill>
            <a:srgbClr val="091C35">
              <a:alpha val="97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21608" y="214884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Clave pública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21608" y="2542032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derivada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79592" y="2441448"/>
            <a:ext cx="356616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1920240"/>
            <a:ext cx="2148840" cy="1042416"/>
          </a:xfrm>
          <a:prstGeom prst="roundRect">
            <a:avLst>
              <a:gd name="adj" fmla="val 7018"/>
            </a:avLst>
          </a:prstGeom>
          <a:solidFill>
            <a:srgbClr val="091C35">
              <a:alpha val="97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0528" y="214884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Keccak-256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2542032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hash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68512" y="2441448"/>
            <a:ext cx="356616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1920240"/>
            <a:ext cx="2148840" cy="1042416"/>
          </a:xfrm>
          <a:prstGeom prst="roundRect">
            <a:avLst>
              <a:gd name="adj" fmla="val 7018"/>
            </a:avLst>
          </a:prstGeom>
          <a:solidFill>
            <a:srgbClr val="091C35">
              <a:alpha val="97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99448" y="214884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Dirección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99448" y="2542032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últimos 20 bytes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3977640"/>
            <a:ext cx="10332720" cy="1170432"/>
          </a:xfrm>
          <a:prstGeom prst="roundRect">
            <a:avLst>
              <a:gd name="adj" fmla="val 6250"/>
            </a:avLst>
          </a:prstGeom>
          <a:solidFill>
            <a:srgbClr val="08152B">
              <a:alpha val="92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34440" y="426110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BFF"/>
                </a:solidFill>
              </a:rPr>
              <a:t>La clave privada firma. La dirección identifica. La blockchain nunca necesita conocer tu clave privada.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34440" y="466344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DF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Dirección típica: 0x + 40 caracteres hexadecimales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596128"/>
            <a:ext cx="10607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frecuente: “tener ETH” no significa tener monedas guardadas localmente; significa controlar la clave capaz de autorizar movimientos sobre el ledger.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neon_sci_fi_3d_render_of_a_blockchai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58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Wallet, cuenta y dirección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Tres palabras que suelen confundirse.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07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600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061529">
              <a:alpha val="90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05840" y="1801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Wallet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606040" y="1764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3EDFF"/>
                </a:solidFill>
              </a:rPr>
              <a:t>software/hardware que gestiona claves y prepara firmas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713232" y="2834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061529">
              <a:alpha val="9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840" y="3035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Cuenta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606040" y="2999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3EDFF"/>
                </a:solidFill>
              </a:rPr>
              <a:t>entidad del estado Ethereum con balance, nonce y campos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713232" y="40690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061529">
              <a:alpha val="90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5840" y="4270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Dirección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606040" y="4233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3EDFF"/>
                </a:solidFill>
              </a:rPr>
              <a:t>identificador público usado para recibir o llamar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6720840" y="182880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0A1731">
              <a:alpha val="88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114032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Prueba mental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7150608" y="2743200"/>
            <a:ext cx="34290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CEBFF"/>
                </a:solidFill>
              </a:rPr>
              <a:t>Si cambiás de wallet pero importás la misma clave, seguís controlando la misma cuenta.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50608" y="37947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4D6"/>
                </a:solidFill>
              </a:rPr>
              <a:t>La cuenta vive en Ethereum; la wallet vive en tu dispositivo o proveedor.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una transacción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2588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44B8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783080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3852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nonce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679192" y="192938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orden desde el emisor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60120" y="2578608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734056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B5C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679192" y="2724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destino: cuenta o contrato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60120" y="3374136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529584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679192" y="35204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ETH transferido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60120" y="4169664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251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B5C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679192" y="431596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calldata / bytecode / parámetros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355080" y="1783080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93852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gasLimit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074152" y="192938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máximo de gas autorizado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355080" y="2578608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734056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B5C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maxFeePerGas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074152" y="27249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techo de precio por gas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355080" y="3374136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529584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maxPriorityFeePerGas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074152" y="35204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propina al validador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355080" y="4169664"/>
            <a:ext cx="4892040" cy="530352"/>
          </a:xfrm>
          <a:prstGeom prst="roundRect">
            <a:avLst>
              <a:gd name="adj" fmla="val 8621"/>
            </a:avLst>
          </a:prstGeom>
          <a:solidFill>
            <a:srgbClr val="0C1D39">
              <a:alpha val="93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3251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B5C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signature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074152" y="431596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BFF"/>
                </a:solidFill>
              </a:rPr>
              <a:t>prueba criptográfica del emisor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051560" y="5047488"/>
            <a:ext cx="9966960" cy="411480"/>
          </a:xfrm>
          <a:prstGeom prst="roundRect">
            <a:avLst>
              <a:gd name="adj" fmla="val 17778"/>
            </a:avLst>
          </a:prstGeom>
          <a:solidFill>
            <a:srgbClr val="111739">
              <a:alpha val="84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34440" y="5175504"/>
            <a:ext cx="9601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E8B8"/>
                </a:solidFill>
              </a:rPr>
              <a:t>Una transacción es una instrucción firmada: “si soy válida y pago suficiente gas, aplicá este cambio”.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sci_fi_digital_illus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8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de vida de una transacción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Del click en la wallet al recibo final.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09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4407408"/>
            <a:ext cx="310896" cy="310896"/>
          </a:xfrm>
          <a:prstGeom prst="ellipse">
            <a:avLst/>
          </a:prstGeom>
          <a:solidFill>
            <a:srgbClr val="22D3EE">
              <a:alpha val="85000"/>
            </a:srgbClr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066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Preparar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wallet arma datos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46888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87752" y="4407408"/>
            <a:ext cx="310896" cy="310896"/>
          </a:xfrm>
          <a:prstGeom prst="ellipse">
            <a:avLst/>
          </a:prstGeom>
          <a:solidFill>
            <a:srgbClr val="8B5CF6">
              <a:alpha val="85000"/>
            </a:srgbClr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8775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1518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Firmar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58775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clave privada autoriza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434340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62272" y="4407408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6227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48970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Propagar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46227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nodos validan sintaxis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621792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36792" y="4407408"/>
            <a:ext cx="310896" cy="310896"/>
          </a:xfrm>
          <a:prstGeom prst="ellipse">
            <a:avLst/>
          </a:prstGeom>
          <a:solidFill>
            <a:srgbClr val="F59E0B">
              <a:alpha val="85000"/>
            </a:srgbClr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3679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6422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Incluir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33679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proposer/constructor arma bloque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809244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11312" y="4407408"/>
            <a:ext cx="310896" cy="310896"/>
          </a:xfrm>
          <a:prstGeom prst="ellipse">
            <a:avLst/>
          </a:prstGeom>
          <a:solidFill>
            <a:srgbClr val="EC4899">
              <a:alpha val="85000"/>
            </a:srgbClr>
          </a:solidFill>
          <a:ln w="13970">
            <a:solidFill>
              <a:srgbClr val="EC48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1131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3874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Ejecutar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21131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EVM aplica transición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9966960" y="4251960"/>
            <a:ext cx="1572768" cy="1115568"/>
          </a:xfrm>
          <a:prstGeom prst="roundRect">
            <a:avLst>
              <a:gd name="adj" fmla="val 6557"/>
            </a:avLst>
          </a:prstGeom>
          <a:solidFill>
            <a:srgbClr val="061529">
              <a:alpha val="92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085832" y="4407408"/>
            <a:ext cx="310896" cy="310896"/>
          </a:xfrm>
          <a:prstGeom prst="ellipse">
            <a:avLst/>
          </a:prstGeom>
          <a:solidFill>
            <a:srgbClr val="3B82F6">
              <a:alpha val="85000"/>
            </a:srgbClr>
          </a:solidFill>
          <a:ln w="13970">
            <a:solidFill>
              <a:srgbClr val="3B82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85832" y="44577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113264" y="475488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Recibo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0085832" y="49926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FD0FF"/>
                </a:solidFill>
              </a:rPr>
              <a:t>status, gas y logs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2240280" y="4809744"/>
            <a:ext cx="15544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4114800" y="4809744"/>
            <a:ext cx="15544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989320" y="4809744"/>
            <a:ext cx="15544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863840" y="4809744"/>
            <a:ext cx="15544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9738360" y="4809744"/>
            <a:ext cx="15544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46" name="Text 43"/>
          <p:cNvSpPr/>
          <p:nvPr/>
        </p:nvSpPr>
        <p:spPr>
          <a:xfrm>
            <a:off x="914400" y="580644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Observación: “enviada” no es lo mismo que “incluida”; “incluida” no es lo mismo que “finalizada” por consenso.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Nonce: orden, seguridad y transacciones atascadas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630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17830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Cuenta A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261872" y="2487168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0B1D39">
              <a:alpha val="94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264261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nonce 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262432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</a:rPr>
              <a:t>incluida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61872" y="3291840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0B1D39">
              <a:alpha val="94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344728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nonce 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342900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</a:rPr>
              <a:t>pendiente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61872" y="4096512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0B1D39">
              <a:alpha val="94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2519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nonce 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23367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</a:rPr>
              <a:t>espera detrás de nonce 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178308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Qué evita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48716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EAF2FF"/>
                </a:solidFill>
              </a:rPr>
              <a:t>Replay: una firma no puede ejecutarse indefinidamente.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6858000" y="303580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2962656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EAF2FF"/>
                </a:solidFill>
              </a:rPr>
              <a:t>Desorden: una misma cuenta avanza secuencialmente.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858000" y="35112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3438144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EAF2FF"/>
                </a:solidFill>
              </a:rPr>
              <a:t>Ambigüedad: dos tx con mismo nonce compiten; una reemplaza a la otra si ofrece mejores condiciones.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1143000" y="5925312"/>
            <a:ext cx="9921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práctica: si nonce 8 queda pendiente, nonce 9 no puede adelantarse.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efectos: llamar o crear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0876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50876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18745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Message call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0" y="18745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Contract creation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27249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65176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La transacción tiene un destino `to`.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1143000" y="313639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306324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Puede transferir ETH.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1143000" y="35478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4747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Si el destino es contrato, ejecuta bytecode.</a:t>
            </a:r>
            <a:endParaRPr lang="en-US" sz="1410" dirty="0"/>
          </a:p>
        </p:txBody>
      </p:sp>
      <p:sp>
        <p:nvSpPr>
          <p:cNvPr id="19" name="Shape 17"/>
          <p:cNvSpPr/>
          <p:nvPr/>
        </p:nvSpPr>
        <p:spPr>
          <a:xfrm>
            <a:off x="1143000" y="3959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88620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El resultado puede emitir logs y cambiar storage.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6675120" y="27249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65176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La transacción no tiene `to`.</a:t>
            </a:r>
            <a:endParaRPr lang="en-US" sz="1410" dirty="0"/>
          </a:p>
        </p:txBody>
      </p:sp>
      <p:sp>
        <p:nvSpPr>
          <p:cNvPr id="23" name="Shape 21"/>
          <p:cNvSpPr/>
          <p:nvPr/>
        </p:nvSpPr>
        <p:spPr>
          <a:xfrm>
            <a:off x="6675120" y="313639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306324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El campo `data` trae init code.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6675120" y="35478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34747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Se calcula una nueva dirección de contrato.</a:t>
            </a:r>
            <a:endParaRPr lang="en-US" sz="1410" dirty="0"/>
          </a:p>
        </p:txBody>
      </p:sp>
      <p:sp>
        <p:nvSpPr>
          <p:cNvPr id="27" name="Shape 25"/>
          <p:cNvSpPr/>
          <p:nvPr/>
        </p:nvSpPr>
        <p:spPr>
          <a:xfrm>
            <a:off x="6675120" y="3959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388620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EAF2FF"/>
                </a:solidFill>
              </a:rPr>
              <a:t>Queda bytecode persistente asociado a esa cuenta.</a:t>
            </a:r>
            <a:endParaRPr lang="en-US" sz="1410" dirty="0"/>
          </a:p>
        </p:txBody>
      </p:sp>
      <p:sp>
        <p:nvSpPr>
          <p:cNvPr id="29" name="Shape 27"/>
          <p:cNvSpPr/>
          <p:nvPr/>
        </p:nvSpPr>
        <p:spPr>
          <a:xfrm>
            <a:off x="2240280" y="502920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04288" y="5079492"/>
            <a:ext cx="832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7E8FF"/>
                </a:solidFill>
              </a:rPr>
              <a:t>CALL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092440" y="50292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5079492"/>
            <a:ext cx="1517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7E8FF"/>
                </a:solidFill>
              </a:rPr>
              <a:t>CREATE / CREATE2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campo data: la instrucción codificada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44B8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17830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Calldata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5568" y="2395728"/>
            <a:ext cx="4251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0xa9059cbb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0000000000000000...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0000000000000000...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4D6"/>
                </a:solidFill>
              </a:rPr>
              <a:t>selector de función + argumentos ABI-encoded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4983480" cy="4297680"/>
          </a:xfrm>
          <a:prstGeom prst="roundRect">
            <a:avLst>
              <a:gd name="adj" fmla="val 1702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3F3D81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7830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Lectura conceptual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812280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5146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`data` vacío: transferencia simple de ETH.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12280" y="30449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9718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`data` con selector: llamada a una función.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35021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34290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`data` con bytecode: creación de contrato.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12280" y="3959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38862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</a:rPr>
              <a:t>ABI traduce entre humanos y bytes.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925312"/>
            <a:ext cx="102412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no “entiende” la intención comercial: ejecuta bytes bajo reglas de la EVM.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Recibos, logs y eventos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7373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Transaction receipt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97280" y="24048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331720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status: éxito o falla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715768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gasUsed: gas consumido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17296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099816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logs: eventos emitidos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355701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48386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cumulativeGasUsed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394106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386791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contractAddress si creó contrato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66360" y="1371600"/>
            <a:ext cx="6217920" cy="4434840"/>
          </a:xfrm>
          <a:prstGeom prst="roundRect">
            <a:avLst>
              <a:gd name="adj" fmla="val 1649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73736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Eventos ≠ estado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486400" y="24048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233172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Los eventos son registros indexables para aplicaciones y exploradores.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28254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275234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Son más baratos que guardar datos completos en storage.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32461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317296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Permiten reconstruir historias operativas: transferencias, swaps, approvals.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366674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359359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No pueden ser leídos directamente por contratos como storage normal.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5961888"/>
            <a:ext cx="10378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análisis on-chain, muchas métricas nacen de receipts y logs, no solo de balances.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sci_fi_digital_artwork_scene_of_a_g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7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EVM: ejecución determinística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Cada nodo ejecuta la misma lógica y debe obtener el mismo resultado.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46304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061529">
              <a:alpha val="86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0120" y="181051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Entrada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051560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6152" y="25146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estado anterior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51560" y="29718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6152" y="289864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transacción válida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1051560" y="335584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16152" y="328269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contexto del bloque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51560" y="37398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16152" y="366674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gas disponible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818120" y="146304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061529">
              <a:alpha val="86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92440" y="181051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B5CF6"/>
                </a:solidFill>
              </a:rPr>
              <a:t>Salida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8183880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48472" y="25146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estado actualizado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183880" y="29718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48472" y="289864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gas consumido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183880" y="335584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48472" y="328269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logs emitidos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8183880" y="37398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48472" y="366674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</a:rPr>
              <a:t>status de ejecución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4681728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EVM</a:t>
            </a:r>
            <a:endParaRPr lang="en-US" sz="3500" dirty="0"/>
          </a:p>
        </p:txBody>
      </p:sp>
      <p:sp>
        <p:nvSpPr>
          <p:cNvPr id="32" name="Text 29"/>
          <p:cNvSpPr/>
          <p:nvPr/>
        </p:nvSpPr>
        <p:spPr>
          <a:xfrm>
            <a:off x="4681728" y="3273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8F7"/>
                </a:solidFill>
              </a:rPr>
              <a:t>state transition function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498848" y="3054096"/>
            <a:ext cx="1828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470648" y="3054096"/>
            <a:ext cx="237744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Dentro de la EVM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8408" y="1764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Stack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8408" y="216712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BFF"/>
                </a:solidFill>
              </a:rPr>
              <a:t>pila LIFO de palabras de 256 bits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255117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4D6"/>
                </a:solidFill>
              </a:rPr>
              <a:t>operaciones rápidas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01968" y="1764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Memory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01968" y="216712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BFF"/>
                </a:solidFill>
              </a:rPr>
              <a:t>espacio temporal por llamada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01968" y="255117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4D6"/>
                </a:solidFill>
              </a:rPr>
              <a:t>se borra al terminar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" y="38221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Storage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8408" y="422452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BFF"/>
                </a:solidFill>
              </a:rPr>
              <a:t>almacenamiento persistente del contrato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8408" y="460857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4D6"/>
                </a:solidFill>
              </a:rPr>
              <a:t>costoso y verificable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01968" y="38221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Calldata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01968" y="422452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BFF"/>
                </a:solidFill>
              </a:rPr>
              <a:t>entrada de la llamada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01968" y="460857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4D6"/>
                </a:solidFill>
              </a:rPr>
              <a:t>solo lectura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5840" y="5623560"/>
            <a:ext cx="10149840" cy="411480"/>
          </a:xfrm>
          <a:prstGeom prst="roundRect">
            <a:avLst>
              <a:gd name="adj" fmla="val 17778"/>
            </a:avLst>
          </a:prstGeom>
          <a:solidFill>
            <a:srgbClr val="061529">
              <a:alpha val="90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5760720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CEBFF"/>
                </a:solidFill>
              </a:rPr>
              <a:t>Intuición docente: stack y memory son mesa de trabajo; storage es archivo permanente; calldata es la orden recibida.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i_fi_digital_illustration_sce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4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Gas: el medidor de computación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Todo trabajo en la EVM tiene un costo medido en unidades de gas.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0876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05840" y="18288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Por qué existe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078992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251460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Evita loops infinitos y spam computacional.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1078992" y="300837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293522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Hace explícito el costo de usar recursos comunes.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1078992" y="3429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43584" y="335584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Obliga a contratos eficientes.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1078992" y="38496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377647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Prioriza transacciones cuando hay congestión.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6419088" y="1508760"/>
            <a:ext cx="4983480" cy="4434840"/>
          </a:xfrm>
          <a:prstGeom prst="roundRect">
            <a:avLst>
              <a:gd name="adj" fmla="val 1649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20840" y="18288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Tres cantidades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6812280" y="268833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76872" y="261518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gas usado: trabajo efectivamente consumido.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6812280" y="31912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76872" y="311810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gas limit: máximo autorizado por el usuario.</a:t>
            </a:r>
            <a:endParaRPr lang="en-US" sz="1420" dirty="0"/>
          </a:p>
        </p:txBody>
      </p:sp>
      <p:sp>
        <p:nvSpPr>
          <p:cNvPr id="27" name="Shape 24"/>
          <p:cNvSpPr/>
          <p:nvPr/>
        </p:nvSpPr>
        <p:spPr>
          <a:xfrm>
            <a:off x="6812280" y="369417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76872" y="362102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precio por gas: cuánto se paga por cada unidad.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1005840" y="6153912"/>
            <a:ext cx="10149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≠ ETH. Gas mide trabajo; ETH paga ese trabajo.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EIP-1559: base fee + prioridad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17320"/>
            <a:ext cx="10607040" cy="4251960"/>
          </a:xfrm>
          <a:prstGeom prst="roundRect">
            <a:avLst>
              <a:gd name="adj" fmla="val 1720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44B8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2103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091B34">
              <a:alpha val="96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2359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</a:rPr>
              <a:t>base fee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2816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define el protocolo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se quema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1A1429">
              <a:alpha val="96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359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</a:rPr>
              <a:t>priority fee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46320" y="2816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propina al validador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se paga por inclusión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092440" y="2103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091B34">
              <a:alpha val="96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2359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</a:rPr>
              <a:t>max fee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2816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techo total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CEBFF"/>
                </a:solidFill>
              </a:rPr>
              <a:t>protege al usuario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097280" y="43159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 pagada = gas usado × (base fee + priority fee efectiva)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9966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no paga necesariamente todo el max fee: el excedente se devuelve.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cálculo de 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4389120" cy="4526280"/>
          </a:xfrm>
          <a:prstGeom prst="roundRect">
            <a:avLst>
              <a:gd name="adj" fmla="val 1667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7830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Supuesto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143000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5146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Transferencia simple: 21.000 gas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1143000" y="300837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93522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base fee: 10 gwei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1143000" y="3429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335584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priority fee: 2 gwei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143000" y="38496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77647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</a:rPr>
              <a:t>ETH/USD: 3.000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760720" y="141732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17830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Cálculo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21.000 × (10 + 2) gwei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29992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 252.000 gwei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34930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 0,000252 ETH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0690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≈ USD 0,756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" y="6053328"/>
            <a:ext cx="104241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total: la base fee se quema; la priority fee remunera al validador.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fee responde a la congestión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6304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44B8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303270"/>
            <a:ext cx="594360" cy="720090"/>
          </a:xfrm>
          <a:prstGeom prst="rect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B1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23160" y="2480310"/>
            <a:ext cx="594360" cy="1543050"/>
          </a:xfrm>
          <a:prstGeom prst="rect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B2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749040" y="2048256"/>
            <a:ext cx="594360" cy="1975104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B3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74920" y="3035808"/>
            <a:ext cx="594360" cy="987552"/>
          </a:xfrm>
          <a:prstGeom prst="rect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B4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0" y="3570732"/>
            <a:ext cx="594360" cy="452628"/>
          </a:xfrm>
          <a:prstGeom prst="rect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B5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26680" y="2171700"/>
            <a:ext cx="594360" cy="1851660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B6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052560" y="2891790"/>
            <a:ext cx="594360" cy="1131570"/>
          </a:xfrm>
          <a:prstGeom prst="rect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63E6FF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4160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7B4D6"/>
                </a:solidFill>
              </a:rPr>
              <a:t>B7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68680" y="2999232"/>
            <a:ext cx="9875520" cy="0"/>
          </a:xfrm>
          <a:prstGeom prst="line">
            <a:avLst/>
          </a:prstGeom>
          <a:noFill/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71632" y="290779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target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97280" y="48920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98448" y="5047488"/>
            <a:ext cx="947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DCEBFF"/>
                </a:solidFill>
              </a:rPr>
              <a:t>Si el bloque supera el target, la base fee siguiente sube. Si queda por debajo, baja. La variación está acotada por bloque.</a:t>
            </a:r>
            <a:endParaRPr lang="en-US" sz="1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transacción: evolución sin romper lo anterior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A7B4D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161848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B4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 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158191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Legacy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251960" y="158191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FD0FF"/>
                </a:solidFill>
              </a:rPr>
              <a:t>formato original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22960" y="228600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78992" y="24871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2450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Access list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4251960" y="245059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FD0FF"/>
                </a:solidFill>
              </a:rPr>
              <a:t>Berlin / EIP-2930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22960" y="315468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8992" y="33558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33192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EIP-1559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4251960" y="33192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FD0FF"/>
                </a:solidFill>
              </a:rPr>
              <a:t>base fee + priority fee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422452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418795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Blob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251960" y="418795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FD0FF"/>
                </a:solidFill>
              </a:rPr>
              <a:t>Dencun / EIP-4844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22960" y="489204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50932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48840" y="50566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Set-code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4251960" y="505663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FD0FF"/>
                </a:solidFill>
              </a:rPr>
              <a:t>Pectra / EIP-7702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868680" y="5989320"/>
            <a:ext cx="10515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técnica: EIP-2718 permite el formato TransactionType || TransactionPayload.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transacción falla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FB718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3544" y="16367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B7185"/>
                </a:solidFill>
              </a:rPr>
              <a:t>Invalid nonce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no entra o queda bloqueada por orden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6367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59E0B"/>
                </a:solidFill>
              </a:rPr>
              <a:t>Insufficient funds</a:t>
            </a:r>
            <a:endParaRPr lang="en-US" sz="1630" dirty="0"/>
          </a:p>
        </p:txBody>
      </p:sp>
      <p:sp>
        <p:nvSpPr>
          <p:cNvPr id="14" name="Text 12"/>
          <p:cNvSpPr/>
          <p:nvPr/>
        </p:nvSpPr>
        <p:spPr>
          <a:xfrm>
            <a:off x="4709160" y="2103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no cubre value + gas máximo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0184" y="16367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EC4899"/>
                </a:solidFill>
              </a:rPr>
              <a:t>Out of gas</a:t>
            </a:r>
            <a:endParaRPr lang="en-US" sz="1630" dirty="0"/>
          </a:p>
        </p:txBody>
      </p:sp>
      <p:sp>
        <p:nvSpPr>
          <p:cNvPr id="17" name="Text 15"/>
          <p:cNvSpPr/>
          <p:nvPr/>
        </p:nvSpPr>
        <p:spPr>
          <a:xfrm>
            <a:off x="8412480" y="2103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revierte cambios y consume gas ejecutado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77240" y="329184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" y="35112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8B5CF6"/>
                </a:solidFill>
              </a:rPr>
              <a:t>Revert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1005840" y="39776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el contrato aborta bajo sus reglas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480560" y="329184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35112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22D3EE"/>
                </a:solidFill>
              </a:rPr>
              <a:t>Underpriced</a:t>
            </a:r>
            <a:endParaRPr lang="en-US" sz="1630" dirty="0"/>
          </a:p>
        </p:txBody>
      </p:sp>
      <p:sp>
        <p:nvSpPr>
          <p:cNvPr id="23" name="Text 21"/>
          <p:cNvSpPr/>
          <p:nvPr/>
        </p:nvSpPr>
        <p:spPr>
          <a:xfrm>
            <a:off x="4709160" y="39776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no compite por inclusión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3154680" cy="1389888"/>
          </a:xfrm>
          <a:prstGeom prst="roundRect">
            <a:avLst>
              <a:gd name="adj" fmla="val 526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0184" y="35112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34D399"/>
                </a:solidFill>
              </a:rPr>
              <a:t>Wrong calldata</a:t>
            </a:r>
            <a:endParaRPr lang="en-US" sz="1630" dirty="0"/>
          </a:p>
        </p:txBody>
      </p:sp>
      <p:sp>
        <p:nvSpPr>
          <p:cNvPr id="26" name="Text 24"/>
          <p:cNvSpPr/>
          <p:nvPr/>
        </p:nvSpPr>
        <p:spPr>
          <a:xfrm>
            <a:off x="8412480" y="39776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CEBFF"/>
                </a:solidFill>
              </a:rPr>
              <a:t>llama función incorrecta o parámetros inválidos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14400" y="5532120"/>
            <a:ext cx="10287000" cy="411480"/>
          </a:xfrm>
          <a:prstGeom prst="roundRect">
            <a:avLst>
              <a:gd name="adj" fmla="val 17778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566928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DCEBFF"/>
                </a:solidFill>
              </a:rPr>
              <a:t>Regla crítica: que una transacción figure en cadena no implica que haya logrado el efecto esperado.</a:t>
            </a:r>
            <a:endParaRPr lang="en-US" sz="12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guiado para clase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7830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Caso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143000" y="24963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42316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Ana tiene 2 ETH y nonce 14.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28895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81635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Envía 0,5 ETH a Bruno.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32826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320954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gasLimit: 21.000.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367588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602736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base fee: 18 gwei.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406908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99592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priority fee: 2 gwei.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17830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Preguntas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6812280" y="24963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242316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¿Cuál debe ser el nonce de la próxima tx?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28895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281635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¿Cuánto gas se usa si es una transferencia simple?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812280" y="32826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209544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¿Cuánto paga en fee?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12280" y="367588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872" y="3602736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¿Qué recibe Bruno?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812280" y="406908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39959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</a:rPr>
              <a:t>¿Qué parte se quema?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14400" y="5989320"/>
            <a:ext cx="10287000" cy="292608"/>
          </a:xfrm>
          <a:prstGeom prst="roundRect">
            <a:avLst>
              <a:gd name="adj" fmla="val 25000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25476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43000" y="6071616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DCEBFF"/>
                </a:solidFill>
              </a:rPr>
              <a:t>Respuesta esperada: nonce 15; fee = 21.000 × 20 gwei = 0,00042 ETH; Bruno recibe 0,5 ETH.</a:t>
            </a:r>
            <a:endParaRPr lang="en-US" sz="11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sci_fi_digital_illustration_a_dar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>
              <a:alpha val="6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3">
              <a:alpha val="32000"/>
            </a:srgbClr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teoría al laboratorio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Qué deberían poder simular los estudiantes después de esta presentación.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60020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78408" y="18288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D3EE"/>
                </a:solidFill>
              </a:rPr>
              <a:t>Transaction Lab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78408" y="2221992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BFF"/>
                </a:solidFill>
              </a:rPr>
              <a:t>modificar nonce, value, data y gas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64808" y="18288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59E0B"/>
                </a:solidFill>
              </a:rPr>
              <a:t>Gas Lab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464808" y="2221992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BFF"/>
                </a:solidFill>
              </a:rPr>
              <a:t>comparar base fee, tip, max fee y USD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329184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78408" y="35204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B5CF6"/>
                </a:solidFill>
              </a:rPr>
              <a:t>EVM Lab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978408" y="3913632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BFF"/>
                </a:solidFill>
              </a:rPr>
              <a:t>ver stack, memory, storage y logs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329184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061529">
              <a:alpha val="88000"/>
            </a:srgbClr>
          </a:solidFill>
          <a:ln w="12700">
            <a:solidFill>
              <a:srgbClr val="FB7185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64808" y="35204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B7185"/>
                </a:solidFill>
              </a:rPr>
              <a:t>Failure Lab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64808" y="3913632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BFF"/>
                </a:solidFill>
              </a:rPr>
              <a:t>provocar revert, out of gas y nonce conflictivo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buena simulación permite cambiar parámetros y ver consecuencias: balances, fees, logs, estado y errores.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Síntesis: lo que debe quedar claro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Cuentas, transacciones, EVM y gas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298448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61872" y="1481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2D3EE"/>
                </a:solidFill>
              </a:rPr>
              <a:t>Cuenta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2697480" y="1472184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BFF"/>
                </a:solidFill>
              </a:rPr>
              <a:t>una unidad de estado: nonce, balance, codeHash y storageRoot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1005840" y="2084832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61872" y="22677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</a:rPr>
              <a:t>Transacción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697480" y="2258568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BFF"/>
                </a:solidFill>
              </a:rPr>
              <a:t>instrucción firmada que intenta transformar el estado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1005840" y="2871216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61872" y="305409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34D399"/>
                </a:solidFill>
              </a:rPr>
              <a:t>EVM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2697480" y="3044952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BFF"/>
                </a:solidFill>
              </a:rPr>
              <a:t>regla de ejecución determinística compartida por los nodos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111739">
              <a:alpha val="92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61872" y="38404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59E0B"/>
                </a:solidFill>
              </a:rPr>
              <a:t>Gas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2697480" y="3831336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BFF"/>
                </a:solidFill>
              </a:rPr>
              <a:t>medición del trabajo y mecanismo económico de protección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1005840" y="4443984"/>
            <a:ext cx="10149840" cy="548640"/>
          </a:xfrm>
          <a:prstGeom prst="roundRect">
            <a:avLst>
              <a:gd name="adj" fmla="val 13333"/>
            </a:avLst>
          </a:prstGeom>
          <a:solidFill>
            <a:srgbClr val="081831">
              <a:alpha val="92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61872" y="462686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C4899"/>
                </a:solidFill>
              </a:rPr>
              <a:t>EIP-1559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2697480" y="4617720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BFF"/>
                </a:solidFill>
              </a:rPr>
              <a:t>separa base fee quemada, propina y techo de pago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914400" y="555040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Puente hacia PPT 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87044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DCEBFF"/>
                </a:solidFill>
              </a:rPr>
              <a:t>Proof of Stake y consenso: cómo los bloques que contienen estas transacciones se proponen, validan y finalizan.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lecturas recomendadas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BB8F7"/>
                </a:solidFill>
              </a:rPr>
              <a:t>Documentación primaria para profundizar.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96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elaborado por el profesor Sergio Gevatschnaider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10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02  · 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6400800"/>
            <a:ext cx="11375136" cy="0"/>
          </a:xfrm>
          <a:prstGeom prst="line">
            <a:avLst/>
          </a:prstGeom>
          <a:noFill/>
          <a:ln w="9525">
            <a:solidFill>
              <a:srgbClr val="1C2A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10607040" cy="4526280"/>
          </a:xfrm>
          <a:prstGeom prst="roundRect">
            <a:avLst>
              <a:gd name="adj" fmla="val 1616"/>
            </a:avLst>
          </a:prstGeom>
          <a:solidFill>
            <a:srgbClr val="07172E">
              <a:alpha val="92000"/>
            </a:srgbClr>
          </a:solidFill>
          <a:ln w="12700">
            <a:solidFill>
              <a:srgbClr val="244B80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8288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74650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ethereum.org — Ethereum accounts, transactions, EVM, gas and fees.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143000" y="23317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24942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EIP-1559 — Fee market change: base fee, priority fee and max fee.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1143000" y="28346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75234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EIP-2718 — Typed Transaction Envelope.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1143000" y="33375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25526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EIP-4844 — Blob-carrying transactions for rollup data availability.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1143000" y="384048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75818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EIP-7702 — Set-code transactions and account abstraction compatibility.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143000" y="43434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26110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</a:rPr>
              <a:t>Ethereum Yellow Paper — formal execution model and EVM specification.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14400" y="6053328"/>
            <a:ext cx="10378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presentación: Proof of Stake y consenso en Ethereum.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Material elaborado por el profesor Sergio Gevatschnaider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Ethereum 02 - Cuentas, Transacciones, EVM y Gas</dc:title>
  <dc:subject>Ethereum - Cuentas, Transacciones, EVM y Gas</dc:subject>
  <dc:creator>Sergio Gevatschnaider</dc:creator>
  <cp:lastModifiedBy>Sergio Gevatschnaider</cp:lastModifiedBy>
  <cp:revision>1</cp:revision>
  <dcterms:created xsi:type="dcterms:W3CDTF">2026-09-18T19:57:58Z</dcterms:created>
  <dcterms:modified xsi:type="dcterms:W3CDTF">2026-09-18T19:57:58Z</dcterms:modified>
</cp:coreProperties>
</file>