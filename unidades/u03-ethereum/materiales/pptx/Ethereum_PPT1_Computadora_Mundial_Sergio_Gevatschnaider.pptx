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Ethereum como un sistema de ejecución verificable global. La idea central no es “otra criptomoneda”, sino un protocolo capaz de mantener estado, ejecutar reglas y coordinar aplicaciones sin un operador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como contrato pedagógico. Cada bloque será profundizado luego en PPT específicos; aquí se busca construir el mapa mental general para que los alumnos puedan ubicar piezas y relaciones.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el contraste con infraestructura cloud: Ethereum no compite por velocidad o costo unitario, sino por garantías de neutralidad, verificabilidad, composabilidad y settlement.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Unidad 2: Bitcoin muestra propiedad, hashing, consenso y seguridad económica. Ethereum conserva estas ideas pero expande el espacio de diseño con computación y estado programable.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Evitar malentendidos: la EVM no es una computadora en el sentido tradicional de alto rendimiento. Es una máquina determinista y replicada. Su costo se justifica cuando la confianza institucional o bilateral es insuficiente.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modelos mentales ordenan la exposición. Se puede volver a esta slide al comenzar cada clase para ubicar qué “lente” estamos usando.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Plantear que el alumno debe ser capaz de narrar un flujo completo: usuario crea una transacción, la wallet firma, los nodos la propagan, los validadores ordenan, la EVM ejecuta, el estado cambia, y el consenso estabiliza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red, nodo, cliente, wallet y proveedor RPC. Insistir en que usar Metamask no equivale a correr un nodo; pero el usuario participa mediante una interfaz que habla con nodos.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en clase: un alumno con wallet puede tener una cuenta sin correr un nodo. Un exchange custodia cuentas de muchos usuarios. Un cliente como Geth o Nethermind no es una wallet: es una implementación del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The Merge, Ethereum separa responsabilidades: ejecución de transacciones y consenso PoS. Los clientes de ejecución y de consenso trabajan en conjunto; una configuración de nodo típica requiere ambos componentes.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una transacción no es solo un pago: puede ser una llamada a contrato con datos arbitrarios. La transacción es la forma autorizada de pedir un cambio de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Ethereum.org define dos tipos de cuentas: EOA y contract account. La diferencia crucial para enseñar es quién controla la cuenta: clave privada o código desplegado.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estado es central: Ethereum no solo registra transacciones pasadas, sino que mantiene una fotografía actualizable de cuentas y contratos. Esta idea permitirá entender EVM, storage y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los campos dependen del tipo de transacción, pero esta versión es suficiente para introducir el razonamiento: quién firma, qué pide, cuánto valor mueve, qué datos incorpora y cuánto está dispuesto a pagar por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todavía en opcodes. La meta del PPT 1 es que entiendan la función: una máquina de transición de estado compartida. El detalle de stack, memory, storage y bytecode puede quedar para PPT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ejemplos: ERC-20, AMM, lending pool, NFT marketplace. Introducir la idea de que la composabilidad permite crear sistemas complejos, pero también propaga riesgos.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prepara al alumno para explorar Etherscan. Los eventos son clave para entender cómo frontends, indexadores y analistas reconstruyen actividad sin tener que leer storage directamente para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con un libro contable: si dos operaciones se invierten, el resultado puede cambiar. El consenso sobre orden es esencial para swaps, liquidaciones y arbitrajes.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Merge integró la red principal con el mecanismo PoS. Remarcar que muchas mejoras de escalabilidad se apoyan en rollups y futuras/actuales mejoras de data availability, no en que la capa base procese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vocabulario sin entrar todavía en fórmulas. Los alumnos necesitan reconocer que Ethereum mide el tiempo en slots y epochs, y que la finalidad es una propiedad económica del consenso.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puede anticipar una clase completa sobre consenso. Presentar la idea de justified/finalized como un proceso de votación ponderado por stake, sin entrar todavía en todo Casper FFG.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hacer aún cálculos detallados. Preparar el terreno para el PPT de transacciones/EVM. Explicar que el gas no es “comisión arbitraria”, sino mecanismo de precio para recursos escasos.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Muy importante para alumnos: Ethereum no garantiza que cada smart contract sea seguro. El protocolo protege reglas generales; las aplicaciones pueden introducir bugs, oráculos débiles o incentivos mal diseñados.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a discutir qué significa descentralización en la práctica. La diversidad de clientes reduce riesgos de bugs sistémicos; la diversidad de operadores reduce riesgos de censura o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L2 será un PPT posterior. En esta clase basta con ubicar la arquitectura: L1 como capa de seguridad/settlement; L2 como entorno de ejecución más barato y escalable.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desarrollar EIP-4844 ni PeerDAS en detalle. Esta slide es un puente hacia el PPT 5. El concepto clave es la disponibilidad de datos como recurso crítico para rollups.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composabilidad: un token puede usarse como colateral, en un AMM, como gobernanza o como activo de un juego. Ese poder también crea contagio de riesgos.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negocios: no vender Ethereum como solución universal. Ubicarlo donde hay múltiples actores, necesidad de auditabilidad, ejecución compartida y dificultad para confiar en un administrador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clave para evitar dogmatismo. Debe enseñarse como matriz de decisión. En consultoría y docencia, distinguir posibilidad técnica de conveniencia económica e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alumnos ejemplos de otros malentendidos. Esta dinámica sirve como evaluación diagnóstica.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Puede hacerse con Etherscan. Elegir una transacción ERC-20 y luego una interacción DeFi simple. El alumno debe explicar la diferencia entre ETH transferido y tokens movidos mediante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laboratorios son sugeridos como índice para la nueva unidad Ethereum. Deben tener dark/light mode, recorrido guiado y ejemplos reproducibles como los laboratorios de Bitcoin.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esta primera presentación funciona como marco. Permite que los alumnos no se pierdan cuando luego se profundice en gas, EVM, PoS, rollups o MEV.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slide para recapitulación activa: pedir a un alumno que explique cada idea con un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preguntas sirven para cerrar la clase o abrir una actividad escrita. Se recomienda que los alumnos respondan con ejemplos, no con definiciones memorizadas.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usadas para la elaboración conceptual de este PPT. Conviene revisar periódicamente roadmap, EIPs y documentación oficial por cambios en upgrades, formatos de transacción y recomendaciones de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motivador y transición al siguiente PPT. Sugerir que los alumnos revisen una transacción real antes de la próxima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TH_MASTER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abstract_sci_fi_tech_background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70B1C">
              <a:alpha val="90000"/>
            </a:srgbClr>
          </a:solidFill>
          <a:ln w="12700">
            <a:solidFill>
              <a:srgbClr val="070B1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640080"/>
            <a:ext cx="3063240" cy="310896"/>
          </a:xfrm>
          <a:prstGeom prst="roundRect">
            <a:avLst>
              <a:gd name="adj" fmla="val 23529"/>
            </a:avLst>
          </a:prstGeom>
          <a:solidFill>
            <a:srgbClr val="7ED8FF">
              <a:alpha val="17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708660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7ED8FF"/>
                </a:solidFill>
              </a:rPr>
              <a:t>UNIDAD ETHEREUM · PRESENTACIÓN 1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621792" y="14173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7E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Blockchain a la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7E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Computadora Mundial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67512" y="342900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7C5E5"/>
                </a:solidFill>
              </a:rPr>
              <a:t>Arquitectura, estado, cuentas, transacciones y visión del protocolo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512" y="3931920"/>
            <a:ext cx="4297680" cy="0"/>
          </a:xfrm>
          <a:prstGeom prst="line">
            <a:avLst/>
          </a:prstGeom>
          <a:noFill/>
          <a:ln w="1270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Material elaborado por el profesor Sergio Gevatschnaider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667512" y="44622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PPT 1/6 · Nivel posgrado · Blockchain y Finanzas Descentralizadas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vas a poder explicar al final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58368" y="12344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138074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Arquitectura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22960" y="1810512"/>
            <a:ext cx="314553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Distinguir red, nodos, clientes, cuentas, transacciones, EVM y estado global.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12344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74336" y="138074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Ejecución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535424" y="1810512"/>
            <a:ext cx="314553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Seguir el recorrido de una transacción desde la firma hasta el cambio de estado.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83296" y="12344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0" y="138074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Consenso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247888" y="1810512"/>
            <a:ext cx="314553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Entender cómo PoS ordena bloques, finaliza checkpoints y protege el historial.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27889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61872" y="293522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Economía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22960" y="3364992"/>
            <a:ext cx="314553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Interpretar gas, tarifas, escasez de recursos y costos de uso de la red.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70832" y="27889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74336" y="293522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Aplicaciones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535424" y="3364992"/>
            <a:ext cx="314553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Ubicar tokens, smart contracts, DeFi, DAOs y rollups dentro del stack.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83296" y="278892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6800" y="293522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Criterio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8247888" y="3364992"/>
            <a:ext cx="314553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Saber cuándo Ethereum agrega valor y cuándo una solución más simple es mejor.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5840" y="4754880"/>
            <a:ext cx="10149840" cy="731520"/>
          </a:xfrm>
          <a:prstGeom prst="roundRect">
            <a:avLst>
              <a:gd name="adj" fmla="val 8750"/>
            </a:avLst>
          </a:prstGeom>
          <a:solidFill>
            <a:srgbClr val="0D1B3E"/>
          </a:solidFill>
          <a:ln w="12700">
            <a:solidFill>
              <a:srgbClr val="7E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4992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Meta docente: pasar de “sé nombrar Ethereum” a “sé razonar su arquitectura y sus trade-offs”.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guía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tesis central de Ethereum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ED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 es una capa de liquidación y ejecución programable.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731520" y="2084832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5024" y="223113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Libro contable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96112" y="2660904"/>
            <a:ext cx="2093976" cy="1225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Quién tiene qué y bajo qué reglas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2084832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32504" y="223113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Máquina de estado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3593592" y="2660904"/>
            <a:ext cx="2093976" cy="1225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Cómo cambia el sistema cuando llega una transacción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084832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29984" y="223113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Computadora verificable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291072" y="2660904"/>
            <a:ext cx="2093976" cy="1225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Todos pueden recalcular el resultado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23960" y="2084832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8855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⛽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27464" y="223113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Mercado de seguridad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988552" y="2660904"/>
            <a:ext cx="2093976" cy="1225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La ejecución consume recursos escasos: gas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" y="4828032"/>
            <a:ext cx="99212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</a:rPr>
              <a:t>No es una nube tradicional: no promete eficiencia máxima. Promete ejecución pública, reproducible y resistente a censura bajo reglas compartidas.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Bitcoin a Ethereum: continuidad y ruptura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50876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1572768"/>
            <a:ext cx="279806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Bitcoin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propiedad digital escasa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50876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572768"/>
            <a:ext cx="279806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Ethereum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propiedad + lógica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1508760"/>
            <a:ext cx="292608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1572768"/>
            <a:ext cx="279806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Dapps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sistemas financieros y sociales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94760" y="1874520"/>
            <a:ext cx="731520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1874520"/>
            <a:ext cx="731520" cy="0"/>
          </a:xfrm>
          <a:prstGeom prst="line">
            <a:avLst/>
          </a:prstGeom>
          <a:noFill/>
          <a:ln w="12700">
            <a:solidFill>
              <a:srgbClr val="8B5CF6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" y="283464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₿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26464" y="29809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Bitcoin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87552" y="3410712"/>
            <a:ext cx="2688336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Modelo UTXO, política monetaria explícita y scripting limitado para transferencias seguras.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Ξ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75504" y="29809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Ethereum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4736592" y="3410712"/>
            <a:ext cx="2688336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Modelo de cuentas, smart contracts, estado global y ejecución general en la EVM.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21040" y="283464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◎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24544" y="29809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Nuevo espacio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485632" y="3410712"/>
            <a:ext cx="2688336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Tokens, exchanges automatizados, préstamos, DAOs, identidades, juegos y rollups.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1560" y="5257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pregunta cambia: de “¿quién puede gastar?” a “¿qué reglas ejecuta el sistema cuando alguien interactúa?”.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 conceptual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“Computadora Mundial”: una metáfora útil, no literal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2344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5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13807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Sí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1435608"/>
            <a:ext cx="4069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Una máquina de estado global: todos calculan el mismo resultado.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224028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5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3865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Sí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2441448"/>
            <a:ext cx="4069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Un entorno donde las reglas del negocio pueden vivir como contratos.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72200" y="123444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43F5E">
              <a:alpha val="18000"/>
            </a:srgbClr>
          </a:solidFill>
          <a:ln w="12700">
            <a:solidFill>
              <a:srgbClr val="F43F5E">
                <a:alpha val="5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3807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</a:rPr>
              <a:t>No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1435608"/>
            <a:ext cx="4069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No es una supercomputadora eficiente para cálculo masivo.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72200" y="224028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43F5E">
              <a:alpha val="18000"/>
            </a:srgbClr>
          </a:solidFill>
          <a:ln w="12700">
            <a:solidFill>
              <a:srgbClr val="F43F5E">
                <a:alpha val="5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3865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</a:rPr>
              <a:t>No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2441448"/>
            <a:ext cx="4069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No reemplaza bases de datos privadas cuando no se necesita verificación pública.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143000" y="3703320"/>
            <a:ext cx="9875520" cy="1234440"/>
          </a:xfrm>
          <a:prstGeom prst="roundRect">
            <a:avLst>
              <a:gd name="adj" fmla="val 7407"/>
            </a:avLst>
          </a:prstGeom>
          <a:solidFill>
            <a:srgbClr val="0E1534"/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005072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La innovación no es “hacer más rápido lo mismo”.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Es permitir que actores que no se conocen compartan un estado y reglas verificables.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cognitivo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modelos mentales para enseñar Ethereum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874520" y="1645920"/>
            <a:ext cx="2103120" cy="1188720"/>
          </a:xfrm>
          <a:prstGeom prst="ellipse">
            <a:avLst/>
          </a:prstGeom>
          <a:solidFill>
            <a:srgbClr val="7ED8FF">
              <a:alpha val="18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892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Registro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057400" y="2203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5E5"/>
                </a:solidFill>
              </a:rPr>
              <a:t>balances, contratos, almacenamiento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74920" y="1645920"/>
            <a:ext cx="2103120" cy="118872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892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Máquina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257800" y="2203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5E5"/>
                </a:solidFill>
              </a:rPr>
              <a:t>transacciones → ejecución → nuevo estado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74520" y="3474720"/>
            <a:ext cx="2103120" cy="118872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3721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Mercado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057400" y="40325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5E5"/>
                </a:solidFill>
              </a:rPr>
              <a:t>gas, prioridad, costos, congestión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74920" y="3474720"/>
            <a:ext cx="2103120" cy="118872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721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</a:rPr>
              <a:t>Institución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257800" y="40325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5E5"/>
                </a:solidFill>
              </a:rPr>
              <a:t>reglas públicas, coordinación, settlement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77640" y="2240280"/>
            <a:ext cx="1097280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26480" y="2834640"/>
            <a:ext cx="0" cy="640080"/>
          </a:xfrm>
          <a:prstGeom prst="line">
            <a:avLst/>
          </a:prstGeom>
          <a:noFill/>
          <a:ln w="12700">
            <a:solidFill>
              <a:srgbClr val="8B5CF6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074920" y="4069080"/>
            <a:ext cx="-1097280" cy="0"/>
          </a:xfrm>
          <a:prstGeom prst="line">
            <a:avLst/>
          </a:prstGeom>
          <a:noFill/>
          <a:ln w="12700">
            <a:solidFill>
              <a:srgbClr val="F59E0B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926080" y="3474720"/>
            <a:ext cx="0" cy="-640080"/>
          </a:xfrm>
          <a:prstGeom prst="line">
            <a:avLst/>
          </a:prstGeom>
          <a:noFill/>
          <a:ln w="12700">
            <a:solidFill>
              <a:srgbClr val="34D399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543800" y="1874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 se comprende mejor cuando alternamos entre técnica, economía e instituciones.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43800" y="34015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ED8FF"/>
                </a:solidFill>
              </a:rPr>
              <a:t>Este PPT construye el mapa. Los siguientes profundizan cada bloque.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general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stack mínimo que hay que dominar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77240" y="12344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298448"/>
            <a:ext cx="13350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Usuario / wallet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firma y envía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40280" y="1563624"/>
            <a:ext cx="365760" cy="32004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760" y="155448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1618488"/>
            <a:ext cx="13350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Transacción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intención codificada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1883664"/>
            <a:ext cx="365760" cy="-32004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26280" y="12344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1298448"/>
            <a:ext cx="13350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ejecución determinista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89320" y="1563624"/>
            <a:ext cx="365760" cy="32004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155448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1618488"/>
            <a:ext cx="13350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Estado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balances + storage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63840" y="1883664"/>
            <a:ext cx="365760" cy="-32004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75320" y="123444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EC4899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1298448"/>
            <a:ext cx="13350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Bloque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orden temporal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38360" y="1563624"/>
            <a:ext cx="365760" cy="32004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49840" y="155448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13848" y="1618488"/>
            <a:ext cx="13350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Consenso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acuerdo y finalidad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29718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?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17904" y="31181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Pregunta 1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1078992" y="3547872"/>
            <a:ext cx="2871216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¿Qué cosa se firma y quién puede iniciar el cambio?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80560" y="29718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?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84064" y="31181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Pregunta 2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4645152" y="3547872"/>
            <a:ext cx="2871216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¿Qué reglas ejecuta la EVM y cómo cambia el estado?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46720" y="29718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131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?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650224" y="31181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Pregunta 3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211312" y="3547872"/>
            <a:ext cx="2871216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¿Por qué los demás nodos aceptan ese nuevo estado?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234440" y="507492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FAFC"/>
                </a:solidFill>
              </a:rPr>
              <a:t>El error frecuente es estudiar piezas aisladas. Ethereum se entiende como flujo.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sci_fi_digital_illus_batch_2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distribuida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 como red global de nodos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685800" y="13258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9304" y="14721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Nodos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50392" y="1901952"/>
            <a:ext cx="277977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Máquinas que descargan, validan y propagan información de la red.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6974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▣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9304" y="28437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Clientes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850392" y="3273552"/>
            <a:ext cx="277977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Software que implementa las reglas del protocolo.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40690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◆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9304" y="421538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Usuarios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850392" y="4645152"/>
            <a:ext cx="277977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Interaccionan por wallets, dapps o infraestructura RPC.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0" y="5166360"/>
            <a:ext cx="68580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La descentralización no es “todos hacen todo igual”: es diversidad de operadores, clientes, geografías e incentivos.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ethereum.org/developers/docs/nodes-and-clients/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 de base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Nodo, cliente, cuenta y wallet no son lo mismo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14400" y="1234440"/>
            <a:ext cx="10332720" cy="713232"/>
          </a:xfrm>
          <a:prstGeom prst="roundRect">
            <a:avLst>
              <a:gd name="adj" fmla="val 6410"/>
            </a:avLst>
          </a:prstGeom>
          <a:solidFill>
            <a:srgbClr val="121A3D">
              <a:alpha val="95000"/>
            </a:srgbClr>
          </a:solidFill>
          <a:ln w="12700">
            <a:solidFill>
              <a:srgbClr val="7ED8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4356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D8FF"/>
                </a:solidFill>
              </a:rPr>
              <a:t>Nodo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14173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Máquina conectada a la 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06440" y="14173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E5"/>
                </a:solidFill>
              </a:rPr>
              <a:t>Verifica, almacena y propaga datos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313432"/>
            <a:ext cx="10332720" cy="713232"/>
          </a:xfrm>
          <a:prstGeom prst="roundRect">
            <a:avLst>
              <a:gd name="adj" fmla="val 6410"/>
            </a:avLst>
          </a:prstGeom>
          <a:solidFill>
            <a:srgbClr val="0E1534">
              <a:alpha val="9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5146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Cliente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2496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Software Ethereum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06440" y="24963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E5"/>
                </a:solidFill>
              </a:rPr>
              <a:t>Implementa reglas de ejecución o consenso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3392424"/>
            <a:ext cx="10332720" cy="713232"/>
          </a:xfrm>
          <a:prstGeom prst="roundRect">
            <a:avLst>
              <a:gd name="adj" fmla="val 6410"/>
            </a:avLst>
          </a:prstGeom>
          <a:solidFill>
            <a:srgbClr val="121A3D">
              <a:alpha val="95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5935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Cuenta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43200" y="35753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Entidad del estado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06440" y="35753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E5"/>
                </a:solidFill>
              </a:rPr>
              <a:t>Tiene balance, nonce, código/storage según tipo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" y="4471416"/>
            <a:ext cx="10332720" cy="713232"/>
          </a:xfrm>
          <a:prstGeom prst="roundRect">
            <a:avLst>
              <a:gd name="adj" fmla="val 6410"/>
            </a:avLst>
          </a:prstGeom>
          <a:solidFill>
            <a:srgbClr val="0E1534">
              <a:alpha val="9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6725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Wallet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0" y="46542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Interfaz de usuario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06440" y="46542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7C5E5"/>
                </a:solidFill>
              </a:rPr>
              <a:t>Gestiona claves y firma transacciones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" y="56509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Separar estos términos evita errores al explicar custodia, validación y seguridad.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ethereum.org/developers/docs/accounts/ · ethereum.org/developers/docs/nodes-and-clients/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futuristic_sci_fi_abstract_visualizatio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Layer + Consensus Layer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arquitectura post-Merge: dos capas coordinadas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822960" y="14630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B1A42">
              <a:alpha val="97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673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ED8FF"/>
                </a:solidFill>
              </a:rPr>
              <a:t>Execution Layer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2057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EVM · transacciones · estado · gas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29400" y="14630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190E40">
              <a:alpha val="97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673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</a:rPr>
              <a:t>Consensus Layer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903720" y="2057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validators · slots · epochs · finality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2039112"/>
            <a:ext cx="868680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069080" y="2761488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B7C5E5"/>
                </a:solidFill>
              </a:rPr>
              <a:t>Engine API: coordinación entre ejecución y consenso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1143000" y="5074920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8FAFC"/>
                </a:solidFill>
              </a:rPr>
              <a:t>Idea: una capa calcula qué pasa; la otra acuerda en qué orden y con qué finalidad.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ethereum.org/developers/docs/nodes-and-clients/ · ethereum.org/developers/docs/consensus-mechanisms/pos/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intención al estado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viaje de una transacción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40080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1481328"/>
            <a:ext cx="1335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1 · Wallet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crea y firma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03120" y="1783080"/>
            <a:ext cx="41148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42032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481328"/>
            <a:ext cx="1335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2 · Mempool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la red propaga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05072" y="1783080"/>
            <a:ext cx="41148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43984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1481328"/>
            <a:ext cx="1335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3 · Proposer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la incluye en bloque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07024" y="1783080"/>
            <a:ext cx="41148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45936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481328"/>
            <a:ext cx="1335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4 · EVM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ejecuta reglas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08976" y="1783080"/>
            <a:ext cx="41148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47888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1481328"/>
            <a:ext cx="1335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5 · Estado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actualiza balances/storage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10928" y="1783080"/>
            <a:ext cx="41148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49840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13848" y="1481328"/>
            <a:ext cx="13350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6 · Finalidad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se consolida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0120" y="29718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63624" y="311810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Lo que firma el usuario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1124712" y="3547872"/>
            <a:ext cx="273405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Una instrucción: desde qué cuenta, hacia qué destino, con qué datos, valor, gas y nonce.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29718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⚙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29784" y="311810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Lo que ejecuta la red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4690872" y="3547872"/>
            <a:ext cx="273405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Todos los nodos pueden reproducir el cálculo y verificar si el nuevo estado es válido.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92440" y="29718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5703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695944" y="311810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Lo que protege PoS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257032" y="3547872"/>
            <a:ext cx="2734056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El orden de bloques y la finalización económica del historial compartido.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05840" y="52120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El corazón de Ethereum es esta cadena: intención firmada → ejecución determinista → acuerdo social y económico.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ethereum.org/developers/docs/transactions/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de usuario y contrato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de cuentas: EOA y Contract Accounts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68680" y="1325880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08203F">
              <a:alpha val="98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600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D8FF"/>
                </a:solidFill>
              </a:rPr>
              <a:t>Externally Owned Account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2148840"/>
            <a:ext cx="40690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Controlada por clave privada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Puede iniciar transacciones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Tiene balance y nonce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La wallet firma por el usuario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39776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7C5E5"/>
                </a:solidFill>
              </a:rPr>
              <a:t>Ejemplo: tu dirección de wallet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325880"/>
            <a:ext cx="4983480" cy="3383280"/>
          </a:xfrm>
          <a:prstGeom prst="roundRect">
            <a:avLst>
              <a:gd name="adj" fmla="val 3243"/>
            </a:avLst>
          </a:prstGeom>
          <a:solidFill>
            <a:srgbClr val="170B3B">
              <a:alpha val="98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600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Contract Account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2148840"/>
            <a:ext cx="40690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Controlada por código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No inicia por sí sola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Puede ejecutar lógica y guardar storage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Responde a llamadas/transacciones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812280" y="39776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7C5E5"/>
                </a:solidFill>
              </a:rPr>
              <a:t>Ejemplo: token ERC‑20 o AMM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70448" y="2971800"/>
            <a:ext cx="402336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34440" y="53492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Una cuenta humana llama a una cuenta-programa: ahí nace la lógica de las dapps.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ethereum.org/developers/docs/accounts/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state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global: la memoria compartida del sistema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14400" y="13716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435608"/>
            <a:ext cx="20665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Cuenta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balance · nonce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3716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435608"/>
            <a:ext cx="20665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Contrato 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code · 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37160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1435608"/>
            <a:ext cx="20665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Cuenta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balance · nonce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2788920"/>
            <a:ext cx="10652760" cy="1143000"/>
          </a:xfrm>
          <a:prstGeom prst="roundRect">
            <a:avLst>
              <a:gd name="adj" fmla="val 8000"/>
            </a:avLst>
          </a:prstGeom>
          <a:solidFill>
            <a:srgbClr val="0E1534"/>
          </a:solidFill>
          <a:ln w="12700">
            <a:solidFill>
              <a:srgbClr val="7ED8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D8FF"/>
                </a:solidFill>
              </a:rPr>
              <a:t>World State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37560" y="3072384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F8FAFC"/>
                </a:solidFill>
              </a:rPr>
              <a:t>El conjunto de todas las cuentas y sus campos: balances, nonces, código y almacenamiento.</a:t>
            </a:r>
            <a:endParaRPr lang="en-US" sz="1430" dirty="0"/>
          </a:p>
        </p:txBody>
      </p:sp>
      <p:sp>
        <p:nvSpPr>
          <p:cNvPr id="24" name="Shape 22"/>
          <p:cNvSpPr/>
          <p:nvPr/>
        </p:nvSpPr>
        <p:spPr>
          <a:xfrm>
            <a:off x="1097280" y="4526280"/>
            <a:ext cx="10012680" cy="713232"/>
          </a:xfrm>
          <a:prstGeom prst="roundRect">
            <a:avLst>
              <a:gd name="adj" fmla="val 7692"/>
            </a:avLst>
          </a:prstGeom>
          <a:solidFill>
            <a:srgbClr val="121A3D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754880"/>
            <a:ext cx="955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Una transacción válida transforma el estado anterior en un nuevo estado: S(t) → S(t+1).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154680" y="1719072"/>
            <a:ext cx="173736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1719072"/>
            <a:ext cx="178308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80760" y="2084832"/>
            <a:ext cx="0" cy="676656"/>
          </a:xfrm>
          <a:prstGeom prst="line">
            <a:avLst/>
          </a:prstGeom>
          <a:noFill/>
          <a:ln w="12700">
            <a:solidFill>
              <a:srgbClr val="8B5CF6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ethereum.org/developers/docs/accounts/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Anatomía simplificada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Transacciones: instrucciones autorizadas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13232" y="12344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138074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from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77824" y="1810512"/>
            <a:ext cx="291693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quién firma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62272" y="12344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38074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to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626864" y="1810512"/>
            <a:ext cx="291693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destino o contrato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11312" y="12344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1380744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value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375904" y="1810512"/>
            <a:ext cx="291693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ETH transferido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" y="267919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282549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data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77824" y="3255264"/>
            <a:ext cx="291693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llamada / parámetros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62272" y="267919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282549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nonce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626864" y="3255264"/>
            <a:ext cx="291693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orden y anti-replay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11312" y="267919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282549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gas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375904" y="3255264"/>
            <a:ext cx="291693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límite y pago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" y="4389120"/>
            <a:ext cx="10287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Transacción ≠ solo transferencia. Puede ser una llamada compleja a un smart contract.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" y="484632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7ED8FF"/>
                </a:solidFill>
              </a:rPr>
              <a:t>La firma vincula intención, autorización y responsabilidad económica.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ethereum.org/developers/docs/transactions/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futuristic_sci_fi_digital_illustration_a_dar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Ethereum Virtual Machine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EVM: máquina de ejecución determinista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9304" y="15636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Entrada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50392" y="1993392"/>
            <a:ext cx="287121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Código, datos de llamada, estado anterior y contexto de bloque.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7889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CPU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9304" y="29352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Proceso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850392" y="3364992"/>
            <a:ext cx="287121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Todos los nodos ejecutan las mismas reglas de manera reproducible.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41605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OUT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9304" y="43068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Salida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850392" y="4736592"/>
            <a:ext cx="2871216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Nuevo estado, logs, recibo de transacción y consumo de gas.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0" y="5212080"/>
            <a:ext cx="6903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 EVM convierte contratos en cálculo verificable: no “confío en el servidor”, sino “puedo reproducir la ejecución”.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ethereum.org/developers/docs/evm/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Programabilidad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contracts: reglas persistentes y componibles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68680" y="14630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1527048"/>
            <a:ext cx="18836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Usuario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EOA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4630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527048"/>
            <a:ext cx="18836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Contrato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reglas + storage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81160" y="14630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527048"/>
            <a:ext cx="18836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Usuario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EOA / contrato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9504" y="1810512"/>
            <a:ext cx="2093976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95744" y="1810512"/>
            <a:ext cx="2093976" cy="0"/>
          </a:xfrm>
          <a:prstGeom prst="line">
            <a:avLst/>
          </a:prstGeom>
          <a:noFill/>
          <a:ln w="12700">
            <a:solidFill>
              <a:srgbClr val="34D399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297180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17904" y="311810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Contrato como institución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1078992" y="3547872"/>
            <a:ext cx="27340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Codifica reglas: quién puede hacer qué, cuándo y bajo qué condiciones.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297180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9784" y="311810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Contrato como API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4690872" y="3547872"/>
            <a:ext cx="27340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Otros contratos pueden llamarlo: composabilidad.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297180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43F5E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3F5E"/>
                </a:solidFill>
              </a:rPr>
              <a:t>!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1664" y="3118104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Contrato como riesgo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302752" y="3547872"/>
            <a:ext cx="273405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Errores de código pueden bloquear fondos o habilitar exploits.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51560" y="52578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potencia de Ethereum aparece cuando las reglas se vuelven públicas, reutilizables y liquidables.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Logs, eventos e indexación: cómo leer lo que pasó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14400" y="137160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435608"/>
            <a:ext cx="20665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Transacción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1691640"/>
            <a:ext cx="868680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60520" y="137160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435608"/>
            <a:ext cx="20665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Contrato emite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eventos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914400" cy="0"/>
          </a:xfrm>
          <a:prstGeom prst="line">
            <a:avLst/>
          </a:prstGeom>
          <a:noFill/>
          <a:ln w="12700">
            <a:solidFill>
              <a:srgbClr val="8B5CF6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137160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435608"/>
            <a:ext cx="206654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Receipt + logs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057400"/>
            <a:ext cx="0" cy="731520"/>
          </a:xfrm>
          <a:prstGeom prst="line">
            <a:avLst/>
          </a:prstGeom>
          <a:noFill/>
          <a:ln w="12700">
            <a:solidFill>
              <a:srgbClr val="34D399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23760" y="28803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2944368"/>
            <a:ext cx="25237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Indexadores / explorers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subgraphs / analytics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31546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17904" y="33009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Estado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1078992" y="3730752"/>
            <a:ext cx="213969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Lo que queda guardado en contrato y afecta futuras ejecuciones.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49040" y="315468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52544" y="33009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Evento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3913632" y="3730752"/>
            <a:ext cx="213969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Registro barato y consultable para interfaces y análisis.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4400" y="4800600"/>
            <a:ext cx="8961120" cy="731520"/>
          </a:xfrm>
          <a:prstGeom prst="roundRect">
            <a:avLst>
              <a:gd name="adj" fmla="val 100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4965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17904" y="4946904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Lectura docente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1078992" y="5376672"/>
            <a:ext cx="8631936" cy="36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Una dapp no solo “muestra datos”: interpreta estado y eventos producidos por contratos.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en Ethereum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Bloques: ordenar cambios en una historia común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50876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1572768"/>
            <a:ext cx="1014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65960" y="1828800"/>
            <a:ext cx="59436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06040" y="150876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0048" y="1572768"/>
            <a:ext cx="1014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1828800"/>
            <a:ext cx="59436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150876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1572768"/>
            <a:ext cx="1014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1828800"/>
            <a:ext cx="59436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72200" y="150876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572768"/>
            <a:ext cx="1014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1828800"/>
            <a:ext cx="59436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55280" y="150876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9288" y="1572768"/>
            <a:ext cx="1014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98280" y="1828800"/>
            <a:ext cx="59436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38360" y="150876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1572768"/>
            <a:ext cx="10149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4400" y="27889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17904" y="29352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Orden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1078992" y="3364992"/>
            <a:ext cx="264261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Sin orden común no hay estado común. El bloque fija una secuencia de transacciones.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27889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29784" y="29352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Ejecución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4690872" y="3364992"/>
            <a:ext cx="264261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Cada bloque contiene operaciones que transforman el estado anterior.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38160" y="27889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741664" y="29352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Consenso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302752" y="3364992"/>
            <a:ext cx="2642616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El protocolo decide qué bloque pertenece a la cadena canónica.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0584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cadena no es solo almacenamiento: es una máquina de consenso sobre el orden de ejecución.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de paradigma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 después de The Merge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32588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23111C"/>
          </a:solidFill>
          <a:ln w="1270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Antes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Proof of Work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minería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competencia computacional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consumo energético alto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46520" y="132588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0C241E"/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Ahora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4944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Proof of Stake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validadores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stake económico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finalidad por consenso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715000" y="2926080"/>
            <a:ext cx="685800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0584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The Merge cambió el mecanismo de consenso, no convirtió a Ethereum en una base de datos convencional.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ethereum.org/developers/docs/consensus-mechanisms/pos/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Consenso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 of Stake: tiempo, validadores y finalidad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1887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6464" y="133502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Slot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87552" y="1764792"/>
            <a:ext cx="282549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oportunidad de proponer bloque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75504" y="133502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Epoch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36592" y="1764792"/>
            <a:ext cx="282549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conjunto de slots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11887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24544" y="133502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Validator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485632" y="1764792"/>
            <a:ext cx="282549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participante que propone y atestigua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2788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26464" y="293522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Attestation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87552" y="3364992"/>
            <a:ext cx="282549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voto sobre la cadena y checkpoints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2788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75504" y="293522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Finality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736592" y="3364992"/>
            <a:ext cx="2825496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bloques muy costosos de revertir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4892040"/>
            <a:ext cx="10149840" cy="694944"/>
          </a:xfrm>
          <a:prstGeom prst="roundRect">
            <a:avLst>
              <a:gd name="adj" fmla="val 9211"/>
            </a:avLst>
          </a:prstGeom>
          <a:solidFill>
            <a:srgbClr val="0E1534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5111496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El consenso PoS coordina quién propone, quién vota y cuándo una parte de la historia se considera finalizada.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ethereum.org/developers/docs/consensus-mechanisms/pos/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Gasper en términos simples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Finalidad: cuándo un historial se vuelve difícil de revertir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14400" y="1965960"/>
            <a:ext cx="1097280" cy="548640"/>
          </a:xfrm>
          <a:prstGeom prst="rect">
            <a:avLst/>
          </a:prstGeom>
          <a:solidFill>
            <a:srgbClr val="7ED8FF">
              <a:alpha val="28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2148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</a:rPr>
              <a:t>slot 1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011680" y="2240280"/>
            <a:ext cx="68580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43200" y="1965960"/>
            <a:ext cx="1097280" cy="548640"/>
          </a:xfrm>
          <a:prstGeom prst="rect">
            <a:avLst/>
          </a:prstGeom>
          <a:solidFill>
            <a:srgbClr val="7ED8FF">
              <a:alpha val="28000"/>
            </a:srgbClr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2148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</a:rPr>
              <a:t>slot 2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840480" y="2240280"/>
            <a:ext cx="68580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1965960"/>
            <a:ext cx="1097280" cy="548640"/>
          </a:xfrm>
          <a:prstGeom prst="rect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148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</a:rPr>
              <a:t>slot 3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669280" y="2240280"/>
            <a:ext cx="68580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1965960"/>
            <a:ext cx="1097280" cy="548640"/>
          </a:xfrm>
          <a:prstGeom prst="rect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148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</a:rPr>
              <a:t>slot 4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498080" y="2240280"/>
            <a:ext cx="68580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9600" y="1965960"/>
            <a:ext cx="1097280" cy="548640"/>
          </a:xfrm>
          <a:prstGeom prst="rect">
            <a:avLst/>
          </a:prstGeom>
          <a:solidFill>
            <a:srgbClr val="34D399">
              <a:alpha val="28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148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</a:rPr>
              <a:t>slot 5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326880" y="2240280"/>
            <a:ext cx="685800" cy="0"/>
          </a:xfrm>
          <a:prstGeom prst="line">
            <a:avLst/>
          </a:prstGeom>
          <a:noFill/>
          <a:ln w="12700">
            <a:solidFill>
              <a:srgbClr val="7280A8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1965960"/>
            <a:ext cx="1097280" cy="548640"/>
          </a:xfrm>
          <a:prstGeom prst="rect">
            <a:avLst/>
          </a:prstGeom>
          <a:solidFill>
            <a:srgbClr val="34D399">
              <a:alpha val="28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22408" y="214884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</a:rPr>
              <a:t>slot 6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011680" y="30632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75688" y="3127248"/>
            <a:ext cx="18836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Checkpoint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justified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0" y="30632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16215A">
              <a:alpha val="9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3127248"/>
            <a:ext cx="188366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Checkpoint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finalized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69080" y="3346704"/>
            <a:ext cx="3017520" cy="0"/>
          </a:xfrm>
          <a:prstGeom prst="line">
            <a:avLst/>
          </a:prstGeom>
          <a:noFill/>
          <a:ln w="12700">
            <a:solidFill>
              <a:srgbClr val="34D399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4400" y="45720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17904" y="471830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Intuición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1078992" y="5148072"/>
            <a:ext cx="27797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La finalidad no es “nadie puede atacar”, sino “revertir exige costos y coordinación extremos”.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0560" y="45720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!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084064" y="471830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Riesgo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4645152" y="5148072"/>
            <a:ext cx="27797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La seguridad depende de stake, clientes, operación y condiciones de red.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46720" y="45720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11312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i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50224" y="471830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Docencia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8211312" y="5148072"/>
            <a:ext cx="27797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Diferenciar finalización económica de confirmación visual en un explorer.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Economía de recursos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Gas: precio de ejecutar reglas en una red compartida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23444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6464" y="13807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Gas used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87552" y="1810512"/>
            <a:ext cx="2688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Cantidad de trabajo que consume una operación.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23444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75504" y="13807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Base fee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36592" y="1810512"/>
            <a:ext cx="2688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Componente que se ajusta con congestión y se quema.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123444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24544" y="13807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Priority fee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485632" y="1810512"/>
            <a:ext cx="2688336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Incentivo adicional para inclusión.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43000" y="3246120"/>
            <a:ext cx="9921240" cy="91440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 w="12700">
            <a:solidFill>
              <a:srgbClr val="7ED8FF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356616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Costo ≈ gas usado × precio efectivo del gas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1188720" y="4983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El gas evita el abuso, raciona cómputo y revela el costo social de usar la capa base.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ethereum.org/developers/docs/gas/ · eips.ethereum.org/EIPS/eip-1559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una sola defensa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seguridad de Ethereum es multicapa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31520" y="114300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128930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Criptografía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96112" y="1719072"/>
            <a:ext cx="4654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firmas, hashes, derivación de direcciones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114300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128930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Consenso económico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82512" y="1719072"/>
            <a:ext cx="4654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stake, rewards, penalties y slashing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270662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Clientes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96112" y="3136392"/>
            <a:ext cx="4654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implementaciones diversas reducen fallos comunes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25603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270662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Comunidad / gobernanza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382512" y="3136392"/>
            <a:ext cx="4654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EIPs, revisión pública, actualizaciones coordinadas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39776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43F5E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123944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Auditoría de contratos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896112" y="4553712"/>
            <a:ext cx="4654296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seguridad de aplicación, no solo protocolo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97280" y="54864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Un protocolo seguro puede alojar contratos inseguros. Separar seguridad de capa base y seguridad de aplicación.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allá del eslogan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Descentralización: una propiedad operacional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2344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6464" y="13807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Clientes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87552" y="181051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Diversidad de implementaciones de ejecución y consenso.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12344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84064" y="13807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Operadores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645152" y="181051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Solo staking, pools, servicios, instituciones.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12344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41664" y="13807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Geografía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302752" y="181051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Distribución de nodos, validadores y proveedores.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29718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26464" y="31181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Infraestructura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87552" y="354787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Dependencia de RPC, cloud, MEV relay, staking providers.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80560" y="29718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EIP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84064" y="31181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Gobernanza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645152" y="354787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Proceso social de EIPs, debates y upgrades.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38160" y="29718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02752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U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41664" y="311810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Usuarios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8302752" y="354787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Capacidad real de verificar, salir y cambiar proveedor.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5156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Una red puede ser técnicamente abierta y operativamente concentrada: hay que medir ambas dimensiones.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ethereum.org/developers/docs/nodes-and-clients/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previa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Escalabilidad: por qué L2 no es un accesorio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60120" y="1234440"/>
            <a:ext cx="4389120" cy="2834640"/>
          </a:xfrm>
          <a:prstGeom prst="roundRect">
            <a:avLst>
              <a:gd name="adj" fmla="val 3226"/>
            </a:avLst>
          </a:prstGeom>
          <a:solidFill>
            <a:srgbClr val="09203B"/>
          </a:solidFill>
          <a:ln w="12700">
            <a:solidFill>
              <a:srgbClr val="7ED8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5544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ED8FF"/>
                </a:solidFill>
              </a:rPr>
              <a:t>Layer 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417320" y="20574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Seguridad compartida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settlement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validación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publicación/verificación de datos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0" y="1234440"/>
            <a:ext cx="4389120" cy="2834640"/>
          </a:xfrm>
          <a:prstGeom prst="roundRect">
            <a:avLst>
              <a:gd name="adj" fmla="val 3226"/>
            </a:avLst>
          </a:prstGeom>
          <a:solidFill>
            <a:srgbClr val="160B3C"/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5544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B5CF6"/>
                </a:solidFill>
              </a:rPr>
              <a:t>Layer 2 / Rollups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315200" y="20574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Ejecución fuera de L1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batching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menor costo por usuario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</a:rPr>
              <a:t>pruebas o disputas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40680" y="2606040"/>
            <a:ext cx="1344168" cy="0"/>
          </a:xfrm>
          <a:prstGeom prst="line">
            <a:avLst/>
          </a:prstGeom>
          <a:noFill/>
          <a:ln w="12700">
            <a:solidFill>
              <a:srgbClr val="7ED8FF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84848" y="2971800"/>
            <a:ext cx="-1344168" cy="0"/>
          </a:xfrm>
          <a:prstGeom prst="line">
            <a:avLst/>
          </a:prstGeom>
          <a:noFill/>
          <a:ln w="12700">
            <a:solidFill>
              <a:srgbClr val="8B5CF6">
                <a:alpha val="9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43000" y="525780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La hoja de ruta moderna de Ethereum busca escalar sin concentrar la seguridad de la capa base.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ethereum.org/roadmap/ · ethereum.org/developers/docs/scaling/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y costos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availability y blobs: el cuello de botella invisible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2344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L2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6464" y="13807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Transacciones L2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87552" y="181051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Muchas operaciones se agrupan antes de llegar a L1.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12344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84064" y="13807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Datos publicados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645152" y="181051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La red necesita datos suficientes para verificar y reconstruir.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12344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41664" y="138074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Blobs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302752" y="1810512"/>
            <a:ext cx="287121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Espacio temporal de datos pensado para rollups.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3429000"/>
            <a:ext cx="9646920" cy="868680"/>
          </a:xfrm>
          <a:prstGeom prst="roundRect">
            <a:avLst>
              <a:gd name="adj" fmla="val 8421"/>
            </a:avLst>
          </a:prstGeom>
          <a:solidFill>
            <a:srgbClr val="0E1534"/>
          </a:solidFill>
          <a:ln w="12700">
            <a:solidFill>
              <a:srgbClr val="7ED8FF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370332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Escalar Ethereum no es solo “más TPS”: es publicar/verificar datos con garantías suficientes.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417320" y="48920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dirty="0">
                <a:solidFill>
                  <a:srgbClr val="7ED8FF"/>
                </a:solidFill>
              </a:rPr>
              <a:t>Para el primer PPT, quedate con la intuición: los rollups necesitan un lugar barato y verificable para poner datos.</a:t>
            </a:r>
            <a:endParaRPr lang="en-US" sz="1580" dirty="0"/>
          </a:p>
        </p:txBody>
      </p:sp>
      <p:sp>
        <p:nvSpPr>
          <p:cNvPr id="30" name="Text 28"/>
          <p:cNvSpPr/>
          <p:nvPr/>
        </p:nvSpPr>
        <p:spPr>
          <a:xfrm>
            <a:off x="502920" y="6309360"/>
            <a:ext cx="9875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64748B"/>
                </a:solidFill>
              </a:rPr>
              <a:t>Fuentes: ethereum.org/roadmap/ · eips.ethereum.org/EIPS/eip-4844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Ecosistema de aplicaciones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permite construir Ethereum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85800" y="1143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128930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DeFi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50392" y="1719072"/>
            <a:ext cx="296265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AMMs, lending, derivatives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143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28930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Tokens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645152" y="1719072"/>
            <a:ext cx="296265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ERC‑20, NFTs, RWAs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75320" y="11430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912" y="128930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DAOs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439912" y="1719072"/>
            <a:ext cx="296265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tesorería y gobernanza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2834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298094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Identidad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50392" y="3410712"/>
            <a:ext cx="296265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credenciales y reputación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2834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98094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Juegos / metaverso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645152" y="3410712"/>
            <a:ext cx="296265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activos interoperables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75320" y="2834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298094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Infraestructura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8439912" y="3410712"/>
            <a:ext cx="296265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oráculos, bridges, indexadores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5156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La diferencia no está solo en cada aplicación, sino en que pueden interactuar entre sí como “legos financieros y digitales”.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y límites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 en clave empresarial e institucional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2801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6464" y="142646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Tokenización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87552" y="1856232"/>
            <a:ext cx="2825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Representación programable de activos y derechos, con reglas de transferencia.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12801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$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9784" y="142646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Stablecoins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690872" y="1856232"/>
            <a:ext cx="2825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Pagos, tesorería, remesas, liquidación y dinero programable.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12801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#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33104" y="142646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Trazabilidad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394192" y="1856232"/>
            <a:ext cx="2825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Anclaje de evidencias, hashes, certificaciones y pruebas de integridad.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30632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26464" y="3209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Mercados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87552" y="3639312"/>
            <a:ext cx="2825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Liquidez, subastas, AMMs y negociación sin custodio central.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30632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G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29784" y="3209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Gobernanza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690872" y="3639312"/>
            <a:ext cx="2825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Reglas de decisión, tesorerías, permisos y auditoría pública.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30632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94192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!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833104" y="3209544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Compliance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8394192" y="3639312"/>
            <a:ext cx="2825496" cy="539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Identidad, permisos y privacidad requieren diseño adicional.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0120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</a:rPr>
              <a:t>La pregunta no es “¿puedo usar blockchain?”, sino “¿qué garantía pública necesito y cuánto estoy dispuesto a pagar por ella?”.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decisión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Ethereum agrega valor y cuándo no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23444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0B2A2B">
              <a:alpha val="98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150876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Tiene sentido cuando…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103120"/>
            <a:ext cx="41148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varios actores no confían plenamente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se necesita liquidación verificable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las reglas deben ser públicas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la composabilidad aporta valor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el costo de coordinación central es alto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0" y="123444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2A0B17">
              <a:alpha val="98000"/>
            </a:srgbClr>
          </a:solidFill>
          <a:ln w="12700">
            <a:solidFill>
              <a:srgbClr val="F43F5E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50876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</a:rPr>
              <a:t>No conviene cuando…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103120"/>
            <a:ext cx="41148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hay un único operador confiable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los datos deben ser privados por defecto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la velocidad/costo domina todo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no hay necesidad de auditabilidad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• un contrato simple alcanza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43000" y="52578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Ethereum no reemplaza el análisis institucional: lo vuelve más explícito.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que conviene desactivar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Malentendidos frecuentes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77240" y="10972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124358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“Ethereum es solo ETH”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41832" y="1673352"/>
            <a:ext cx="47457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ETH es el activo nativo; Ethereum es una red de ejecución y settlement.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09728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24358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“Los contratos son legales por sí solos”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519672" y="1673352"/>
            <a:ext cx="47457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Son código ejecutable; su efecto jurídico depende del marco y del diseño.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23774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52374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“Todo on-chain es transparente y simple”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941832" y="2953512"/>
            <a:ext cx="47457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La información puede ser pública pero difícil de interpretar.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237744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252374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“L2 es menos Ethereum”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519672" y="2953512"/>
            <a:ext cx="47457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Muchas L2 heredan seguridad y settlement de L1 con distintos supuestos.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3657600"/>
            <a:ext cx="5074920" cy="896112"/>
          </a:xfrm>
          <a:prstGeom prst="roundRect">
            <a:avLst>
              <a:gd name="adj" fmla="val 8163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803904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“Más descentralizado siempre es más rápido”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941832" y="4233672"/>
            <a:ext cx="474573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La descentralización suele introducir trade-offs de costo, latencia y complejidad.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3000" y="55321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8FAFC"/>
                </a:solidFill>
              </a:rPr>
              <a:t>Un buen curso no solo enseña conceptos: también corrige intuiciones equivocadas.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sugerida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docente: leer una transacción real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097280" y="1143000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7ED8FF">
              <a:alpha val="18000"/>
            </a:srgbClr>
          </a:solidFill>
          <a:ln w="12700">
            <a:solidFill>
              <a:srgbClr val="7ED8FF">
                <a:alpha val="5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2893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D8FF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57400" y="1344168"/>
            <a:ext cx="8823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Elegir una transacción simple en un explorer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097280" y="1984248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1305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57400" y="2185416"/>
            <a:ext cx="8823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Identificar from, to, value, gas y nonce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097280" y="2825496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5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2971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057400" y="3026664"/>
            <a:ext cx="8823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Ver si fue transferencia o llamada a contrato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1097280" y="3666744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057400" y="3867912"/>
            <a:ext cx="8823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Revisar logs/eventos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97280" y="4507992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54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46542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057400" y="4709160"/>
            <a:ext cx="8823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Interpretar qué cambió en el estado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1143000" y="55595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Objetivo: pasar de mirar hashes a contar la historia económica y técnica de la operación.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concepto a la práctica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Laboratorios recomendados para acompañar este PPT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85800" y="109728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01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9304" y="124358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Lab 01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50392" y="1673352"/>
            <a:ext cx="47457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Cuenta, clave y dirección Ethereum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09728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12864" y="124358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Lab 02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473952" y="1673352"/>
            <a:ext cx="47457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Anatomía de una transacción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251460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9304" y="266090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Lab 03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50392" y="3090672"/>
            <a:ext cx="47457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Mini explorador de estado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251460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12864" y="266090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Lab 04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6473952" y="3090672"/>
            <a:ext cx="47457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EVM conceptual: stack, memory, storage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393192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9304" y="407822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Lab 05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50392" y="4507992"/>
            <a:ext cx="47457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Gas y EIP‑1559 básico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3931920"/>
            <a:ext cx="5074920" cy="987552"/>
          </a:xfrm>
          <a:prstGeom prst="roundRect">
            <a:avLst>
              <a:gd name="adj" fmla="val 7407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12864" y="4078224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Lab 06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473952" y="4507992"/>
            <a:ext cx="4745736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PoS visual: slots, epochs y finality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584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8FAFC"/>
                </a:solidFill>
              </a:rPr>
              <a:t>La presentación introduce el mapa; los labs hacen que el alumno manipule variables y vea consecuencias.</a:t>
            </a:r>
            <a:endParaRPr lang="en-US" sz="1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6 presentaciones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conecta este PPT con la unidad completa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49808" y="1143000"/>
            <a:ext cx="3310128" cy="1353312"/>
          </a:xfrm>
          <a:prstGeom prst="roundRect">
            <a:avLst>
              <a:gd name="adj" fmla="val 5405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7ED8FF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7ED8FF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3312" y="128930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PPT 1 · Arquitectura general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14400" y="1719072"/>
            <a:ext cx="2980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Este PPT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35424" y="1143000"/>
            <a:ext cx="3310128" cy="1353312"/>
          </a:xfrm>
          <a:prstGeom prst="roundRect">
            <a:avLst>
              <a:gd name="adj" fmla="val 5405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8B5CF6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38928" y="128930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PPT 2 · Cuentas, transacciones, EVM y gas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00016" y="1719072"/>
            <a:ext cx="2980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ejecución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1143000"/>
            <a:ext cx="3310128" cy="1353312"/>
          </a:xfrm>
          <a:prstGeom prst="roundRect">
            <a:avLst>
              <a:gd name="adj" fmla="val 5405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24544" y="128930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PPT 3 · PoS y consenso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485632" y="1719072"/>
            <a:ext cx="2980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finalidad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2926080"/>
            <a:ext cx="3310128" cy="1353312"/>
          </a:xfrm>
          <a:prstGeom prst="roundRect">
            <a:avLst>
              <a:gd name="adj" fmla="val 5405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59E0B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53312" y="307238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PPT 4 · Smart contracts y tokens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914400" y="3502152"/>
            <a:ext cx="2980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aplicaciones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35424" y="2926080"/>
            <a:ext cx="3310128" cy="1353312"/>
          </a:xfrm>
          <a:prstGeom prst="roundRect">
            <a:avLst>
              <a:gd name="adj" fmla="val 5405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EC4899">
                <a:alpha val="5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38928" y="307238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PPT 5 · Rollups, blobs y escalabilidad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700016" y="3502152"/>
            <a:ext cx="2980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L2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21040" y="2926080"/>
            <a:ext cx="3310128" cy="1353312"/>
          </a:xfrm>
          <a:prstGeom prst="roundRect">
            <a:avLst>
              <a:gd name="adj" fmla="val 5405"/>
            </a:avLst>
          </a:prstGeom>
          <a:solidFill>
            <a:srgbClr val="121A3D">
              <a:alpha val="90000"/>
            </a:srgbClr>
          </a:solidFill>
          <a:ln w="12700">
            <a:solidFill>
              <a:srgbClr val="F97316">
                <a:alpha val="5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24544" y="307238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8FAFC"/>
                </a:solidFill>
              </a:rPr>
              <a:t>PPT 6 · Economía, MEV, seguridad y roadmap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8485632" y="3502152"/>
            <a:ext cx="298094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5E5"/>
                </a:solidFill>
              </a:rPr>
              <a:t>criterio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97280" y="5440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Estructura recomendada: cada PPT termina con simulación, glosario parcial y mini-cuestionario.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conceptual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ideas que deben quedar claras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143000" y="1143000"/>
            <a:ext cx="9921240" cy="621792"/>
          </a:xfrm>
          <a:prstGeom prst="roundRect">
            <a:avLst>
              <a:gd name="adj" fmla="val 14706"/>
            </a:avLst>
          </a:prstGeom>
          <a:solidFill>
            <a:srgbClr val="7ED8FF">
              <a:alpha val="18000"/>
            </a:srgbClr>
          </a:solidFill>
          <a:ln w="12700">
            <a:solidFill>
              <a:srgbClr val="7ED8FF">
                <a:alpha val="5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12893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D8FF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03120" y="1344168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Ethereum mantiene estado, no solo historial.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1143000" y="2011680"/>
            <a:ext cx="9921240" cy="621792"/>
          </a:xfrm>
          <a:prstGeom prst="roundRect">
            <a:avLst>
              <a:gd name="adj" fmla="val 14706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15798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103120" y="2212848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Las transacciones son instrucciones firmadas que piden cambios.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143000" y="2880360"/>
            <a:ext cx="9921240" cy="621792"/>
          </a:xfrm>
          <a:prstGeom prst="roundRect">
            <a:avLst>
              <a:gd name="adj" fmla="val 14706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5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0266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03120" y="3081528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La EVM ejecuta reglas de forma reproducible.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1143000" y="3749040"/>
            <a:ext cx="9921240" cy="621792"/>
          </a:xfrm>
          <a:prstGeom prst="roundRect">
            <a:avLst>
              <a:gd name="adj" fmla="val 14706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8953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103120" y="3950208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PoS ordena y finaliza el historial mediante validadores.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143000" y="4617720"/>
            <a:ext cx="9921240" cy="621792"/>
          </a:xfrm>
          <a:prstGeom prst="roundRect">
            <a:avLst>
              <a:gd name="adj" fmla="val 1470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54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76402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103120" y="4818888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El valor de Ethereum surge de garantías, no de eficiencia bruta.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formativa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discusión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822960" y="1115568"/>
            <a:ext cx="10561320" cy="640080"/>
          </a:xfrm>
          <a:prstGeom prst="roundRect">
            <a:avLst>
              <a:gd name="adj" fmla="val 14286"/>
            </a:avLst>
          </a:prstGeom>
          <a:solidFill>
            <a:srgbClr val="7ED8FF">
              <a:alpha val="18000"/>
            </a:srgbClr>
          </a:solidFill>
          <a:ln w="12700">
            <a:solidFill>
              <a:srgbClr val="7ED8FF">
                <a:alpha val="5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12618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ED8FF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1316736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¿Qué diferencia esencial hay entre Bitcoin como libro UTXO y Ethereum como máquina de estado?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1993392"/>
            <a:ext cx="10561320" cy="640080"/>
          </a:xfrm>
          <a:prstGeom prst="roundRect">
            <a:avLst>
              <a:gd name="adj" fmla="val 14286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1396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2194560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¿Por qué un smart contract puede funcionar como una institución mínima?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2871216"/>
            <a:ext cx="10561320" cy="640080"/>
          </a:xfrm>
          <a:prstGeom prst="roundRect">
            <a:avLst>
              <a:gd name="adj" fmla="val 14286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5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83080" y="3072384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¿Qué garantías ofrece Ethereum que no ofrece una base de datos privada?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22960" y="3749040"/>
            <a:ext cx="1056132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4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89534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83080" y="3950208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¿Por qué el gas es necesario aunque incomode al usuario?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22960" y="4626864"/>
            <a:ext cx="10561320" cy="640080"/>
          </a:xfrm>
          <a:prstGeom prst="roundRect">
            <a:avLst>
              <a:gd name="adj" fmla="val 14286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54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7731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83080" y="4828032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8FAFC"/>
                </a:solidFill>
              </a:rPr>
              <a:t>¿Qué riesgos no desaparecen por estar “en blockchain”?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C"/>
          </a:solidFill>
          <a:ln w="12700">
            <a:solidFill>
              <a:srgbClr val="070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4572000"/>
            <a:ext cx="3291840" cy="192024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37160"/>
            <a:ext cx="2926080" cy="1828800"/>
          </a:xfrm>
          <a:prstGeom prst="arc">
            <a:avLst/>
          </a:prstGeom>
          <a:solidFill>
            <a:srgbClr val="070B1C">
              <a:alpha val="0"/>
            </a:srgbClr>
          </a:solidFill>
          <a:ln w="12700">
            <a:solidFill>
              <a:srgbClr val="23B9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4872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08776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0728" y="6446520"/>
            <a:ext cx="64008" cy="64008"/>
          </a:xfrm>
          <a:prstGeom prst="ellipse">
            <a:avLst/>
          </a:prstGeom>
          <a:solidFill>
            <a:srgbClr val="7ED8FF">
              <a:alpha val="80000"/>
            </a:srgbClr>
          </a:solidFill>
          <a:ln w="12700">
            <a:solidFill>
              <a:srgbClr val="7ED8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6446520"/>
            <a:ext cx="64008" cy="64008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ED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y lecturas base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7ED8FF">
                <a:alpha val="1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7280A8"/>
                </a:solidFill>
              </a:rPr>
              <a:t>Material elaborado por el profesor Sergio Gevatschnaider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868680" y="10972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ED8FF"/>
                </a:solidFill>
              </a:rPr>
              <a:t>Ethereum.org · Accounts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1097280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https://ethereum.org/developers/docs/accounts/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68680" y="16642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Ethereum.org · Transactions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0" y="1664208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https://ethereum.org/developers/docs/transactions/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68680" y="22311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ED8FF"/>
                </a:solidFill>
              </a:rPr>
              <a:t>Ethereum.org · EVM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22311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https://ethereum.org/developers/docs/evm/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68680" y="279806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Ethereum.org · Nodes and clients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2798064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https://ethereum.org/developers/docs/nodes-and-clients/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68680" y="33649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ED8FF"/>
                </a:solidFill>
              </a:rPr>
              <a:t>Ethereum.org · Proof of Stake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89120" y="3364992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https://ethereum.org/developers/docs/consensus-mechanisms/pos/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68680" y="39319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Ethereum.org · Roadmap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89120" y="3931920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https://ethereum.org/roadmap/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68680" y="44988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ED8FF"/>
                </a:solidFill>
              </a:rPr>
              <a:t>Ethereum Whitepaper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89120" y="4498848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https://ethereum.org/whitepaper/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68680" y="50657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</a:rPr>
              <a:t>EIP‑1559 / EIP‑4844 / EIP‑7702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89120" y="506577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C5E5"/>
                </a:solidFill>
              </a:rPr>
              <a:t>https://eips.ethereum.org/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1005840" y="5623560"/>
            <a:ext cx="10149840" cy="502920"/>
          </a:xfrm>
          <a:prstGeom prst="roundRect">
            <a:avLst>
              <a:gd name="adj" fmla="val 9091"/>
            </a:avLst>
          </a:prstGeom>
          <a:solidFill>
            <a:srgbClr val="0E1534"/>
          </a:solidFill>
          <a:ln w="12700">
            <a:solidFill>
              <a:srgbClr val="7ED8FF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788152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Sugerencia docente: usar estas fuentes para mantener la unidad actualizada antes de cada cohorte.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abstract_sci_fi_tech_background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Ethereum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188720" y="2148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D8FF"/>
                </a:solidFill>
              </a:rPr>
              <a:t>no es solo una red: es un acuerdo público sobre cómo ejecutar reglas.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37360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Próximo PPT: Cuentas, Transacciones, EVM y Gas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5E5"/>
                </a:solidFill>
              </a:rPr>
              <a:t>Material elaborado por el profesor Sergio Gevatschnaider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ED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Material elaborado por el profesor Sergio Gevatschnaider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Ethereum: de Blockchain a la Computadora Mundial</dc:title>
  <dc:subject>Ethereum: de Blockchain a la Computadora Mundial</dc:subject>
  <dc:creator>Dr. Sergio Gevatschnaider</dc:creator>
  <cp:lastModifiedBy>Dr. Sergio Gevatschnaider</cp:lastModifiedBy>
  <cp:revision>1</cp:revision>
  <dcterms:created xsi:type="dcterms:W3CDTF">2026-09-18T19:42:28Z</dcterms:created>
  <dcterms:modified xsi:type="dcterms:W3CDTF">2026-09-18T19:42:28Z</dcterms:modified>
</cp:coreProperties>
</file>