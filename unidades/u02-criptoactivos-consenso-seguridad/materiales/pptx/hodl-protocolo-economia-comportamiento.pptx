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05c61589ee472e" /><Relationship Type="http://schemas.openxmlformats.org/officeDocument/2006/relationships/extended-properties" Target="/docProps/app.xml" Id="R2db01b82388b4d2e" /><Relationship Type="http://schemas.openxmlformats.org/officeDocument/2006/relationships/officeDocument" Target="/ppt/presentation.xml" Id="Rc505677269b8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bbe8eaa624744"/>
  </p:sldMasterIdLst>
  <p:notesMasterIdLst>
    <p:notesMasterId xmlns:r="http://schemas.openxmlformats.org/officeDocument/2006/relationships" r:id="Re6b740268f8b4d40"/>
  </p:notesMasterIdLst>
  <p:sldIdLst>
    <p:sldId xmlns:r="http://schemas.openxmlformats.org/officeDocument/2006/relationships" id="256" r:id="R32d52c07918f4aa8"/>
    <p:sldId xmlns:r="http://schemas.openxmlformats.org/officeDocument/2006/relationships" id="257" r:id="R9ffb8852851844ce"/>
    <p:sldId xmlns:r="http://schemas.openxmlformats.org/officeDocument/2006/relationships" id="258" r:id="Ra60d489efd15444d"/>
    <p:sldId xmlns:r="http://schemas.openxmlformats.org/officeDocument/2006/relationships" id="259" r:id="R9d8e2ebc3060417d"/>
    <p:sldId xmlns:r="http://schemas.openxmlformats.org/officeDocument/2006/relationships" id="260" r:id="R3866da19f5c64b8f"/>
    <p:sldId xmlns:r="http://schemas.openxmlformats.org/officeDocument/2006/relationships" id="261" r:id="R169482bedc574c0f"/>
    <p:sldId xmlns:r="http://schemas.openxmlformats.org/officeDocument/2006/relationships" id="262" r:id="R4a5fee8f53a34fd2"/>
    <p:sldId xmlns:r="http://schemas.openxmlformats.org/officeDocument/2006/relationships" id="263" r:id="R3bc9cfb101174b24"/>
    <p:sldId xmlns:r="http://schemas.openxmlformats.org/officeDocument/2006/relationships" id="264" r:id="R3bba4d1f7ff54e09"/>
    <p:sldId xmlns:r="http://schemas.openxmlformats.org/officeDocument/2006/relationships" id="265" r:id="R5f3a9399e02c45a2"/>
    <p:sldId xmlns:r="http://schemas.openxmlformats.org/officeDocument/2006/relationships" id="266" r:id="R852c6bbb797944fe"/>
    <p:sldId xmlns:r="http://schemas.openxmlformats.org/officeDocument/2006/relationships" id="267" r:id="R818401fa62954186"/>
    <p:sldId xmlns:r="http://schemas.openxmlformats.org/officeDocument/2006/relationships" id="268" r:id="Rc065451830ac49e0"/>
    <p:sldId xmlns:r="http://schemas.openxmlformats.org/officeDocument/2006/relationships" id="269" r:id="Rb57c8cebc1964d0b"/>
    <p:sldId xmlns:r="http://schemas.openxmlformats.org/officeDocument/2006/relationships" id="270" r:id="R98d7e3bee7734e4a"/>
    <p:sldId xmlns:r="http://schemas.openxmlformats.org/officeDocument/2006/relationships" id="271" r:id="Rbdfbee4bcca44200"/>
    <p:sldId xmlns:r="http://schemas.openxmlformats.org/officeDocument/2006/relationships" id="272" r:id="R8e522d45556c47ae"/>
    <p:sldId xmlns:r="http://schemas.openxmlformats.org/officeDocument/2006/relationships" id="273" r:id="Rd03e5478f0764af0"/>
    <p:sldId xmlns:r="http://schemas.openxmlformats.org/officeDocument/2006/relationships" id="274" r:id="Rd3acff6d8d884cdc"/>
    <p:sldId xmlns:r="http://schemas.openxmlformats.org/officeDocument/2006/relationships" id="275" r:id="Rf3539b96fb32465f"/>
    <p:sldId xmlns:r="http://schemas.openxmlformats.org/officeDocument/2006/relationships" id="276" r:id="Rbecbf51f34254243"/>
    <p:sldId xmlns:r="http://schemas.openxmlformats.org/officeDocument/2006/relationships" id="277" r:id="R4b607857f3fc47ea"/>
    <p:sldId xmlns:r="http://schemas.openxmlformats.org/officeDocument/2006/relationships" id="278" r:id="R9ec47eb07bde434d"/>
    <p:sldId xmlns:r="http://schemas.openxmlformats.org/officeDocument/2006/relationships" id="279" r:id="R92488147f7894d86"/>
    <p:sldId xmlns:r="http://schemas.openxmlformats.org/officeDocument/2006/relationships" id="280" r:id="R1b171dc4046c4012"/>
    <p:sldId xmlns:r="http://schemas.openxmlformats.org/officeDocument/2006/relationships" id="281" r:id="Rdd8616692ac24e85"/>
    <p:sldId xmlns:r="http://schemas.openxmlformats.org/officeDocument/2006/relationships" id="282" r:id="R63c7efa0007c424d"/>
    <p:sldId xmlns:r="http://schemas.openxmlformats.org/officeDocument/2006/relationships" id="283" r:id="R79b3411b11fc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591cc22d274b97" /><Relationship Type="http://schemas.openxmlformats.org/officeDocument/2006/relationships/slideMaster" Target="/ppt/slideMasters/slideMaster1.xml" Id="Rdefbbe8eaa624744" /><Relationship Type="http://schemas.openxmlformats.org/officeDocument/2006/relationships/notesMaster" Target="/ppt/notesMasters/notesMaster1.xml" Id="Re6b740268f8b4d40" /><Relationship Type="http://schemas.openxmlformats.org/officeDocument/2006/relationships/presProps" Target="/ppt/presProps.xml" Id="Rd32db4a1cd724f4e" /><Relationship Type="http://schemas.openxmlformats.org/officeDocument/2006/relationships/tableStyles" Target="/ppt/tableStyles.xml" Id="R917ec3d0d97a4214" /><Relationship Type="http://schemas.openxmlformats.org/officeDocument/2006/relationships/slide" Target="/ppt/slides/slide1.xml" Id="R32d52c07918f4aa8" /><Relationship Type="http://schemas.openxmlformats.org/officeDocument/2006/relationships/slide" Target="/ppt/slides/slide2.xml" Id="R9ffb8852851844ce" /><Relationship Type="http://schemas.openxmlformats.org/officeDocument/2006/relationships/slide" Target="/ppt/slides/slide3.xml" Id="Ra60d489efd15444d" /><Relationship Type="http://schemas.openxmlformats.org/officeDocument/2006/relationships/slide" Target="/ppt/slides/slide4.xml" Id="R9d8e2ebc3060417d" /><Relationship Type="http://schemas.openxmlformats.org/officeDocument/2006/relationships/slide" Target="/ppt/slides/slide5.xml" Id="R3866da19f5c64b8f" /><Relationship Type="http://schemas.openxmlformats.org/officeDocument/2006/relationships/slide" Target="/ppt/slides/slide6.xml" Id="R169482bedc574c0f" /><Relationship Type="http://schemas.openxmlformats.org/officeDocument/2006/relationships/slide" Target="/ppt/slides/slide7.xml" Id="R4a5fee8f53a34fd2" /><Relationship Type="http://schemas.openxmlformats.org/officeDocument/2006/relationships/slide" Target="/ppt/slides/slide8.xml" Id="R3bc9cfb101174b24" /><Relationship Type="http://schemas.openxmlformats.org/officeDocument/2006/relationships/slide" Target="/ppt/slides/slide9.xml" Id="R3bba4d1f7ff54e09" /><Relationship Type="http://schemas.openxmlformats.org/officeDocument/2006/relationships/slide" Target="/ppt/slides/slide10.xml" Id="R5f3a9399e02c45a2" /><Relationship Type="http://schemas.openxmlformats.org/officeDocument/2006/relationships/slide" Target="/ppt/slides/slide11.xml" Id="R852c6bbb797944fe" /><Relationship Type="http://schemas.openxmlformats.org/officeDocument/2006/relationships/slide" Target="/ppt/slides/slide12.xml" Id="R818401fa62954186" /><Relationship Type="http://schemas.openxmlformats.org/officeDocument/2006/relationships/slide" Target="/ppt/slides/slide13.xml" Id="Rc065451830ac49e0" /><Relationship Type="http://schemas.openxmlformats.org/officeDocument/2006/relationships/slide" Target="/ppt/slides/slide14.xml" Id="Rb57c8cebc1964d0b" /><Relationship Type="http://schemas.openxmlformats.org/officeDocument/2006/relationships/slide" Target="/ppt/slides/slide15.xml" Id="R98d7e3bee7734e4a" /><Relationship Type="http://schemas.openxmlformats.org/officeDocument/2006/relationships/slide" Target="/ppt/slides/slide16.xml" Id="Rbdfbee4bcca44200" /><Relationship Type="http://schemas.openxmlformats.org/officeDocument/2006/relationships/slide" Target="/ppt/slides/slide17.xml" Id="R8e522d45556c47ae" /><Relationship Type="http://schemas.openxmlformats.org/officeDocument/2006/relationships/slide" Target="/ppt/slides/slide18.xml" Id="Rd03e5478f0764af0" /><Relationship Type="http://schemas.openxmlformats.org/officeDocument/2006/relationships/slide" Target="/ppt/slides/slide19.xml" Id="Rd3acff6d8d884cdc" /><Relationship Type="http://schemas.openxmlformats.org/officeDocument/2006/relationships/slide" Target="/ppt/slides/slide20.xml" Id="Rf3539b96fb32465f" /><Relationship Type="http://schemas.openxmlformats.org/officeDocument/2006/relationships/slide" Target="/ppt/slides/slide21.xml" Id="Rbecbf51f34254243" /><Relationship Type="http://schemas.openxmlformats.org/officeDocument/2006/relationships/slide" Target="/ppt/slides/slide22.xml" Id="R4b607857f3fc47ea" /><Relationship Type="http://schemas.openxmlformats.org/officeDocument/2006/relationships/slide" Target="/ppt/slides/slide23.xml" Id="R9ec47eb07bde434d" /><Relationship Type="http://schemas.openxmlformats.org/officeDocument/2006/relationships/slide" Target="/ppt/slides/slide24.xml" Id="R92488147f7894d86" /><Relationship Type="http://schemas.openxmlformats.org/officeDocument/2006/relationships/slide" Target="/ppt/slides/slide25.xml" Id="R1b171dc4046c4012" /><Relationship Type="http://schemas.openxmlformats.org/officeDocument/2006/relationships/slide" Target="/ppt/slides/slide26.xml" Id="Rdd8616692ac24e85" /><Relationship Type="http://schemas.openxmlformats.org/officeDocument/2006/relationships/slide" Target="/ppt/slides/slide27.xml" Id="R63c7efa0007c424d" /><Relationship Type="http://schemas.openxmlformats.org/officeDocument/2006/relationships/slide" Target="/ppt/slides/slide28.xml" Id="R79b3411b11fc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d5751492742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2f2c79d52f4b2c" /><Relationship Type="http://schemas.openxmlformats.org/officeDocument/2006/relationships/notesMaster" Target="/ppt/notesMasters/notesMaster1.xml" Id="Rd102350b9d8544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95a7b8735243de" /><Relationship Type="http://schemas.openxmlformats.org/officeDocument/2006/relationships/notesMaster" Target="/ppt/notesMasters/notesMaster1.xml" Id="Rdb8385f3f491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495eeebaf74a99" /><Relationship Type="http://schemas.openxmlformats.org/officeDocument/2006/relationships/notesMaster" Target="/ppt/notesMasters/notesMaster1.xml" Id="R1b500a1c294446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09ad6d6c3a4ebf" /><Relationship Type="http://schemas.openxmlformats.org/officeDocument/2006/relationships/notesMaster" Target="/ppt/notesMasters/notesMaster1.xml" Id="Re31fe640c7d04a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d05e0c42b744c0" /><Relationship Type="http://schemas.openxmlformats.org/officeDocument/2006/relationships/notesMaster" Target="/ppt/notesMasters/notesMaster1.xml" Id="R2d9cfc7b334e45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3a6f64eea4ef7" /><Relationship Type="http://schemas.openxmlformats.org/officeDocument/2006/relationships/notesMaster" Target="/ppt/notesMasters/notesMaster1.xml" Id="R84bb52a6b7774c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190da88d57416d" /><Relationship Type="http://schemas.openxmlformats.org/officeDocument/2006/relationships/notesMaster" Target="/ppt/notesMasters/notesMaster1.xml" Id="Rc7208e3944c6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0da3eb008d4fa4" /><Relationship Type="http://schemas.openxmlformats.org/officeDocument/2006/relationships/notesMaster" Target="/ppt/notesMasters/notesMaster1.xml" Id="R8ca85586bf9948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05c3d105af41ce" /><Relationship Type="http://schemas.openxmlformats.org/officeDocument/2006/relationships/notesMaster" Target="/ppt/notesMasters/notesMaster1.xml" Id="R6ba2eac9ae0c4f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827d5af6c74840" /><Relationship Type="http://schemas.openxmlformats.org/officeDocument/2006/relationships/notesMaster" Target="/ppt/notesMasters/notesMaster1.xml" Id="R5044eb82f2934e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c23b69a4924d94" /><Relationship Type="http://schemas.openxmlformats.org/officeDocument/2006/relationships/notesMaster" Target="/ppt/notesMasters/notesMaster1.xml" Id="R6614934244634d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b2b87d3cf74956" /><Relationship Type="http://schemas.openxmlformats.org/officeDocument/2006/relationships/notesMaster" Target="/ppt/notesMasters/notesMaster1.xml" Id="R1a1e0c3a756447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78c551aebd485e" /><Relationship Type="http://schemas.openxmlformats.org/officeDocument/2006/relationships/notesMaster" Target="/ppt/notesMasters/notesMaster1.xml" Id="R65dacd6fd8014f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58f4bdf5e14352" /><Relationship Type="http://schemas.openxmlformats.org/officeDocument/2006/relationships/notesMaster" Target="/ppt/notesMasters/notesMaster1.xml" Id="Rac8310ab219d47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6fe11376a94915" /><Relationship Type="http://schemas.openxmlformats.org/officeDocument/2006/relationships/notesMaster" Target="/ppt/notesMasters/notesMaster1.xml" Id="R3c546d62198e40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1d8d8305684bcf" /><Relationship Type="http://schemas.openxmlformats.org/officeDocument/2006/relationships/notesMaster" Target="/ppt/notesMasters/notesMaster1.xml" Id="Rbadb7205378a4e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043696a2da450e" /><Relationship Type="http://schemas.openxmlformats.org/officeDocument/2006/relationships/notesMaster" Target="/ppt/notesMasters/notesMaster1.xml" Id="R0b33299ec98f49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973465d2c34cb8" /><Relationship Type="http://schemas.openxmlformats.org/officeDocument/2006/relationships/notesMaster" Target="/ppt/notesMasters/notesMaster1.xml" Id="Rff605048de114c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fbe516cbc15496b" /><Relationship Type="http://schemas.openxmlformats.org/officeDocument/2006/relationships/notesMaster" Target="/ppt/notesMasters/notesMaster1.xml" Id="R72b0c155715249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b20f5afe87425a" /><Relationship Type="http://schemas.openxmlformats.org/officeDocument/2006/relationships/notesMaster" Target="/ppt/notesMasters/notesMaster1.xml" Id="Rfdd42da978ed4f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294411e1454a46" /><Relationship Type="http://schemas.openxmlformats.org/officeDocument/2006/relationships/notesMaster" Target="/ppt/notesMasters/notesMaster1.xml" Id="Ra7a924b2654e4a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42bf06f42c4638" /><Relationship Type="http://schemas.openxmlformats.org/officeDocument/2006/relationships/notesMaster" Target="/ppt/notesMasters/notesMaster1.xml" Id="R8daa4d4795624a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0bbd236554407b" /><Relationship Type="http://schemas.openxmlformats.org/officeDocument/2006/relationships/notesMaster" Target="/ppt/notesMasters/notesMaster1.xml" Id="R9feabab8242a4e9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7745051fb8c4a05" /><Relationship Type="http://schemas.openxmlformats.org/officeDocument/2006/relationships/notesMaster" Target="/ppt/notesMasters/notesMaster1.xml" Id="R2e4633c08dd4442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f4c1cf865e4326" /><Relationship Type="http://schemas.openxmlformats.org/officeDocument/2006/relationships/notesMaster" Target="/ppt/notesMasters/notesMaster1.xml" Id="Rf441274d93bb41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b7bb25778a94b2f" /><Relationship Type="http://schemas.openxmlformats.org/officeDocument/2006/relationships/notesMaster" Target="/ppt/notesMasters/notesMaster1.xml" Id="Rb991f39bab2743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f7365cc9134e83" /><Relationship Type="http://schemas.openxmlformats.org/officeDocument/2006/relationships/notesMaster" Target="/ppt/notesMasters/notesMaster1.xml" Id="R1a1ed74ecc1c47b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cbf56d99f7a4dd1" /><Relationship Type="http://schemas.openxmlformats.org/officeDocument/2006/relationships/notesMaster" Target="/ppt/notesMasters/notesMaster1.xml" Id="R90b5a695386f49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GameKyuubi, “I AM HODLING”, BitcoinTalk, 18 de diciembre de 2013. https://bitcointalk.org/index.php?topic=375643.0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GameKyuubi, “I AM HODLING”, BitcoinTalk, 18 de diciembre de 2013. https://bitcointalk.org/index.php?topic=375643.0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Satoshi Nakamoto, Bitcoin: A Peer-to-Peer Electronic Cash System, 2008. https://bitcoin.org/bitcoin.pdf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Satoshi Nakamoto, Bitcoin: A Peer-to-Peer Electronic Cash System, 2008. https://bitcoin.org/bitcoin.pdf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Coin Metrics Network Data Pro, UTXO y age bands. https://gitbook-docs.coinmetrics.io/network-data/network-data-overview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Satoshi Nakamoto, Bitcoin: A Peer-to-Peer Electronic Cash System, 2008. https://bitcoin.org/bitcoin.pdf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metodológica: Glassnode, HODL Waves. https://docs.glassnode.com/guides-and-tutorials/metric-guides/age-distribution/hodl-waves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76615340747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e29f2c9e04b83" /><Relationship Type="http://schemas.openxmlformats.org/officeDocument/2006/relationships/slideLayout" Target="/ppt/slideLayouts/slideLayout1.xml" Id="R74a214d68ac940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214d68ac940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87809ea894f1c" /><Relationship Type="http://schemas.openxmlformats.org/officeDocument/2006/relationships/notesSlide" Target="/ppt/notesSlides/notesSlide1.xml" Id="Rc698b27198534d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a2a66404c4b9b" /><Relationship Type="http://schemas.openxmlformats.org/officeDocument/2006/relationships/notesSlide" Target="/ppt/notesSlides/notesSlide2.xml" Id="Re309928f318c42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747b95e824b80" /><Relationship Type="http://schemas.openxmlformats.org/officeDocument/2006/relationships/notesSlide" Target="/ppt/notesSlides/notesSlide3.xml" Id="R3295e505786a49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2f230d77a4611" /><Relationship Type="http://schemas.openxmlformats.org/officeDocument/2006/relationships/notesSlide" Target="/ppt/notesSlides/notesSlide4.xml" Id="R68a9055fe74c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e9bb4f274482c" /><Relationship Type="http://schemas.openxmlformats.org/officeDocument/2006/relationships/notesSlide" Target="/ppt/notesSlides/notesSlide5.xml" Id="Rdd49b9473a8b4d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774ce33424a5e" /><Relationship Type="http://schemas.openxmlformats.org/officeDocument/2006/relationships/notesSlide" Target="/ppt/notesSlides/notesSlide6.xml" Id="R8e9dce3cb5af49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c2e154b3241b6" /><Relationship Type="http://schemas.openxmlformats.org/officeDocument/2006/relationships/notesSlide" Target="/ppt/notesSlides/notesSlide7.xml" Id="Rba378dac1eef41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35f0a331b4f08" /><Relationship Type="http://schemas.openxmlformats.org/officeDocument/2006/relationships/notesSlide" Target="/ppt/notesSlides/notesSlide8.xml" Id="R271e5f8e6e1343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a363cf75e45ca" /><Relationship Type="http://schemas.openxmlformats.org/officeDocument/2006/relationships/notesSlide" Target="/ppt/notesSlides/notesSlide9.xml" Id="Raeafc8da27cf47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84c897d3e4ebf" /><Relationship Type="http://schemas.openxmlformats.org/officeDocument/2006/relationships/notesSlide" Target="/ppt/notesSlides/notesSlide10.xml" Id="Rdb20c6b3c9664f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813be06234986" /><Relationship Type="http://schemas.openxmlformats.org/officeDocument/2006/relationships/notesSlide" Target="/ppt/notesSlides/notesSlide11.xml" Id="Rfcbf9597f83545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ca9fb24f245e5" /><Relationship Type="http://schemas.openxmlformats.org/officeDocument/2006/relationships/notesSlide" Target="/ppt/notesSlides/notesSlide12.xml" Id="Re7cc9c52348449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f4d37b694466d" /><Relationship Type="http://schemas.openxmlformats.org/officeDocument/2006/relationships/notesSlide" Target="/ppt/notesSlides/notesSlide13.xml" Id="Rd7633f944d5b48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d631ea62948a1" /><Relationship Type="http://schemas.openxmlformats.org/officeDocument/2006/relationships/notesSlide" Target="/ppt/notesSlides/notesSlide14.xml" Id="R2ce4ec3a069c49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740b470434844" /><Relationship Type="http://schemas.openxmlformats.org/officeDocument/2006/relationships/notesSlide" Target="/ppt/notesSlides/notesSlide15.xml" Id="R343f74eb377045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869ef0f6e4a3d" /><Relationship Type="http://schemas.openxmlformats.org/officeDocument/2006/relationships/notesSlide" Target="/ppt/notesSlides/notesSlide16.xml" Id="R6ebcca331fb64b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8e2ba5de84198" /><Relationship Type="http://schemas.openxmlformats.org/officeDocument/2006/relationships/notesSlide" Target="/ppt/notesSlides/notesSlide17.xml" Id="Rd30210ba07e241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bec1a761b4cbb" /><Relationship Type="http://schemas.openxmlformats.org/officeDocument/2006/relationships/notesSlide" Target="/ppt/notesSlides/notesSlide18.xml" Id="Rd020acdc207b46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0ae02707944d3" /><Relationship Type="http://schemas.openxmlformats.org/officeDocument/2006/relationships/chart" Target="/ppt/slides/charts/chart1.xml" Id="Rb24682cf57db4f6a" /><Relationship Type="http://schemas.openxmlformats.org/officeDocument/2006/relationships/notesSlide" Target="/ppt/notesSlides/notesSlide19.xml" Id="R49545767d93a43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4f7aa35e247a8" /><Relationship Type="http://schemas.openxmlformats.org/officeDocument/2006/relationships/notesSlide" Target="/ppt/notesSlides/notesSlide20.xml" Id="R36c6efd5fe9841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e6c3d9dce4041" /><Relationship Type="http://schemas.openxmlformats.org/officeDocument/2006/relationships/notesSlide" Target="/ppt/notesSlides/notesSlide21.xml" Id="Redf68d645e9749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b66ddc5de4868" /><Relationship Type="http://schemas.openxmlformats.org/officeDocument/2006/relationships/notesSlide" Target="/ppt/notesSlides/notesSlide22.xml" Id="R9a5c429bf2994b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3b7a795574cb4" /><Relationship Type="http://schemas.openxmlformats.org/officeDocument/2006/relationships/notesSlide" Target="/ppt/notesSlides/notesSlide23.xml" Id="R6ca1ff8f880e4c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8f7696cae453a" /><Relationship Type="http://schemas.openxmlformats.org/officeDocument/2006/relationships/notesSlide" Target="/ppt/notesSlides/notesSlide24.xml" Id="R047b53f36e094c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82668c435438a" /><Relationship Type="http://schemas.openxmlformats.org/officeDocument/2006/relationships/notesSlide" Target="/ppt/notesSlides/notesSlide25.xml" Id="Rc7153e6287f44e0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d92cfdc1f48c5" /><Relationship Type="http://schemas.openxmlformats.org/officeDocument/2006/relationships/notesSlide" Target="/ppt/notesSlides/notesSlide26.xml" Id="Ra2095f6d94a54f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6f39e35ab47df" /><Relationship Type="http://schemas.openxmlformats.org/officeDocument/2006/relationships/notesSlide" Target="/ppt/notesSlides/notesSlide27.xml" Id="Raa0966243a1044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55aa1e43e4bed" /><Relationship Type="http://schemas.openxmlformats.org/officeDocument/2006/relationships/notesSlide" Target="/ppt/notesSlides/notesSlide28.xml" Id="R1533e3fee67b48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Suba necesaria</c:v>
          </c:tx>
          <c:spPr>
            <a:solidFill xmlns:a="http://schemas.openxmlformats.org/drawingml/2006/main">
              <a:srgbClr val="F7931A"/>
            </a:solidFill>
          </c:spPr>
          <c:cat>
            <c:strRef>
              <c:f>'Chart Data'!$A$2:$A$4</c:f>
              <c:strCache>
                <c:ptCount val="3"/>
                <c:pt idx="0">
                  <c:v>Caída 20 %</c:v>
                </c:pt>
                <c:pt idx="1">
                  <c:v>Caída 50 %</c:v>
                </c:pt>
                <c:pt idx="2">
                  <c:v>Caída 80 %</c:v>
                </c:pt>
              </c:strCache>
            </c:strRef>
          </c:cat>
          <c:val>
            <c:numRef>
              <c:f>'Chart Data'!$B$2:$B$4</c:f>
              <c:numCache>
                <c:formatCode>0" %"</c:formatCode>
                <c:ptCount val="3"/>
                <c:pt idx="0">
                  <c:v>25</c:v>
                </c:pt>
                <c:pt idx="1">
                  <c:v>100</c:v>
                </c:pt>
                <c:pt idx="2">
                  <c:v>400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EDF5F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03B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B59"/>
              </a:solidFill>
              <a:prstDash val="solid"/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203B5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solidFill>
            <a:srgbClr val="07111F"/>
          </a:solidFill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solidFill>
        <a:srgbClr val="07111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C75E4-B1CC-4B3F-AF18-0465A675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BLOCKCHAIN Y FINANZAS DESCENTRALIZADAS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F40CA-D567-4931-A878-1B5463AA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14375"/>
            <a:ext cx="219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BTC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1395F-B1C9-457E-A81A-EF89126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524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en Bitcoin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1825B-4D36-4E56-8DEB-5667DFAC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Protocolo, propiedad, economía y comportamiento financiero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A716D-0359-4D11-BA85-A78D8EA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B5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1249F-5650-472E-A603-C2C7949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Profesor Sergio Gevatschnaider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3B83A-93D4-4B93-B18E-F5FF62B3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6197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28 diapositivas</a:t>
            </a:r>
          </a:p>
        </p:txBody>
      </p:sp>
    </p:spTree>
    <p:extLst>
      <p:ext uri="{BB962C8B-B14F-4D97-AF65-F5344CB8AC3E}">
        <p14:creationId xmlns:p14="http://schemas.microsoft.com/office/powerpoint/2010/main" val="443150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832AE-1750-44F2-A315-5B2C93D1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3497-51C3-4729-A6C4-5408E4D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Lugar de HODL dentro de la Unidad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BCD7-BA36-4C32-BA28-856477C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41327-A388-4290-AFCE-74543650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79DA3-8009-4EE3-A27C-EC5CAEC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D2EF0-0D1D-41B1-9BDC-475CA533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8B45A-E266-4FEF-8EB9-34891C72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A1C18-916A-4EFB-A368-ECFB6AC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Propiedad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3C126-281F-436F-A0A5-F218B78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Claves, direcciones y UTXO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0C492-76C2-4E48-B077-AB196B6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B826C-E750-46A5-969C-48E713C8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04FAA-B516-4065-802D-2288A97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Consenso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8CB8B-0374-4251-8009-B9781933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PoW, bloques y chainwork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2CAB1-95F3-46CC-B446-25D99217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71ABD-04E9-449B-B607-5CB7D587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1A34F-3B66-4683-996D-5DD6A0B8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Economía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AB430-2787-4EFA-B077-0C90E8DB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Emisión, halving y fees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CBE3E-E2BC-4C0F-901D-2346AD7D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1B0C"/>
          </a:solidFill>
          <a:ln xmlns:a="http://schemas.openxmlformats.org/drawingml/2006/main" w="9525">
            <a:solidFill>
              <a:srgbClr val="F7931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3342D-ECE3-4975-A8D1-4924E5D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1E260-6CDB-4365-8A71-EFC410C3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Conducta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ADE4D-66D2-4B05-BE44-EE72BDA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HODL, horizonte y decisiones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08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53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6E7BCB-3154-4129-AD34-FFC45AAF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La conducta utiliza la infraestructura del protocolo, pero pertenece a otro nivel de análisis.</a:t>
            </a:r>
          </a:p>
        </p:txBody>
      </p:sp>
    </p:spTree>
    <p:extLst>
      <p:ext uri="{BB962C8B-B14F-4D97-AF65-F5344CB8AC3E}">
        <p14:creationId xmlns:p14="http://schemas.microsoft.com/office/powerpoint/2010/main" val="2046748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BBCD8-9754-4AA3-8AE1-CEFE3E8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06BFF-F741-44A2-9BC9-DABC1FFC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pregunta que abre el submódulo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6806B-8E40-4A79-80D3-D66BA64F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5B3B6-1842-4089-8E77-AB131B5E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BEA9E-D084-42C4-8DA9-861CCA9C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CC555-8B2A-4111-9CF3-5B7B3224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¿Qué ocurre cuando el propietario decide no gastar sus UTXO durante meses o años?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3E653-CB05-4152-BBE3-050A2C7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La decisión humana deja una huella técnica: las salidas permanecen en el conjunto UTXO y acumulan edad.</a:t>
            </a:r>
          </a:p>
        </p:txBody>
      </p:sp>
    </p:spTree>
    <p:extLst>
      <p:ext uri="{BB962C8B-B14F-4D97-AF65-F5344CB8AC3E}">
        <p14:creationId xmlns:p14="http://schemas.microsoft.com/office/powerpoint/2010/main" val="616553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B3A30-79D1-422B-8A49-60080A2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103A-AD75-4AF5-9FAB-8CF23662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Origen cultural de HODL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73D7C-7CAF-49F6-A2FE-149FF7D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E5103-C96B-49ED-AB3C-2AC971DE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C30E8-2BAB-48AD-A1E0-8BB4AED1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8F6A0-3967-4E0B-A9EF-A3C439E1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“I AM HODLING” apareció en BitcoinTalk el 18 de diciembre de 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48C9-93F2-429E-9131-EE19E47C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GameKyuubi explicó que prefería mantener su posición porque se consideraba un mal trader. “Hold On for Dear Life” surgió después como reinterpretación popular.</a:t>
            </a:r>
          </a:p>
        </p:txBody>
      </p:sp>
    </p:spTree>
    <p:extLst>
      <p:ext uri="{BB962C8B-B14F-4D97-AF65-F5344CB8AC3E}">
        <p14:creationId xmlns:p14="http://schemas.microsoft.com/office/powerpoint/2010/main" val="2040520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A9DE5-620A-4E25-A8A9-D9428139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99394-EEBE-423E-A251-AEF52BD6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Cuatro niveles de análisis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7EA63-1111-471A-9395-6EE1198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6C90C-0D9E-4232-BADB-4340CEE7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AB06F-7872-48B1-9C30-D7835C1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F21FA-5AEE-4D62-A8B2-46EE47F9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Cada nivel responde una pregunta distinta y evita confundir mecanismo con conducta.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095750"/>
                <a:gridCol w="466725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Nivel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Conceptos centrales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Protocolo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¿Cómo funciona Bitcoin?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Transacciones, bloques, validación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Propiedad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¿Qué controla una clave privada?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Condiciones de gasto y UTXO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Economía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¿Cómo operan oferta e incentivos?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Emisión, halving, subsidio, fees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¿Qué hace el propietario?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HODL, DCA, venta, custodia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089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9FEB5-DEF4-4877-BFE8-37B4989D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87846-A1F3-48D8-8DE8-F0F31046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ubicación conceptual correcta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9C14B-6958-43A7-9389-8CD9F181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31617-70F1-463C-8506-CF519645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7E80D-401C-4206-B328-46E8662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471A2-452C-45F1-B25A-739ED06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HODL pertenece al comportamiento económico del propietario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2CE3D-AAC2-4563-B09D-45FC8AE6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protocolo permite gastar cualquier UTXO válido cuando se satisfacen sus condiciones. Ninguna regla de consenso exige mantenerlo inmóvil.</a:t>
            </a:r>
          </a:p>
        </p:txBody>
      </p:sp>
    </p:spTree>
    <p:extLst>
      <p:ext uri="{BB962C8B-B14F-4D97-AF65-F5344CB8AC3E}">
        <p14:creationId xmlns:p14="http://schemas.microsoft.com/office/powerpoint/2010/main" val="1493205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46E29-3235-48C4-AA2D-8B7F9F67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D34E7-0D65-4523-8401-589C58D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Control criptográfico y decisión económica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4D899-DA7A-4330-8388-F2AA1D3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437F8-EB1E-491E-8E04-581E23C9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9D2EE-B663-4C5D-A65B-D1A1036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774C5-B1A1-42C6-8828-4635DC1A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La clave privada habilita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CF5E3-92A6-41B2-9FB9-0D6F2EC0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El propietario 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C5813-DACD-4B26-825A-3D80A88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D7CC9-D4E6-49F9-AD36-06249D8D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Firmar una transacción válida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Satisfacer una condición de gasto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Autorizar el consumo de un UTXO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846A8-0D19-4A6B-9354-B382944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Mantener la exposición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Vender o intercambiar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Transferir a otra modalidad de custodia</a:t>
            </a:r>
          </a:p>
        </p:txBody>
      </p:sp>
    </p:spTree>
    <p:extLst>
      <p:ext uri="{BB962C8B-B14F-4D97-AF65-F5344CB8AC3E}">
        <p14:creationId xmlns:p14="http://schemas.microsoft.com/office/powerpoint/2010/main" val="790309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D5F23-5769-494A-B48E-60C775F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6B05F-8B67-4BB6-9EAB-B076218C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UTXO como estado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96474-EAB9-42FE-A4D5-6EA48E04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30A79-1B78-45A1-9481-1275D90F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FB942-C14C-4AA3-AC5D-F140F711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95FAA-D2A5-4D00-BD8E-D6F60DA1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EDE39-88C1-4139-A4CD-6B9FF0D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UTXO = salida creada y todavía no gastada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14826-9551-4F14-B05E-DD2B17F0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red registra outputs y condiciones de gasto.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edad comienza en el bloque que crea la salida.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transacción posterior consume el UTXO y crea outputs nuevos.</a:t>
            </a:r>
          </a:p>
        </p:txBody>
      </p:sp>
    </p:spTree>
    <p:extLst>
      <p:ext uri="{BB962C8B-B14F-4D97-AF65-F5344CB8AC3E}">
        <p14:creationId xmlns:p14="http://schemas.microsoft.com/office/powerpoint/2010/main" val="503708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90DB1-9855-42F1-B415-3E847602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61939-18B8-4CC3-AB01-619EE2A5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Del comportamiento a la métrica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BC096-E081-4F14-AD8F-A40BA150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24ABB-0BD7-468E-AC8D-02E075C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D4DE2-223D-4C50-8AB5-AA5788E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52401-545B-4ADB-8246-3DFCCF9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1B0C"/>
          </a:solidFill>
          <a:ln xmlns:a="http://schemas.openxmlformats.org/drawingml/2006/main" w="9525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6D82D-50D1-4DA6-8BFA-7304D7FE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5A977-C11A-41D6-BEC7-F8C2F6EB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F0160-F38B-4895-8558-18BD1C5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propietario mantiene BTC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8C8B0-7DCD-45C7-9705-57E14BFE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D0DA7-2CDE-4028-9F9B-5ECBB1D4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4DC2E-05AA-458C-965F-1FFC3C3E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Inmovilidad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5FC81-AC4A-4EE9-992E-10723979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 UTXO sigue sin gastarse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91868-CE2F-4020-9026-DC3B98D8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75188-29A1-496A-99D1-3CED2C01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72D29-5FB7-401D-A69E-5CB1306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683D8-E6D9-47E4-8A23-B0BAEA8C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Se acumulan coin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CB30D-DB2D-40DF-AEA8-EF6FA1A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1D45F-77E4-4D6E-92A6-2CA1257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98198-FB1F-451E-9960-36D4F3F3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Métrica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95DEB-5393-4CE5-927A-376AB9BF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Bandas de edad y CDD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08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53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6BF9D-45E9-4973-9401-4816200A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La cadena muestra el resultado transaccional. La motivación pertenece al terreno de la inferencia.</a:t>
            </a:r>
          </a:p>
        </p:txBody>
      </p:sp>
    </p:spTree>
    <p:extLst>
      <p:ext uri="{BB962C8B-B14F-4D97-AF65-F5344CB8AC3E}">
        <p14:creationId xmlns:p14="http://schemas.microsoft.com/office/powerpoint/2010/main" val="916481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048DC-B057-407B-B9A2-3EAF8FEC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6425D-6888-4864-B5C0-43FECF6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Coin 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B3B9A-DA2F-466D-A70F-22FE28C9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51BAC-7C19-4A17-8341-B0A06178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6EAB4-4644-441B-A2AD-DCE12F5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C9293-CD7E-4FE9-8995-ECDEE480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1D8C7-61C1-4CB6-88C0-780EA2BD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edad del UTXO = fecha actual − fecha de creación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D09F5-D4AE-40CF-88B3-D971ABAA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edad mide tiempo sin gasto.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Cada UTXO posee su propia edad.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gasto elimina esa edad y el output nuevo comienza desde cero.</a:t>
            </a:r>
          </a:p>
        </p:txBody>
      </p:sp>
    </p:spTree>
    <p:extLst>
      <p:ext uri="{BB962C8B-B14F-4D97-AF65-F5344CB8AC3E}">
        <p14:creationId xmlns:p14="http://schemas.microsoft.com/office/powerpoint/2010/main" val="10742827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E852B-6DD2-4837-AB2C-36432384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4E11F-8EE3-438B-9A42-24E8334B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Escasez programada y conducta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E0335-8D87-4388-8E6F-0024688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6F10F-14F8-4CAC-914B-B6D5682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57016-8515-4384-BCB2-47BB3289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D5841-D800-4A8B-842E-0870926F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Oferta de Bitcoin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78ED5-8450-44B8-B5E6-636D2D60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Respuesta del propietario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5629B-2138-4AB9-9A90-12A56CF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95611-72D4-402B-A8B2-B8FBD4F2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Emisión definida por las reglas de consenso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Subsidio decreciente mediante halvings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Límite nominal de 21 millones de BTC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9B9D3-6880-4D59-A7AE-F744D88D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Mantener ante expectativas de apreciación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Reducir exposición por riesgo o liquidez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Combinar compras periódicas con horizonte largo</a:t>
            </a:r>
          </a:p>
        </p:txBody>
      </p:sp>
    </p:spTree>
    <p:extLst>
      <p:ext uri="{BB962C8B-B14F-4D97-AF65-F5344CB8AC3E}">
        <p14:creationId xmlns:p14="http://schemas.microsoft.com/office/powerpoint/2010/main" val="992655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5B2E8-5355-4EC8-A5DB-4012F10C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62782-99A6-402E-8948-A8C36133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como hipótesis de conducta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EF73B-41D8-4D88-BE52-6516F1AA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42E9A-D3DE-4BDB-A86E-08A5D45E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91702-FCDB-40DC-94B1-58D5A056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6CDD-2FDA-40E5-BFD4-05CDCBDA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HODL = mantener exposición durante un horizonte largo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A5B69-F380-4913-A9DF-D87AA87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La estrategia reduce decisiones frecuentes de entrada y salida. Conserva, sin embargo, el riesgo de precio, custodia, concentración, liquidez y costo de oportunidad.</a:t>
            </a:r>
          </a:p>
        </p:txBody>
      </p:sp>
    </p:spTree>
    <p:extLst>
      <p:ext uri="{BB962C8B-B14F-4D97-AF65-F5344CB8AC3E}">
        <p14:creationId xmlns:p14="http://schemas.microsoft.com/office/powerpoint/2010/main" val="21206738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27065-2F05-4DE7-9E22-4E94203E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4CE9B-A7C9-4897-9B7D-2A2CCE60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y buy and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6C073-259F-446A-814B-D3D125E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9C888-8DCB-4ADD-806B-DBDC152F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4B67A-2D66-4318-B4DC-25153738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B6AFD-C44A-4D2E-80D6-40FE86ED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Rasgo compartido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731E5-11CD-4E54-B706-2258DDDF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Rasgo distintivo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B505F-3126-4817-ADC3-71370D2E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7298E-120C-4248-BBF1-E3BEBBE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Baja rotación de cartera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Horizonte prolongado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Menor dependencia del market timing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396F0-AB62-4C27-BA50-07D715DB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nació dentro de la cultura Bitcoin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término funciona como norma comunitaria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identidad puede reforzar disciplina o sesgos</a:t>
            </a:r>
          </a:p>
        </p:txBody>
      </p:sp>
    </p:spTree>
    <p:extLst>
      <p:ext uri="{BB962C8B-B14F-4D97-AF65-F5344CB8AC3E}">
        <p14:creationId xmlns:p14="http://schemas.microsoft.com/office/powerpoint/2010/main" val="465372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90E6C-5776-4759-BD6B-42DD303B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93572-2B63-4B69-8909-CFCD8624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Conceptos que suelen mezclarse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69468-31BA-40D8-9E23-8D954C9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997C7-F7B4-4BF0-8109-BFE82B91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6C613-3079-4EB6-9427-FA16ABF2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47675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Concepto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Pregunta que responde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HODL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¿Cuánto tiempo mantengo?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Exposición prolongada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DCA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¿Cómo compro?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Aportes periódicos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Stacking sats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¿Qué acumulo?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Satoshis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Self-custody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¿Quién controla las claves?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 directo del gasto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9036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444C3-6509-4465-B7B5-86092FAB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8B55A-35A2-4277-B7A3-7BEBB272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combinación posible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8EF06-89AB-484E-8699-129429B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E8F96-D2E6-457A-87F7-B000AE8D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BB3FF-66CD-44DB-B675-53FDBA3E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E6B18-D0FD-459A-8E68-2A901CC3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CCE6D-F8F6-4616-AF90-7C1554D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2D05C-93B6-4F03-894F-F97CEC2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9F41C-5BBE-4D84-88AE-7335AE32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Comprar en fechas regulares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AFE8C-0205-4480-85F9-081C89B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2EFBF-C10F-4F4D-B822-2BA54A42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7B057-A7EB-4A4B-B063-09DBCF21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Stacking sats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3EFD6-A98B-48A3-BD3C-824DCB9F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Acumular unidades de BTC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4C9CA-B8C2-4019-BCB6-434902F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1B0C"/>
          </a:solidFill>
          <a:ln xmlns:a="http://schemas.openxmlformats.org/drawingml/2006/main" w="9525">
            <a:solidFill>
              <a:srgbClr val="F793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9B626-78E0-488B-82FE-5E645D2B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C905E-DAD7-45E4-AE31-2CE1D50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87613-549B-4E0E-AA12-FCE8048F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Mantener la exposición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F4C00-7995-45A1-9585-C078C2C3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F333B-2E9E-4204-9136-0FD8A480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71F28-2455-42AE-AFFF-5E6F194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813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Self-custody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8A1FB-9E4A-4DCC-8E4D-E1F61FD9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05175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Controlar las claves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08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537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74DF4-5845-40A6-915B-430309C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Los cuatro conceptos pueden coexistir, aunque cada uno describe una dimensión diferente.</a:t>
            </a:r>
          </a:p>
        </p:txBody>
      </p:sp>
    </p:spTree>
    <p:extLst>
      <p:ext uri="{BB962C8B-B14F-4D97-AF65-F5344CB8AC3E}">
        <p14:creationId xmlns:p14="http://schemas.microsoft.com/office/powerpoint/2010/main" val="19564217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B5A98-0C70-496C-B161-7961950F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4E569-4532-4896-B14F-3FD46E25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Cantidad de BTC y valoración de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426C-50BC-401E-BD8D-3A2D4FC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3D61B-C7C9-48AB-BC64-699BFE4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D585B-35EF-44DB-BCDE-F206FA2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D117E-6B3E-4204-A62C-08556DC1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1C2A"/>
          </a:solidFill>
          <a:ln xmlns:a="http://schemas.openxmlformats.org/drawingml/2006/main" w="19050">
            <a:solidFill>
              <a:srgbClr val="F793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B9E4C-0982-4D1E-84E6-17B85607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0,10 BTC × USD 60.000 = USD 6.000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ECE80-4453-4743-AE3B-B39C2636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Si el precio cae a USD 30.000, la valoración baja a USD 3.000.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cantidad continúa en 0,10 BTC mientras no exista una transacción de gasto.</a:t>
            </a:r>
          </a:p>
          <a:p xmlns:a="http://schemas.openxmlformats.org/drawingml/2006/main">
            <a:pPr marL="254000" indent="-114300">
              <a:spcAft>
                <a:spcPts val="10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pérdida no realizada afecta el patrimonio aunque el activo permanezca intacto.</a:t>
            </a:r>
          </a:p>
        </p:txBody>
      </p:sp>
    </p:spTree>
    <p:extLst>
      <p:ext uri="{BB962C8B-B14F-4D97-AF65-F5344CB8AC3E}">
        <p14:creationId xmlns:p14="http://schemas.microsoft.com/office/powerpoint/2010/main" val="18116979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65C81-E87C-4FDE-A29B-A9E128E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0FC2A-63C9-42E1-A89D-4D11F04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Market timing exige dos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BC2D1-3368-4893-ACA2-8E5CB8E5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C8716-C430-4239-B172-0D254FD5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DE7FA-4147-4132-982F-7561D416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908CE-1E8F-44FB-808B-501C5D90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397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1119-69BD-4080-A91D-FBB6F0FD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1FD4C-80DD-42CD-9745-F4D50A6F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305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BA884-43B5-4871-998B-BA3743D4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305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Elegir cuándo vender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EA27D-900C-4A18-AF07-5864817C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2190750"/>
            <a:ext cx="3397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D37A8-D457-442C-9C3E-5AA3BD01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2FC8D-1BD4-431B-BF6C-701FF31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2781300"/>
            <a:ext cx="305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Espera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F8BF9-2636-442E-8E71-01F4B14D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3305175"/>
            <a:ext cx="305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Permanecer fuera del mercado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C6467-2708-4418-A8EA-6FAB84B9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2190750"/>
            <a:ext cx="3397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1B0C"/>
          </a:solidFill>
          <a:ln xmlns:a="http://schemas.openxmlformats.org/drawingml/2006/main" w="9525">
            <a:solidFill>
              <a:srgbClr val="F793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CC9C7-777A-4198-8250-4A1381E5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B5069-4ACB-47E5-ADFC-422A44BC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825" y="2781300"/>
            <a:ext cx="305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Reentrada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EC29E-166B-42ED-80C6-96F44EBF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825" y="3305175"/>
            <a:ext cx="305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Elegir cuándo recomprar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116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946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1DAC2-CD1E-40C9-AC3D-24EEFD3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Una salida oportuna puede perder su ventaja cuando la recompra ocurre después de una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16120042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D5135-F6AE-48D8-954F-8A9D38F7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14A47-B5AD-4E99-9C1B-2A0B38EA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Riesgo de reentrada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00EE-D44E-4382-AFF7-C5336C8B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50FB8-4A76-4943-90BC-E757C1BC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17305-3ADD-4079-9F5D-23C1BFC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56A73-B8BC-43E7-AB16-28AAA6DE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Venta durante la caída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5C229-6374-4D36-A240-342513B7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Recuperación posterior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664F4-5749-4B3D-BAAB-948DB8E6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CC3A5-7A56-4A08-8AC1-1BB635C3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Reduce temporalmente la exposición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Convierte BTC en caja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Puede obedecer a una regla o a una reacción emocional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016C3-6822-4CBD-88D1-32BFB22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recompra puede exigir un precio mayor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Esperar otra caída prolonga la ausencia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resultado depende de la secuencia completa</a:t>
            </a:r>
          </a:p>
        </p:txBody>
      </p:sp>
    </p:spTree>
    <p:extLst>
      <p:ext uri="{BB962C8B-B14F-4D97-AF65-F5344CB8AC3E}">
        <p14:creationId xmlns:p14="http://schemas.microsoft.com/office/powerpoint/2010/main" val="9331359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EB310-A6C8-4C6A-BC9B-F791BDFC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4447B-582F-4D05-BF74-9A79FB2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Drawdown y recuperación asimétrica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DF60C-1592-4768-82A8-6F69240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24E42-8441-4A6B-B816-5D56791E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FA60E-7DEF-48BC-B45F-39085514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348E2-F113-4439-89BB-E777A7A1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Una caída porcentual exige una recuperación mayor para volver al valor inicial.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04875" y="2095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4682cf57db4f6a"/>
          </a:graphicData>
        </a:graphic>
      </p:graphicFrame>
    </p:spTree>
    <p:extLst>
      <p:ext uri="{BB962C8B-B14F-4D97-AF65-F5344CB8AC3E}">
        <p14:creationId xmlns:p14="http://schemas.microsoft.com/office/powerpoint/2010/main" val="1714323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BEB94-D5AB-4A28-92E9-96675E2B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51EBA-F5F0-4225-863A-5DA1F2E1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Tamaño de 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50649-9647-4D87-8CF6-213BDB52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22958-54F0-417C-976C-D0009286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E1267-6705-4181-A279-17BE5A32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8DEC4-592C-45D8-B24A-EDC77E1E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Convicción y concentración describen cosas diferentes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7D72-2181-4E5D-AA79-59894C45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Una tesis fuerte puede implementarse con una asignación moderada. El tamaño define cuánto afecta un drawdown de Bitcoin al patrimonio total.</a:t>
            </a:r>
          </a:p>
        </p:txBody>
      </p:sp>
    </p:spTree>
    <p:extLst>
      <p:ext uri="{BB962C8B-B14F-4D97-AF65-F5344CB8AC3E}">
        <p14:creationId xmlns:p14="http://schemas.microsoft.com/office/powerpoint/2010/main" val="6843491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FB506-65E7-474A-95F1-5FAD160B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BEEC5-E3AD-4B3F-B276-37CAF608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Liquidez personal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D17EE-EB68-45C9-B4F1-33FA6F92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40EC-EEAA-47E2-BE63-A674A0B4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FB75D-EDBC-4824-B2A7-7A064981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D7A0E-7AD8-406B-8356-013A6A3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Reserva suficiente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B6193-6099-49D2-A487-48D156BD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Reserva insuficiente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5AE59-7584-4933-8B27-C61F1852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05B47-00AF-4FD7-AF24-59A6628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Las obligaciones se pagan sin vender BTC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horizonte de inversión se mantiene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estrategia tolera mejor una caída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C0BD9-0218-439B-9286-736CF57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necesidad de efectivo obliga a vender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venta puede ocurrir cerca de un mínimo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tesis puede seguir intacta mientras cambia la posición</a:t>
            </a:r>
          </a:p>
        </p:txBody>
      </p:sp>
    </p:spTree>
    <p:extLst>
      <p:ext uri="{BB962C8B-B14F-4D97-AF65-F5344CB8AC3E}">
        <p14:creationId xmlns:p14="http://schemas.microsoft.com/office/powerpoint/2010/main" val="6712974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A2C8A-FD7C-488D-9057-A25ECB94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44C3E-0977-4F7F-BD6B-85D2BF57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Custodia y horizonte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692CE-7642-49A5-9006-AEA7A15D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D09B0-8585-489C-BF00-7574F63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50048-E948-4CCB-B5E2-23450BDA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05250"/>
                <a:gridCol w="409575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Modalidad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Ventaja principal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Riesgo principal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Autocustodia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 directo de claves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 operativo o pérdida de respaldo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Custodia de terceros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Recuperación y facilidad de uso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Contraparte, congelamiento o insolvencia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Custodia colaborativa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Responsabilidad distribuida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Coordinación y dependencia contractual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9223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5CD31-1375-468C-AF05-EDA96B50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40962-E7C8-4DA6-A861-D187C2C0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Autocustodia como sistema operativo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12D3B-0896-4D77-BC8E-5599D42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67F7A-54C6-46A8-8AA8-085E038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BAFA3-F42F-4990-8AE2-3EC1ABF7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BA1FC-9808-4903-A8ED-0BA86AEF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3B8E8-925B-49FE-87F8-740B1920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Responsabilidad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FBC8A-A0BB-4192-9F1C-08B1AC0C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E04E3-0671-403D-B4E6-5C15D6A6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firma depende de claves bajo dominio del usuario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El retiro no depende de un custodio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 política puede incorporar multisig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E8B93-6006-4303-8C52-F8AE3DF1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Respaldo de semilla y passphrase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Seguridad física y privacidad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Plan de recuperación y sucesión</a:t>
            </a:r>
          </a:p>
        </p:txBody>
      </p:sp>
    </p:spTree>
    <p:extLst>
      <p:ext uri="{BB962C8B-B14F-4D97-AF65-F5344CB8AC3E}">
        <p14:creationId xmlns:p14="http://schemas.microsoft.com/office/powerpoint/2010/main" val="14600891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27505-6021-4833-9345-CAEBF7D0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F8C5A-CB2E-4A0B-891A-406A2EF0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HODL y trading responden a lógicas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1836C-90A0-4346-A8FB-EB19289D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4436D-D0E7-4318-BC6C-7429934C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7C759-819C-4910-9CB8-75E425AE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28625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Dimensión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HODL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1B110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Trading</a:t>
                      </a:r>
                    </a:p>
                  </a:txBody>
                  <a:tcPr marL="91440" marR="91440" marT="45720" marB="45720">
                    <a:solidFill>
                      <a:srgbClr val="F7931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Frecuencia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Baja rotación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Decisiones frecuentes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Fuente de resultado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Exposición de largo plazo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Entradas, salidas y gestión táctica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Riesgo operativo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Custodia e inercia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Timing, costos y sobreoperación</a:t>
                      </a:r>
                    </a:p>
                  </a:txBody>
                  <a:tcPr marL="91440" marR="91440" marT="45720" marB="45720">
                    <a:solidFill>
                      <a:srgbClr val="0D1C30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Puente curricular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Unidad 2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DF5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Unidad 5</a:t>
                      </a:r>
                    </a:p>
                  </a:txBody>
                  <a:tcPr marL="91440" marR="91440" marT="45720" marB="45720">
                    <a:solidFill>
                      <a:srgbClr val="10253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0432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4C8A5-B102-4E5D-84CC-5C4412E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6BDDA-A0C0-4EBA-BAC2-8FE7E0E0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Una tesis revisable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360B7-0C94-433C-A9BA-13F5A34C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F4813-0DAC-469A-BAF3-A7B1E5B0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89BEA-21A1-419E-BAF5-3AFA12E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5B262-244A-475E-AFCC-E687CED1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Disciplina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F743B-7E9F-4810-A7E1-B7E1B734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Obstinación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80E91-D537-4929-87CD-45CFED3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0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6A7FA-E3A7-472F-820E-630283DE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Define horizonte y tamaño antes de la volatilidad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Identifica evidencia que fortalecería la tesis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Reserva liquidez para evitar ventas forzadas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85E57-C9F0-4F55-AB5C-4225827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Convierte toda caída en confirmación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Descarta evidencia contraria</a:t>
            </a:r>
          </a:p>
          <a:p xmlns:a="http://schemas.openxmlformats.org/drawingml/2006/main">
            <a:pPr marL="254000" indent="-114300">
              <a:spcAft>
                <a:spcPts val="1200"/>
              </a:spcAft>
              <a:buChar char="•"/>
              <a:def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Confunde identidad personal con calidad de la inversión</a:t>
            </a:r>
          </a:p>
        </p:txBody>
      </p:sp>
    </p:spTree>
    <p:extLst>
      <p:ext uri="{BB962C8B-B14F-4D97-AF65-F5344CB8AC3E}">
        <p14:creationId xmlns:p14="http://schemas.microsoft.com/office/powerpoint/2010/main" val="4350178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97231-7F93-440B-937C-8FB2C374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D5C15-FBC4-486A-A8A3-7B2897B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Límite central de la inferencia on-chain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59380-83EE-47EB-AE71-D96C48C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370ED-D6A3-4609-BC99-19F5C519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10865-4C01-4FBC-A871-7F2D82C8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8314D-1C74-46F6-87E5-C640ABE6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dato on-chain ≠ intención humana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EAA03-15D4-489E-9A4A-56D0C45D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Un UTXO antiguo demuestra inmovilidad. Puede corresponder a ahorro, cold storage, custodia institucional, claves perdidas o una wallet abandonada.</a:t>
            </a:r>
          </a:p>
        </p:txBody>
      </p:sp>
    </p:spTree>
    <p:extLst>
      <p:ext uri="{BB962C8B-B14F-4D97-AF65-F5344CB8AC3E}">
        <p14:creationId xmlns:p14="http://schemas.microsoft.com/office/powerpoint/2010/main" val="5834835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C18AA-FD0E-4314-8797-0BED6BE5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7C569-98BE-4252-8910-81D3802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Ruta de laboratorios HODL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D5105-E646-4C39-AC01-2A2BC3E2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09FEF-7C87-4AE1-82A4-C579CB6B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05B33-FD90-4F5F-802F-8227F002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23B2F-5FCA-4AEF-821F-B9FF6002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9240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8F2AF-25B8-4942-B87E-F702231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ECAE9-956A-4E59-A9AB-05434D9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LAB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7E725-4602-4E1C-B79F-79FAF69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Estrategias y valoración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988AD-A31E-4158-96F8-BC933DA9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90750"/>
            <a:ext cx="19240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DB661-4235-4C1A-87D9-FB84F929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B3667-5A2E-4C68-9775-EC664F3F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LAB 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BB23E-12F5-4EFA-B74D-8CA786F8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051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Edad UTXO y HODL Waves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074AA-0A8C-48CA-9C3B-7EAB100F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190750"/>
            <a:ext cx="19240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371F0-066D-45F4-A519-E6D31249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FBA79-74AD-4DA8-90B1-521744EB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813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LAB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28B10-774F-416C-98B3-444ADD55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051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Coin Days Destroyed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14F20-7854-44B2-9716-03DC264D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90750"/>
            <a:ext cx="19240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53A"/>
          </a:solidFill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B8555-8646-4BD7-B614-82553250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D3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9D96F-FD07-4F2A-B5B9-F46631E9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813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LAB 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30875-1C49-4442-9603-851076E5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051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Decisiones conductuales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C7A6B-6732-4050-B38A-36E71839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190750"/>
            <a:ext cx="19240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1B0C"/>
          </a:solidFill>
          <a:ln xmlns:a="http://schemas.openxmlformats.org/drawingml/2006/main" w="9525">
            <a:solidFill>
              <a:srgbClr val="F793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0D9D4-6E71-4AC9-8E34-9EE8053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C7C01-58E8-4EDD-88F0-7B8E9917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7813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LAB 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27AB9-4097-4DD3-B67F-DBC3BDEA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051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Riesgo y asignación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384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482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58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580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cxnSp>
        <p:nvCxnSpPr>
          <p:cNvPr id="59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678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931A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C9DD6D-702F-492E-B82C-173D4240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La secuencia avanza desde la decisión individual hasta las métricas agregadas y la sostenibilidad financiera de la estrategia.</a:t>
            </a:r>
          </a:p>
        </p:txBody>
      </p:sp>
    </p:spTree>
    <p:extLst>
      <p:ext uri="{BB962C8B-B14F-4D97-AF65-F5344CB8AC3E}">
        <p14:creationId xmlns:p14="http://schemas.microsoft.com/office/powerpoint/2010/main" val="7083801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639DC-C06F-4601-992A-196214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UNIDAD 2 · BITCOIN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2DB93-32BB-4696-972E-B9E21C00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DF5FF"/>
                </a:solidFill>
                <a:latin typeface="DejaVu Sans"/>
                <a:ea typeface="DejaVu Sans"/>
                <a:cs typeface="DejaVu Sans"/>
              </a:rPr>
              <a:t>Síntesis y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756BB-74EE-469C-B797-43CB5A1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3B5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FA315-05D9-41F3-84C1-E9036251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160FD-FDC4-4F62-AFEE-C2E38A7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HODL  · 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51390-46EB-4FD7-8575-34B5635C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931A"/>
                </a:solidFill>
                <a:latin typeface="DejaVu Sans"/>
                <a:ea typeface="DejaVu Sans"/>
                <a:cs typeface="DejaVu Sans"/>
              </a:rPr>
              <a:t>Bitcoin puede estudiarse por su funcionamiento, sus incentivos y la conducta de quienes lo utilizan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ABFA1-38C8-4EA4-9778-56CDF759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BB0C9"/>
                </a:solidFill>
                <a:latin typeface="DejaVu Sans"/>
                <a:ea typeface="DejaVu Sans"/>
                <a:cs typeface="DejaVu Sans"/>
              </a:rPr>
              <a:t>La Unidad 2 termina con HODL como estrategia de baja intervención. La Unidad 5 analiza la alternativa activa mediante indicadores, señales, reglas y gestión del riesgo.</a:t>
            </a:r>
          </a:p>
        </p:txBody>
      </p:sp>
    </p:spTree>
    <p:extLst>
      <p:ext uri="{BB962C8B-B14F-4D97-AF65-F5344CB8AC3E}">
        <p14:creationId xmlns:p14="http://schemas.microsoft.com/office/powerpoint/2010/main" val="1400893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2026-09-14T13:08:19.3780000Z</dcterms:created>
  <dcterms:modified xsi:type="dcterms:W3CDTF">2026-09-14T13:08:19.3780000Z</dcterms:modified>
</coreProperties>
</file>