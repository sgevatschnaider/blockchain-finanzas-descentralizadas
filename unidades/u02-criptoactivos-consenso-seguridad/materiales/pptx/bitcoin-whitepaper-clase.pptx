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12192000"/>
  <p:notesSz cx="6858000" cy="12192000"/>
  <p:embeddedFontLst>
    <p:embeddedFont>
      <p:font typeface="Play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Play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Play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abrir la clase mostrando que el white paper no es sólo tecnología: combina criptografía, redes distribuidas, economía de incentivos y teoría de juegos.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introducción del paper presenta el problema de depender de terceros confiables y sus costos: reversibilidad, fraude, disputas y necesidad de confianza institucional.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este mapa como guía: todo el paper se entiende si se sigue el paso de propiedad → orden temporal → costo de reescritura → consenso probabilístico.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Marcar diferencia entre confianza institucional y confianza en el protocolo: los usuarios confían en matemáticas, software abierto, incentivos y verificación distribuida.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las firmas digitales resuelven autenticidad y autorización, pero no por sí solas el orden temporal de pagos.</a:t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Conviene remarcar en clase: la firma digital demuestra autorización de gasto, no identidad civil ni confirmación final.</a:t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Enseñar wallet como administrador de claves ayuda a comprender por qué perder la seed implica perder capacidad de gasto.</a:t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conecta lo visto sobre firmas con el resto del paper: propiedad, autorización, orden temporal y consenso.</a:t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un ejemplo cotidiano: si una foto puede copiarse infinitamente, una “moneda digital” también, salvo que exista un registro común que impida aceptar dos gastos de la misma unidad.</a:t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palabra “timestamp server” del paper no debe confundirse con un servidor central. En Bitcoin la función de sellado temporal se distribuye mediante Proof of Work y red P2P.</a:t>
            </a:r>
            <a:endParaRPr/>
          </a:p>
        </p:txBody>
      </p:sp>
      <p:sp>
        <p:nvSpPr>
          <p:cNvPr id="302" name="Google Shape;3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Remarcar que “inmutable” significa extremadamente costoso de modificar en la práctica, no metafísicamente imposible.</a:t>
            </a:r>
            <a:endParaRPr/>
          </a:p>
        </p:txBody>
      </p:sp>
      <p:sp>
        <p:nvSpPr>
          <p:cNvPr id="344" name="Google Shape;3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Enfatizar que Proof of Work convierte el consenso en una competencia verificable: cuesta encontrar solución, pero es fácil verificarla.</a:t>
            </a:r>
            <a:endParaRPr/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ciclo de red del paper permite mostrar que la validación distribuida es tan importante como la minería.</a:t>
            </a:r>
            <a:endParaRPr/>
          </a:p>
        </p:txBody>
      </p:sp>
      <p:sp>
        <p:nvSpPr>
          <p:cNvPr id="408" name="Google Shape;4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responde a la duda típica: consenso no es “votar”; es converger algorítmicamente hacia la cadena válida con más prueba de trabajo acumulada.</a:t>
            </a:r>
            <a:endParaRPr/>
          </a:p>
        </p:txBody>
      </p:sp>
      <p:sp>
        <p:nvSpPr>
          <p:cNvPr id="445" name="Google Shape;4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buena frase de clase: “la validación filtra bloques inválidos; la regla de consenso decide entre historias válidas competidoras”.</a:t>
            </a:r>
            <a:endParaRPr/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“Finalidad probabilística” contrasta con liquidación legal: en Bitcoin no hay una autoridad que cierre definitivamente una operación, sino un costo creciente de reversión.</a:t>
            </a:r>
            <a:endParaRPr/>
          </a:p>
        </p:txBody>
      </p:sp>
      <p:sp>
        <p:nvSpPr>
          <p:cNvPr id="507" name="Google Shape;5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Evitar dramatizar “51%”: explicar capacidades y límites. No permite robar monedas ajenas sin claves ni crear monedas arbitrariamente bajo reglas aceptadas por nodos.</a:t>
            </a:r>
            <a:endParaRPr/>
          </a:p>
        </p:txBody>
      </p:sp>
      <p:sp>
        <p:nvSpPr>
          <p:cNvPr id="552" name="Google Shape;55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es especialmente útil para evitar afirmaciones exageradas sobre ataques del 51%.</a:t>
            </a:r>
            <a:endParaRPr/>
          </a:p>
        </p:txBody>
      </p:sp>
      <p:sp>
        <p:nvSpPr>
          <p:cNvPr id="605" name="Google Shape;60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de esta sección: Bitcoin diseña un sistema donde la seguridad no depende sólo de buenas intenciones, sino de incentivos alineados.</a:t>
            </a:r>
            <a:endParaRPr/>
          </a:p>
        </p:txBody>
      </p:sp>
      <p:sp>
        <p:nvSpPr>
          <p:cNvPr id="627" name="Google Shape;62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prepara SPV: un cliente ligero puede verificar inclusión con una ruta Merkle y encabezados de bloque.</a:t>
            </a:r>
            <a:endParaRPr/>
          </a:p>
        </p:txBody>
      </p:sp>
      <p:sp>
        <p:nvSpPr>
          <p:cNvPr id="661" name="Google Shape;66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SPV para distinguir nodo completo de wallet liviana. En docencia, esto ayuda a explicar por qué “usar Bitcoin” no siempre equivale a “validar Bitcoin”.</a:t>
            </a:r>
            <a:endParaRPr/>
          </a:p>
        </p:txBody>
      </p:sp>
      <p:sp>
        <p:nvSpPr>
          <p:cNvPr id="700" name="Google Shape;7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Conectar con análisis de grafos: las transacciones públicas permiten inferencias, clustering y trazabilidad.</a:t>
            </a:r>
            <a:endParaRPr/>
          </a:p>
        </p:txBody>
      </p:sp>
      <p:sp>
        <p:nvSpPr>
          <p:cNvPr id="734" name="Google Shape;7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sección responde a una omisión frecuente: el paper explica explícitamente que el valor puede combinarse y dividirse mediante múltiples inputs y outputs.</a:t>
            </a:r>
            <a:endParaRPr/>
          </a:p>
        </p:txBody>
      </p:sp>
      <p:sp>
        <p:nvSpPr>
          <p:cNvPr id="759" name="Google Shape;75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Aclarar que esta sección es histórica: el paper se refiere al ahorro de espacio y al almacenamiento de headers, no al tamaño actual completo de la blockchain.</a:t>
            </a:r>
            <a:endParaRPr/>
          </a:p>
        </p:txBody>
      </p:sp>
      <p:sp>
        <p:nvSpPr>
          <p:cNvPr id="803" name="Google Shape;80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Muy útil para comparar lectura literal del white paper con la explicación contemporánea.</a:t>
            </a:r>
            <a:endParaRPr/>
          </a:p>
        </p:txBody>
      </p:sp>
      <p:sp>
        <p:nvSpPr>
          <p:cNvPr id="864" name="Google Shape;86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se introduce la forma cerrada básica y se prepara la siguiente slide con Poisson y espera del receptor.</a:t>
            </a:r>
            <a:endParaRPr/>
          </a:p>
        </p:txBody>
      </p:sp>
      <p:sp>
        <p:nvSpPr>
          <p:cNvPr id="903" name="Google Shape;90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traduce el formalismo del paper a una explicación visual de por qué “esperar confirmaciones” tiene fundamento probabilístico.</a:t>
            </a:r>
            <a:endParaRPr/>
          </a:p>
        </p:txBody>
      </p:sp>
      <p:sp>
        <p:nvSpPr>
          <p:cNvPr id="942" name="Google Shape;94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toma los números del propio paper y los vuelve didácticos para la clase.</a:t>
            </a:r>
            <a:endParaRPr/>
          </a:p>
        </p:txBody>
      </p:sp>
      <p:sp>
        <p:nvSpPr>
          <p:cNvPr id="1000" name="Google Shape;100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Conectar con halving y presupuesto de seguridad, aclarando qué está explícito en el paper y qué es discusión posterior.</a:t>
            </a:r>
            <a:endParaRPr/>
          </a:p>
        </p:txBody>
      </p:sp>
      <p:sp>
        <p:nvSpPr>
          <p:cNvPr id="1029" name="Google Shape;102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Muy valiosa para mostrar que Bitcoin es una innovación de arquitectura e integración, no un hallazgo aislado.</a:t>
            </a:r>
            <a:endParaRPr/>
          </a:p>
        </p:txBody>
      </p:sp>
      <p:sp>
        <p:nvSpPr>
          <p:cNvPr id="1063" name="Google Shape;106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slide responde directamente al pedido de “comparado con el paper”.</a:t>
            </a:r>
            <a:endParaRPr/>
          </a:p>
        </p:txBody>
      </p:sp>
      <p:sp>
        <p:nvSpPr>
          <p:cNvPr id="1099" name="Google Shape;109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puede usarse como cierre o como hoja de consulta mientras se lee el paper.</a:t>
            </a:r>
            <a:endParaRPr/>
          </a:p>
        </p:txBody>
      </p:sp>
      <p:sp>
        <p:nvSpPr>
          <p:cNvPr id="1144" name="Google Shape;114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fortalece la versión superior: no sólo explica el paper, corrige malas simplificaciones comunes.</a:t>
            </a:r>
            <a:endParaRPr/>
          </a:p>
        </p:txBody>
      </p:sp>
      <p:sp>
        <p:nvSpPr>
          <p:cNvPr id="1187" name="Google Shape;11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1" name="Google Shape;122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 sugerida de 15 a 20 minutos. Puede hacerse en grupos. Pedir que cada grupo defina un concepto y lo aplique al caso de doble gasto.</a:t>
            </a:r>
            <a:endParaRPr/>
          </a:p>
        </p:txBody>
      </p:sp>
      <p:sp>
        <p:nvSpPr>
          <p:cNvPr id="1222" name="Google Shape;122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vinculando todas las piezas: ninguna aislada era totalmente nueva; la contribución histórica fue integrarlas en un sistema funcional de dinero digital descentralizado.</a:t>
            </a:r>
            <a:endParaRPr/>
          </a:p>
        </p:txBody>
      </p:sp>
      <p:sp>
        <p:nvSpPr>
          <p:cNvPr id="1259" name="Google Shape;125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deep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deep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deep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deep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deep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deep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deep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deep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deep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deep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deep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deep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deep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deep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deep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deep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deep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deep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deep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deep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deep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deep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deep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deep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deep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deep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deep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dee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dee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dee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dee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dee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dee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dee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dee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dee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dee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dee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dee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dee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dee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dee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4" name="Google Shape;154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la bibliografía, siempre conviene remitir al PDF original. Para un curso, complementar con Bitcoin Core y textos introductorios de criptografía.</a:t>
            </a:r>
            <a:endParaRPr/>
          </a:p>
        </p:txBody>
      </p:sp>
      <p:sp>
        <p:nvSpPr>
          <p:cNvPr id="1545" name="Google Shape;154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futuristic_digital_illustration_o_batch_1.png" id="17" name="Google Shape;17;p4"/>
          <p:cNvPicPr preferRelativeResize="0"/>
          <p:nvPr/>
        </p:nvPicPr>
        <p:blipFill rotWithShape="1">
          <a:blip r:embed="rId3">
            <a:alphaModFix/>
          </a:blip>
          <a:srcRect b="3000" l="5000" r="952" t="3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685800" y="6217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Bitcoin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8368" y="1234440"/>
            <a:ext cx="8046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El paper de Satoshi Nakamoto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713232" y="2011680"/>
            <a:ext cx="6400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Una explicación visual y didáctica: dinero digital P2P, doble gasto, Proof of Work, consenso e incentivos.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13232" y="2743200"/>
            <a:ext cx="1572768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13232" y="279349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Presentación docente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2487168" y="2743200"/>
            <a:ext cx="1755648" cy="292608"/>
          </a:xfrm>
          <a:prstGeom prst="roundRect">
            <a:avLst>
              <a:gd fmla="val 18750" name="adj"/>
            </a:avLst>
          </a:prstGeom>
          <a:solidFill>
            <a:srgbClr val="0F2C46">
              <a:alpha val="94902"/>
            </a:srgbClr>
          </a:solidFill>
          <a:ln cap="flat" cmpd="sng" w="12700">
            <a:solidFill>
              <a:srgbClr val="0F2C4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487168" y="2793492"/>
            <a:ext cx="17556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Para clase / seminario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13232" y="6016752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3232" y="625449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Bitcoin: A Peer-to-Peer Electronic Cash System · 2008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La tesis central del paper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5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Problema que resuelve: dinero digital sin intermediario central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5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85800" y="1600200"/>
            <a:ext cx="5486400" cy="1005840"/>
          </a:xfrm>
          <a:prstGeom prst="roundRect">
            <a:avLst>
              <a:gd fmla="val 7273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850392" y="1719072"/>
            <a:ext cx="515721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Crear efectivo electrónico P2P: pagos directos entre partes, sin pasar por una institución financiera.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85800" y="2926080"/>
            <a:ext cx="3291840" cy="1234440"/>
          </a:xfrm>
          <a:prstGeom prst="roundRect">
            <a:avLst>
              <a:gd fmla="val 4444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85800" y="2926080"/>
            <a:ext cx="64008" cy="12344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850392" y="3063240"/>
            <a:ext cx="2980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Antes de Bitcoin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50392" y="3364992"/>
            <a:ext cx="29809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confianza se delega en un tercero: banco, procesador de pagos o autoridad que decide qué transacción es válida.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434840" y="2926080"/>
            <a:ext cx="3291840" cy="1234440"/>
          </a:xfrm>
          <a:prstGeom prst="roundRect">
            <a:avLst>
              <a:gd fmla="val 4444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434840" y="2926080"/>
            <a:ext cx="64008" cy="12344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599432" y="3063240"/>
            <a:ext cx="2980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Propuesta de Satoshi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99432" y="3364992"/>
            <a:ext cx="29809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Reemplazar la autoridad central por una red P2P que ordena transacciones usando Proof of Work.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183880" y="2926080"/>
            <a:ext cx="3246120" cy="1234440"/>
          </a:xfrm>
          <a:prstGeom prst="roundRect">
            <a:avLst>
              <a:gd fmla="val 4444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183880" y="2926080"/>
            <a:ext cx="64008" cy="12344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348472" y="3063240"/>
            <a:ext cx="2935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Resultado buscado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348472" y="3364992"/>
            <a:ext cx="293522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Un historial público, verificable y costoso de reescribir: la blockchain.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5"/>
          <p:cNvCxnSpPr/>
          <p:nvPr/>
        </p:nvCxnSpPr>
        <p:spPr>
          <a:xfrm>
            <a:off x="4005072" y="3547872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" name="Google Shape;53;p5"/>
          <p:cNvCxnSpPr/>
          <p:nvPr/>
        </p:nvCxnSpPr>
        <p:spPr>
          <a:xfrm>
            <a:off x="7754112" y="3547872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5"/>
          <p:cNvSpPr/>
          <p:nvPr/>
        </p:nvSpPr>
        <p:spPr>
          <a:xfrm>
            <a:off x="1051560" y="4800600"/>
            <a:ext cx="10104120" cy="694944"/>
          </a:xfrm>
          <a:prstGeom prst="roundRect">
            <a:avLst>
              <a:gd fmla="val 10526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197864" y="4910328"/>
            <a:ext cx="9811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Bitcoin = firmas digitales + red P2P + hashing + Proof of Work + incentivos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Mapa de lectura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6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6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está organizado el argumento de Satoshi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6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6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73152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1316736" y="2112264"/>
            <a:ext cx="1133856" cy="0"/>
          </a:xfrm>
          <a:prstGeom prst="straightConnector1">
            <a:avLst/>
          </a:prstGeom>
          <a:noFill/>
          <a:ln cap="flat" cmpd="sng" w="203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6"/>
          <p:cNvSpPr/>
          <p:nvPr/>
        </p:nvSpPr>
        <p:spPr>
          <a:xfrm>
            <a:off x="47548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1206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29260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Cadena de firmas digitales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60604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260604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6"/>
          <p:cNvCxnSpPr/>
          <p:nvPr/>
        </p:nvCxnSpPr>
        <p:spPr>
          <a:xfrm>
            <a:off x="3191256" y="2112264"/>
            <a:ext cx="1133856" cy="0"/>
          </a:xfrm>
          <a:prstGeom prst="straightConnector1">
            <a:avLst/>
          </a:prstGeom>
          <a:noFill/>
          <a:ln cap="flat" cmpd="sng" w="203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6"/>
          <p:cNvSpPr/>
          <p:nvPr/>
        </p:nvSpPr>
        <p:spPr>
          <a:xfrm>
            <a:off x="235000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38658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Doble gasto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16712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¿Cuál transacción ocurrió primero?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48056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48056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6"/>
          <p:cNvCxnSpPr/>
          <p:nvPr/>
        </p:nvCxnSpPr>
        <p:spPr>
          <a:xfrm>
            <a:off x="5065776" y="2112264"/>
            <a:ext cx="1133856" cy="0"/>
          </a:xfrm>
          <a:prstGeom prst="straightConnector1">
            <a:avLst/>
          </a:prstGeom>
          <a:noFill/>
          <a:ln cap="flat" cmpd="sng" w="203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6"/>
          <p:cNvSpPr/>
          <p:nvPr/>
        </p:nvSpPr>
        <p:spPr>
          <a:xfrm>
            <a:off x="422452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26110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04164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Bloques con hash del bloque anterior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35508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35508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6940296" y="2112264"/>
            <a:ext cx="1133856" cy="0"/>
          </a:xfrm>
          <a:prstGeom prst="straightConnector1">
            <a:avLst/>
          </a:prstGeom>
          <a:noFill/>
          <a:ln cap="flat" cmpd="sng" w="203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6"/>
          <p:cNvSpPr/>
          <p:nvPr/>
        </p:nvSpPr>
        <p:spPr>
          <a:xfrm>
            <a:off x="609904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13562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Proof of Work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91616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Costo computacional para producir bloques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22960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22960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8814816" y="2112264"/>
            <a:ext cx="1133856" cy="0"/>
          </a:xfrm>
          <a:prstGeom prst="straightConnector1">
            <a:avLst/>
          </a:prstGeom>
          <a:noFill/>
          <a:ln cap="flat" cmpd="sng" w="203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6"/>
          <p:cNvSpPr/>
          <p:nvPr/>
        </p:nvSpPr>
        <p:spPr>
          <a:xfrm>
            <a:off x="797356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801014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Consenso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79068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Cadena con mayor trabajo acumulado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104120" y="1828800"/>
            <a:ext cx="566928" cy="5669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0104120" y="19751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848088" y="2779776"/>
            <a:ext cx="1078992" cy="502920"/>
          </a:xfrm>
          <a:prstGeom prst="roundRect">
            <a:avLst>
              <a:gd fmla="val 10909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884664" y="2935224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Incentivos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665208" y="3419856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Recompensas y comisiones alinean conducta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188720" y="4983480"/>
            <a:ext cx="9829800" cy="594360"/>
          </a:xfrm>
          <a:prstGeom prst="roundRect">
            <a:avLst>
              <a:gd fmla="val 12308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A78BFA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353312" y="5102352"/>
            <a:ext cx="9500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 gran pregunta de la clase: ¿cómo una red abierta logra ponerse de acuerdo sobre un único historial de pagos?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1. Introducción: el problema de confiar en terceros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7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7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Satoshi no parte de “crear una moneda”, sino de reducir dependencia institucional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31520" y="1691640"/>
            <a:ext cx="3474720" cy="1325880"/>
          </a:xfrm>
          <a:prstGeom prst="roundRect">
            <a:avLst>
              <a:gd fmla="val 4138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31520" y="1691640"/>
            <a:ext cx="64008" cy="13258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96112" y="182880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Pagos electrónicos tradicionales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96112" y="2130552"/>
            <a:ext cx="316382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Funcionan mediante instituciones financieras que actúan como terceros confiables para procesar pagos.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26280" y="1691640"/>
            <a:ext cx="3474720" cy="1325880"/>
          </a:xfrm>
          <a:prstGeom prst="roundRect">
            <a:avLst>
              <a:gd fmla="val 4138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526280" y="1691640"/>
            <a:ext cx="64008" cy="1325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690872" y="182880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Costos de intermediación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690872" y="2130552"/>
            <a:ext cx="316382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Disputas, reversibilidad de pagos, fraude, comisiones y límites para micropagos.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321040" y="1691640"/>
            <a:ext cx="3154680" cy="1325880"/>
          </a:xfrm>
          <a:prstGeom prst="roundRect">
            <a:avLst>
              <a:gd fmla="val 4138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321040" y="1691640"/>
            <a:ext cx="64008" cy="13258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8485632" y="1828800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Objetivo del paper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485632" y="2130552"/>
            <a:ext cx="284378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Permitir pagos en línea directamente entre partes, sin pasar por una entidad financiera.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4251960" y="2359152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7"/>
          <p:cNvCxnSpPr/>
          <p:nvPr/>
        </p:nvCxnSpPr>
        <p:spPr>
          <a:xfrm>
            <a:off x="8046720" y="2359152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7"/>
          <p:cNvSpPr/>
          <p:nvPr/>
        </p:nvSpPr>
        <p:spPr>
          <a:xfrm>
            <a:off x="822960" y="37947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Traducción didáctica: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22960" y="4160520"/>
            <a:ext cx="7406640" cy="822960"/>
          </a:xfrm>
          <a:prstGeom prst="roundRect">
            <a:avLst>
              <a:gd fmla="val 8889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87552" y="4279392"/>
            <a:ext cx="707745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“Necesitamos un sistema donde la prueba criptográfica reemplace la confianza en una institución.”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05840" y="523036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Idea clave: Bitcoin no elimina la confianza por completo; la desplaza hacia reglas abiertas, verificables y costosas de violar.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2. Moneda electrónica como cadena de firmas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8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8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La propiedad se transfiere firmando la historia previa y la clave pública del nuevo dueño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8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2057400" y="2788920"/>
            <a:ext cx="17373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8"/>
          <p:cNvCxnSpPr/>
          <p:nvPr/>
        </p:nvCxnSpPr>
        <p:spPr>
          <a:xfrm>
            <a:off x="4892040" y="2788920"/>
            <a:ext cx="17373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8"/>
          <p:cNvCxnSpPr/>
          <p:nvPr/>
        </p:nvCxnSpPr>
        <p:spPr>
          <a:xfrm>
            <a:off x="7726680" y="2788920"/>
            <a:ext cx="17373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8"/>
          <p:cNvSpPr/>
          <p:nvPr/>
        </p:nvSpPr>
        <p:spPr>
          <a:xfrm>
            <a:off x="868680" y="2359152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12263D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05256" y="2514600"/>
            <a:ext cx="11612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 privada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794760" y="2359152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12263D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831336" y="2514600"/>
            <a:ext cx="11612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 pública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656832" y="2359152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12263D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693408" y="2514600"/>
            <a:ext cx="11612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Carol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 pública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509760" y="2359152"/>
            <a:ext cx="1234440" cy="868680"/>
          </a:xfrm>
          <a:prstGeom prst="roundRect">
            <a:avLst>
              <a:gd fmla="val 6316" name="adj"/>
            </a:avLst>
          </a:prstGeom>
          <a:solidFill>
            <a:srgbClr val="12263D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546336" y="2514600"/>
            <a:ext cx="116128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Nuevo dueño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258568" y="22860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Firma de Alice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230368" y="22860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Firma de Bob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092440" y="228600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Firma de Carol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14400" y="3931920"/>
            <a:ext cx="10287000" cy="777240"/>
          </a:xfrm>
          <a:prstGeom prst="roundRect">
            <a:avLst>
              <a:gd fmla="val 9412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1060704" y="4041648"/>
            <a:ext cx="9994392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Transacción nueva = hash de la transacción anterior + clave pública del receptor + firma del emisor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143000" y="507492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Esto prueba continuidad de propiedad, pero todavía no responde si Alice firmó dos pagos incompatibles.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3. Firma digital en Bitcoin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La firma digital prueba autorización sin revelar la clave privada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646920" y="493776"/>
            <a:ext cx="146304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9646920" y="544068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Base criptográfica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68680" y="1645920"/>
            <a:ext cx="356616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68680" y="1645920"/>
            <a:ext cx="64008" cy="1188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033272" y="1783080"/>
            <a:ext cx="3255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hace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33272" y="2084832"/>
            <a:ext cx="325526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Permite demostrar que quien gasta controla la clave privada correspondiente, sin mostrar esa clave.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617720" y="1645920"/>
            <a:ext cx="365760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617720" y="164592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782312" y="1783080"/>
            <a:ext cx="3346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protege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782312" y="2084832"/>
            <a:ext cx="33467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Autenticidad del emisor e integridad del mensaje firmado: si la transacción cambia, la firma deja de valer.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458200" y="1645920"/>
            <a:ext cx="274320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458200" y="1645920"/>
            <a:ext cx="64008" cy="11887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622792" y="1783080"/>
            <a:ext cx="24323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no resuelve por sí sola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622792" y="2084832"/>
            <a:ext cx="24323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No evita por sí sola el doble gasto ni reemplaza al consenso de red.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143000" y="3657600"/>
            <a:ext cx="1325880" cy="777240"/>
          </a:xfrm>
          <a:prstGeom prst="roundRect">
            <a:avLst>
              <a:gd fmla="val 7059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79576" y="3813048"/>
            <a:ext cx="12527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9"/>
          <p:cNvCxnSpPr/>
          <p:nvPr/>
        </p:nvCxnSpPr>
        <p:spPr>
          <a:xfrm>
            <a:off x="2606040" y="4041648"/>
            <a:ext cx="132588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9"/>
          <p:cNvSpPr/>
          <p:nvPr/>
        </p:nvSpPr>
        <p:spPr>
          <a:xfrm>
            <a:off x="3931920" y="3611880"/>
            <a:ext cx="1554480" cy="868680"/>
          </a:xfrm>
          <a:prstGeom prst="roundRect">
            <a:avLst>
              <a:gd fmla="val 6316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968496" y="3767328"/>
            <a:ext cx="148132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Firmar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9"/>
          <p:cNvCxnSpPr/>
          <p:nvPr/>
        </p:nvCxnSpPr>
        <p:spPr>
          <a:xfrm>
            <a:off x="5623560" y="4041648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9"/>
          <p:cNvSpPr/>
          <p:nvPr/>
        </p:nvSpPr>
        <p:spPr>
          <a:xfrm>
            <a:off x="6995160" y="3611880"/>
            <a:ext cx="1417320" cy="868680"/>
          </a:xfrm>
          <a:prstGeom prst="roundRect">
            <a:avLst>
              <a:gd fmla="val 6316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031736" y="3767328"/>
            <a:ext cx="13441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Firma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8549640" y="4041648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9"/>
          <p:cNvSpPr/>
          <p:nvPr/>
        </p:nvSpPr>
        <p:spPr>
          <a:xfrm>
            <a:off x="9921240" y="3547872"/>
            <a:ext cx="1783080" cy="987552"/>
          </a:xfrm>
          <a:prstGeom prst="roundRect">
            <a:avLst>
              <a:gd fmla="val 5556" name="adj"/>
            </a:avLst>
          </a:prstGeom>
          <a:solidFill>
            <a:srgbClr val="0E2A47"/>
          </a:solidFill>
          <a:ln cap="flat" cmpd="sng" w="1395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9957816" y="3703320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Verificación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 clave pública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68680" y="5120640"/>
            <a:ext cx="10424160" cy="640080"/>
          </a:xfrm>
          <a:prstGeom prst="roundRect">
            <a:avLst>
              <a:gd fmla="val 11429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014984" y="5230368"/>
            <a:ext cx="101315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Firma = Sign(clave privada, transacción)   ·   Verificación = Verify(clave pública, firma)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4. ¿Qué es una wallet?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La wallet no guarda bitcoins: guarda las claves que permiten administrarlos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0058400" y="493776"/>
            <a:ext cx="105156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058400" y="544068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Wallet HD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68680" y="2057400"/>
            <a:ext cx="1097280" cy="640080"/>
          </a:xfrm>
          <a:prstGeom prst="roundRect">
            <a:avLst>
              <a:gd fmla="val 8571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905256" y="2212848"/>
            <a:ext cx="1024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Entropía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2084832" y="2377440"/>
            <a:ext cx="932688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10"/>
          <p:cNvSpPr/>
          <p:nvPr/>
        </p:nvSpPr>
        <p:spPr>
          <a:xfrm>
            <a:off x="3017520" y="1965960"/>
            <a:ext cx="1325880" cy="822960"/>
          </a:xfrm>
          <a:prstGeom prst="roundRect">
            <a:avLst>
              <a:gd fmla="val 6667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054096" y="2121408"/>
            <a:ext cx="1252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12 / 24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palabras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4480560" y="2377440"/>
            <a:ext cx="96012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10"/>
          <p:cNvSpPr/>
          <p:nvPr/>
        </p:nvSpPr>
        <p:spPr>
          <a:xfrm>
            <a:off x="5440680" y="2057400"/>
            <a:ext cx="1005840" cy="640080"/>
          </a:xfrm>
          <a:prstGeom prst="roundRect">
            <a:avLst>
              <a:gd fmla="val 8571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477256" y="2212848"/>
            <a:ext cx="932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0"/>
          <p:cNvCxnSpPr/>
          <p:nvPr/>
        </p:nvCxnSpPr>
        <p:spPr>
          <a:xfrm>
            <a:off x="6565392" y="2377440"/>
            <a:ext cx="1024128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10"/>
          <p:cNvSpPr/>
          <p:nvPr/>
        </p:nvSpPr>
        <p:spPr>
          <a:xfrm>
            <a:off x="7589520" y="1965960"/>
            <a:ext cx="1280160" cy="822960"/>
          </a:xfrm>
          <a:prstGeom prst="roundRect">
            <a:avLst>
              <a:gd fmla="val 6667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626096" y="2121408"/>
            <a:ext cx="12070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privadas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0"/>
          <p:cNvCxnSpPr/>
          <p:nvPr/>
        </p:nvCxnSpPr>
        <p:spPr>
          <a:xfrm>
            <a:off x="9006840" y="2377440"/>
            <a:ext cx="100584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10"/>
          <p:cNvSpPr/>
          <p:nvPr/>
        </p:nvSpPr>
        <p:spPr>
          <a:xfrm>
            <a:off x="10012680" y="1965960"/>
            <a:ext cx="1417320" cy="822960"/>
          </a:xfrm>
          <a:prstGeom prst="roundRect">
            <a:avLst>
              <a:gd fmla="val 6667" name="adj"/>
            </a:avLst>
          </a:prstGeom>
          <a:solidFill>
            <a:srgbClr val="0E2A47"/>
          </a:solidFill>
          <a:ln cap="flat" cmpd="sng" w="1395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0049256" y="212140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Direcciones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Bitcoin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68680" y="3703320"/>
            <a:ext cx="338328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68680" y="3703320"/>
            <a:ext cx="64008" cy="14173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033272" y="3840480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Funciones principales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033272" y="4142232"/>
            <a:ext cx="307238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Genera y administra claves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Deriva direcciones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Firma transacciones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Detecta UTXO asociados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26280" y="3703320"/>
            <a:ext cx="333756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526280" y="3703320"/>
            <a:ext cx="64008" cy="1417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690872" y="384048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Error común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690872" y="4142232"/>
            <a:ext cx="302666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Los bitcoins no “están dentro” de la wallet. Están registrados en la blockchain como UTXO.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138160" y="3703320"/>
            <a:ext cx="306324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138160" y="3703320"/>
            <a:ext cx="64008" cy="1417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8302752" y="384048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Definición docente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302752" y="4142232"/>
            <a:ext cx="275234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wallet es una interfaz criptográfica para recibir, organizar y gastar fondos en la red Bitcoin.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5. Relación entre wallet, firma digital y Bitcoin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se integra la parte criptográfica con la validación de red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11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1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14400" y="2743200"/>
            <a:ext cx="1143000" cy="731520"/>
          </a:xfrm>
          <a:prstGeom prst="roundRect">
            <a:avLst>
              <a:gd fmla="val 7500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950976" y="289864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Wallet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1"/>
          <p:cNvCxnSpPr/>
          <p:nvPr/>
        </p:nvCxnSpPr>
        <p:spPr>
          <a:xfrm>
            <a:off x="2176272" y="3108960"/>
            <a:ext cx="1069848" cy="0"/>
          </a:xfrm>
          <a:prstGeom prst="straightConnector1">
            <a:avLst/>
          </a:prstGeom>
          <a:noFill/>
          <a:ln cap="flat" cmpd="sng" w="2412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2" name="Google Shape;252;p11"/>
          <p:cNvSpPr/>
          <p:nvPr/>
        </p:nvSpPr>
        <p:spPr>
          <a:xfrm>
            <a:off x="3246120" y="2670048"/>
            <a:ext cx="1280160" cy="868680"/>
          </a:xfrm>
          <a:prstGeom prst="roundRect">
            <a:avLst>
              <a:gd fmla="val 6316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282696" y="2825496"/>
            <a:ext cx="120700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1"/>
          <p:cNvCxnSpPr/>
          <p:nvPr/>
        </p:nvCxnSpPr>
        <p:spPr>
          <a:xfrm>
            <a:off x="4645152" y="3108960"/>
            <a:ext cx="1069848" cy="0"/>
          </a:xfrm>
          <a:prstGeom prst="straightConnector1">
            <a:avLst/>
          </a:prstGeom>
          <a:noFill/>
          <a:ln cap="flat" cmpd="sng" w="2412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11"/>
          <p:cNvSpPr/>
          <p:nvPr/>
        </p:nvSpPr>
        <p:spPr>
          <a:xfrm>
            <a:off x="5715000" y="2670048"/>
            <a:ext cx="1280160" cy="868680"/>
          </a:xfrm>
          <a:prstGeom prst="roundRect">
            <a:avLst>
              <a:gd fmla="val 6316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751576" y="2825496"/>
            <a:ext cx="120700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Firma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11"/>
          <p:cNvCxnSpPr/>
          <p:nvPr/>
        </p:nvCxnSpPr>
        <p:spPr>
          <a:xfrm>
            <a:off x="7114032" y="3108960"/>
            <a:ext cx="1069848" cy="0"/>
          </a:xfrm>
          <a:prstGeom prst="straightConnector1">
            <a:avLst/>
          </a:prstGeom>
          <a:noFill/>
          <a:ln cap="flat" cmpd="sng" w="2412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1"/>
          <p:cNvSpPr/>
          <p:nvPr/>
        </p:nvSpPr>
        <p:spPr>
          <a:xfrm>
            <a:off x="8183880" y="2761488"/>
            <a:ext cx="1371600" cy="685800"/>
          </a:xfrm>
          <a:prstGeom prst="roundRect">
            <a:avLst>
              <a:gd fmla="val 8000" name="adj"/>
            </a:avLst>
          </a:prstGeom>
          <a:solidFill>
            <a:srgbClr val="0E2A47"/>
          </a:solidFill>
          <a:ln cap="flat" cmpd="sng" w="1395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220456" y="2916936"/>
            <a:ext cx="129844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1"/>
          <p:cNvCxnSpPr/>
          <p:nvPr/>
        </p:nvCxnSpPr>
        <p:spPr>
          <a:xfrm>
            <a:off x="9674352" y="3108960"/>
            <a:ext cx="1069848" cy="0"/>
          </a:xfrm>
          <a:prstGeom prst="straightConnector1">
            <a:avLst/>
          </a:prstGeom>
          <a:noFill/>
          <a:ln cap="flat" cmpd="sng" w="2412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11"/>
          <p:cNvSpPr/>
          <p:nvPr/>
        </p:nvSpPr>
        <p:spPr>
          <a:xfrm>
            <a:off x="10744200" y="2670048"/>
            <a:ext cx="1097280" cy="868680"/>
          </a:xfrm>
          <a:prstGeom prst="roundRect">
            <a:avLst>
              <a:gd fmla="val 6316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0780776" y="2825496"/>
            <a:ext cx="102412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Bitcoin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68680" y="1645920"/>
            <a:ext cx="4892040" cy="868680"/>
          </a:xfrm>
          <a:prstGeom prst="roundRect">
            <a:avLst>
              <a:gd fmla="val 6316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868680" y="1645920"/>
            <a:ext cx="64008" cy="8686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1033272" y="1783080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Secuencia didáctica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33272" y="2084832"/>
            <a:ext cx="458114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wallet gestiona la clave privada; la clave privada crea la firma; la firma autoriza la transacción; la red la verifica.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035040" y="1645920"/>
            <a:ext cx="5166360" cy="868680"/>
          </a:xfrm>
          <a:prstGeom prst="roundRect">
            <a:avLst>
              <a:gd fmla="val 6316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035040" y="1645920"/>
            <a:ext cx="64008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199632" y="1783080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Distinción clave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199632" y="2084832"/>
            <a:ext cx="485546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firma responde “¿quién puede gastar?”. El consenso responde “¿qué gasto queda registrado?”.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14400" y="4846320"/>
            <a:ext cx="10287000" cy="658368"/>
          </a:xfrm>
          <a:prstGeom prst="roundRect">
            <a:avLst>
              <a:gd fmla="val 11111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1060704" y="4956048"/>
            <a:ext cx="9994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Wallet → clave privada → firma → transacción → validación → bloque → blockchain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6. El doble gasto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2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2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El desafío central del dinero digital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12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2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914400" y="2651760"/>
            <a:ext cx="1280160" cy="777240"/>
          </a:xfrm>
          <a:prstGeom prst="roundRect">
            <a:avLst>
              <a:gd fmla="val 7059" name="adj"/>
            </a:avLst>
          </a:prstGeom>
          <a:solidFill>
            <a:srgbClr val="2A1634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950976" y="2807208"/>
            <a:ext cx="120700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2"/>
          <p:cNvCxnSpPr/>
          <p:nvPr/>
        </p:nvCxnSpPr>
        <p:spPr>
          <a:xfrm flipH="1" rot="10800000">
            <a:off x="2267712" y="1920240"/>
            <a:ext cx="2395728" cy="914400"/>
          </a:xfrm>
          <a:prstGeom prst="straightConnector1">
            <a:avLst/>
          </a:prstGeom>
          <a:noFill/>
          <a:ln cap="flat" cmpd="sng" w="30475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12"/>
          <p:cNvCxnSpPr/>
          <p:nvPr/>
        </p:nvCxnSpPr>
        <p:spPr>
          <a:xfrm>
            <a:off x="2267712" y="3127248"/>
            <a:ext cx="2395728" cy="969264"/>
          </a:xfrm>
          <a:prstGeom prst="straightConnector1">
            <a:avLst/>
          </a:prstGeom>
          <a:noFill/>
          <a:ln cap="flat" cmpd="sng" w="30475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12"/>
          <p:cNvSpPr/>
          <p:nvPr/>
        </p:nvSpPr>
        <p:spPr>
          <a:xfrm>
            <a:off x="4663440" y="1554480"/>
            <a:ext cx="1417320" cy="685800"/>
          </a:xfrm>
          <a:prstGeom prst="roundRect">
            <a:avLst>
              <a:gd fmla="val 8000" name="adj"/>
            </a:avLst>
          </a:prstGeom>
          <a:solidFill>
            <a:srgbClr val="0E2A47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700016" y="1709928"/>
            <a:ext cx="13441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recibe T1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663440" y="3767328"/>
            <a:ext cx="1417320" cy="685800"/>
          </a:xfrm>
          <a:prstGeom prst="roundRect">
            <a:avLst>
              <a:gd fmla="val 8000" name="adj"/>
            </a:avLst>
          </a:prstGeom>
          <a:solidFill>
            <a:srgbClr val="351620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4700016" y="3922776"/>
            <a:ext cx="13441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Carol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recibe T2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583680" y="182880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Ambas transacciones usan la misma “salida” previa.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583680" y="2468880"/>
            <a:ext cx="420624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583680" y="246888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748272" y="2606040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 pregunta decisiva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748272" y="2907792"/>
            <a:ext cx="38953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¿Cuál pago acepta la red como primero? Si no existe orden común, el dinero digital se puede copiar y gastar más de una vez.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583680" y="4069080"/>
            <a:ext cx="4206240" cy="777240"/>
          </a:xfrm>
          <a:prstGeom prst="roundRect">
            <a:avLst>
              <a:gd fmla="val 9412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38BDF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748272" y="4187952"/>
            <a:ext cx="387705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Solución de Satoshi: publicar transacciones en una red P2P y sellarlas temporalmente en bloques.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7. Servidor de timestamp distribuido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13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3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El historial se agrupa en bloques enlazados por hashes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3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13"/>
          <p:cNvCxnSpPr/>
          <p:nvPr/>
        </p:nvCxnSpPr>
        <p:spPr>
          <a:xfrm>
            <a:off x="2331720" y="2514600"/>
            <a:ext cx="45720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" name="Google Shape;311;p13"/>
          <p:cNvCxnSpPr/>
          <p:nvPr/>
        </p:nvCxnSpPr>
        <p:spPr>
          <a:xfrm>
            <a:off x="4270248" y="2514600"/>
            <a:ext cx="45720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3"/>
          <p:cNvCxnSpPr/>
          <p:nvPr/>
        </p:nvCxnSpPr>
        <p:spPr>
          <a:xfrm>
            <a:off x="6208776" y="2514600"/>
            <a:ext cx="45720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13"/>
          <p:cNvCxnSpPr/>
          <p:nvPr/>
        </p:nvCxnSpPr>
        <p:spPr>
          <a:xfrm>
            <a:off x="8147304" y="2514600"/>
            <a:ext cx="457200" cy="0"/>
          </a:xfrm>
          <a:prstGeom prst="straightConnector1">
            <a:avLst/>
          </a:prstGeom>
          <a:noFill/>
          <a:ln cap="flat" cmpd="sng" w="228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" name="Google Shape;314;p13"/>
          <p:cNvSpPr/>
          <p:nvPr/>
        </p:nvSpPr>
        <p:spPr>
          <a:xfrm>
            <a:off x="914400" y="2011680"/>
            <a:ext cx="1417320" cy="1005840"/>
          </a:xfrm>
          <a:prstGeom prst="roundRect">
            <a:avLst>
              <a:gd fmla="val 3636" name="adj"/>
            </a:avLst>
          </a:prstGeom>
          <a:solidFill>
            <a:srgbClr val="0B1D3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1005840" y="214884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 100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152144" y="245973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previo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852928" y="2011680"/>
            <a:ext cx="1417320" cy="1005840"/>
          </a:xfrm>
          <a:prstGeom prst="roundRect">
            <a:avLst>
              <a:gd fmla="val 3636" name="adj"/>
            </a:avLst>
          </a:prstGeom>
          <a:solidFill>
            <a:srgbClr val="0B1D3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2944368" y="214884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 101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090672" y="245973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previo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791456" y="2011680"/>
            <a:ext cx="1417320" cy="1005840"/>
          </a:xfrm>
          <a:prstGeom prst="roundRect">
            <a:avLst>
              <a:gd fmla="val 3636" name="adj"/>
            </a:avLst>
          </a:prstGeom>
          <a:solidFill>
            <a:srgbClr val="0B1D3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4882896" y="214884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 102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029200" y="245973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previo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6729984" y="2011680"/>
            <a:ext cx="1417320" cy="1005840"/>
          </a:xfrm>
          <a:prstGeom prst="roundRect">
            <a:avLst>
              <a:gd fmla="val 3636" name="adj"/>
            </a:avLst>
          </a:prstGeom>
          <a:solidFill>
            <a:srgbClr val="0B1D31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821424" y="214884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 103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967728" y="245973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previo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8668512" y="2011680"/>
            <a:ext cx="1417320" cy="1005840"/>
          </a:xfrm>
          <a:prstGeom prst="roundRect">
            <a:avLst>
              <a:gd fmla="val 3636" name="adj"/>
            </a:avLst>
          </a:prstGeom>
          <a:solidFill>
            <a:srgbClr val="0B1D31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8759952" y="214884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 104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906256" y="245973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previo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68680" y="3840480"/>
            <a:ext cx="352044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868680" y="3840480"/>
            <a:ext cx="64008" cy="1188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033272" y="3977640"/>
            <a:ext cx="3209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033272" y="4279392"/>
            <a:ext cx="32095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Cada bloque funciona como una prueba pública de que ciertas transacciones existían antes de que ese bloque fuera creado.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617720" y="3840480"/>
            <a:ext cx="352044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4617720" y="384048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4782312" y="3977640"/>
            <a:ext cx="3209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Encadenamiento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782312" y="4279392"/>
            <a:ext cx="32095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El hash del bloque anterior queda dentro del nuevo bloque: cambiar el pasado rompe toda la cadena posterior.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8366760" y="3840480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8366760" y="3840480"/>
            <a:ext cx="64008" cy="11887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8531352" y="3977640"/>
            <a:ext cx="2660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Orden común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531352" y="4279392"/>
            <a:ext cx="26609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red no necesita un juez central: necesita un mecanismo para acordar una secuencia verificable.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8. Hashing: una huella digital del bloque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14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4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Pequeños cambios producen resultados completamente diferentes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4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4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868680" y="1874520"/>
            <a:ext cx="1920240" cy="960120"/>
          </a:xfrm>
          <a:prstGeom prst="roundRect">
            <a:avLst>
              <a:gd fmla="val 5714" name="adj"/>
            </a:avLst>
          </a:prstGeom>
          <a:solidFill>
            <a:srgbClr val="12263D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905256" y="2029968"/>
            <a:ext cx="1847088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+ hash previo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+ nonce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4"/>
          <p:cNvCxnSpPr/>
          <p:nvPr/>
        </p:nvCxnSpPr>
        <p:spPr>
          <a:xfrm>
            <a:off x="2926080" y="2340864"/>
            <a:ext cx="123444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4"/>
          <p:cNvSpPr/>
          <p:nvPr/>
        </p:nvSpPr>
        <p:spPr>
          <a:xfrm>
            <a:off x="4160520" y="1938528"/>
            <a:ext cx="1417320" cy="777240"/>
          </a:xfrm>
          <a:prstGeom prst="roundRect">
            <a:avLst>
              <a:gd fmla="val 7059" name="adj"/>
            </a:avLst>
          </a:prstGeom>
          <a:solidFill>
            <a:srgbClr val="101827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4197096" y="2093976"/>
            <a:ext cx="134416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SHA-256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4"/>
          <p:cNvCxnSpPr/>
          <p:nvPr/>
        </p:nvCxnSpPr>
        <p:spPr>
          <a:xfrm>
            <a:off x="5715000" y="2340864"/>
            <a:ext cx="123444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14"/>
          <p:cNvSpPr/>
          <p:nvPr/>
        </p:nvSpPr>
        <p:spPr>
          <a:xfrm>
            <a:off x="6949440" y="1938528"/>
            <a:ext cx="1600200" cy="777240"/>
          </a:xfrm>
          <a:prstGeom prst="roundRect">
            <a:avLst>
              <a:gd fmla="val 7059" name="adj"/>
            </a:avLst>
          </a:prstGeom>
          <a:solidFill>
            <a:srgbClr val="0D2B48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6986016" y="2093976"/>
            <a:ext cx="152704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Hash del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68680" y="3657600"/>
            <a:ext cx="246888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868680" y="365760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1033272" y="37947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Propiedad 1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033272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Es fácil calcular el hash desde los datos.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611880" y="3657600"/>
            <a:ext cx="246888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611880" y="365760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776472" y="37947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Propiedad 2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776472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Es prácticamente imposible reconstruir los datos sólo desde el hash.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355080" y="3657600"/>
            <a:ext cx="246888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6355080" y="3657600"/>
            <a:ext cx="64008" cy="9144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519672" y="37947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Propiedad 3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519672" y="4096512"/>
            <a:ext cx="21579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Una modificación mínima altera completamente la salida.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098280" y="3657600"/>
            <a:ext cx="233172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9098280" y="3657600"/>
            <a:ext cx="64008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9262872" y="3794760"/>
            <a:ext cx="2020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Propiedad 4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9262872" y="4096512"/>
            <a:ext cx="20208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Permite detectar manipulación sin revelar todo el contenido.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097280" y="5074920"/>
            <a:ext cx="9921240" cy="640080"/>
          </a:xfrm>
          <a:prstGeom prst="roundRect">
            <a:avLst>
              <a:gd fmla="val 11429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1243584" y="5184648"/>
            <a:ext cx="9628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Inmutabilidad práctica = encadenamiento criptográfico + costo de recomputar Proof of Work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cyber_technology_concept_scene_in_batch_2.png" id="383" name="Google Shape;383;p15"/>
          <p:cNvPicPr preferRelativeResize="0"/>
          <p:nvPr/>
        </p:nvPicPr>
        <p:blipFill rotWithShape="1">
          <a:blip r:embed="rId3">
            <a:alphaModFix/>
          </a:blip>
          <a:srcRect b="6000" l="3000" r="8955" t="6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5"/>
          <p:cNvSpPr/>
          <p:nvPr/>
        </p:nvSpPr>
        <p:spPr>
          <a:xfrm>
            <a:off x="658368" y="47548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9. Proof of Work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5"/>
          <p:cNvCxnSpPr/>
          <p:nvPr/>
        </p:nvCxnSpPr>
        <p:spPr>
          <a:xfrm>
            <a:off x="658368" y="1051560"/>
            <a:ext cx="205740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5"/>
          <p:cNvSpPr/>
          <p:nvPr/>
        </p:nvSpPr>
        <p:spPr>
          <a:xfrm>
            <a:off x="777240" y="1600200"/>
            <a:ext cx="5943600" cy="749808"/>
          </a:xfrm>
          <a:prstGeom prst="roundRect">
            <a:avLst>
              <a:gd fmla="val 9756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941832" y="1719072"/>
            <a:ext cx="56144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Minería = buscar un nonce para que el hash del bloque cumpla una condición de dificultad.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777240" y="2743200"/>
            <a:ext cx="3840480" cy="640080"/>
          </a:xfrm>
          <a:prstGeom prst="roundRect">
            <a:avLst>
              <a:gd fmla="val 11429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23544" y="2852928"/>
            <a:ext cx="35478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Hash(bloque) &lt; Target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777240" y="3767328"/>
            <a:ext cx="3154680" cy="987552"/>
          </a:xfrm>
          <a:prstGeom prst="roundRect">
            <a:avLst>
              <a:gd fmla="val 5556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777240" y="3767328"/>
            <a:ext cx="64008" cy="98755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941832" y="3904488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prueba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941832" y="4206240"/>
            <a:ext cx="28437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Que alguien invirtió capacidad computacional real para producir ese bloque.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187952" y="3767328"/>
            <a:ext cx="3154680" cy="987552"/>
          </a:xfrm>
          <a:prstGeom prst="roundRect">
            <a:avLst>
              <a:gd fmla="val 5556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4187952" y="3767328"/>
            <a:ext cx="64008" cy="9875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4352544" y="3904488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impide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352544" y="4206240"/>
            <a:ext cx="28437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Que sea barato crear miles de identidades y manipular el historial.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7589520" y="3767328"/>
            <a:ext cx="3246120" cy="987552"/>
          </a:xfrm>
          <a:prstGeom prst="roundRect">
            <a:avLst>
              <a:gd fmla="val 5556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589520" y="3767328"/>
            <a:ext cx="64008" cy="98755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754112" y="3904488"/>
            <a:ext cx="2935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regula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754112" y="4206240"/>
            <a:ext cx="29352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dificultad ajusta el costo para mantener un ritmo aproximado de bloques.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1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5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10. Protocolo de red: ciclo operativo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6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6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Qué hacen los nodos en la práctica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16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6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16"/>
          <p:cNvCxnSpPr/>
          <p:nvPr/>
        </p:nvCxnSpPr>
        <p:spPr>
          <a:xfrm>
            <a:off x="2697480" y="2112264"/>
            <a:ext cx="850392" cy="0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16"/>
          <p:cNvCxnSpPr/>
          <p:nvPr/>
        </p:nvCxnSpPr>
        <p:spPr>
          <a:xfrm>
            <a:off x="5440680" y="2112264"/>
            <a:ext cx="850392" cy="0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p16"/>
          <p:cNvCxnSpPr/>
          <p:nvPr/>
        </p:nvCxnSpPr>
        <p:spPr>
          <a:xfrm flipH="1">
            <a:off x="6291072" y="2112264"/>
            <a:ext cx="1892808" cy="2194560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9" name="Google Shape;419;p16"/>
          <p:cNvCxnSpPr/>
          <p:nvPr/>
        </p:nvCxnSpPr>
        <p:spPr>
          <a:xfrm rot="10800000">
            <a:off x="3547872" y="4306824"/>
            <a:ext cx="4636008" cy="0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0" name="Google Shape;420;p16"/>
          <p:cNvCxnSpPr/>
          <p:nvPr/>
        </p:nvCxnSpPr>
        <p:spPr>
          <a:xfrm rot="10800000">
            <a:off x="804672" y="4306824"/>
            <a:ext cx="4636008" cy="0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16"/>
          <p:cNvCxnSpPr/>
          <p:nvPr/>
        </p:nvCxnSpPr>
        <p:spPr>
          <a:xfrm rot="10800000">
            <a:off x="896112" y="2148840"/>
            <a:ext cx="18288" cy="2130552"/>
          </a:xfrm>
          <a:prstGeom prst="straightConnector1">
            <a:avLst/>
          </a:prstGeom>
          <a:noFill/>
          <a:ln cap="flat" cmpd="sng" w="215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2" name="Google Shape;422;p16"/>
          <p:cNvSpPr/>
          <p:nvPr/>
        </p:nvSpPr>
        <p:spPr>
          <a:xfrm>
            <a:off x="914400" y="169164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1024128" y="185623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389888" y="183794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Transacciones nuevas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 transmiten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3657600" y="169164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3767328" y="185623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133088" y="183794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Cada nodo las reúne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 un bloque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6400800" y="169164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6510528" y="185623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6876288" y="183794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Busca Proof of Work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para ese bloque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6400800" y="388620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6510528" y="405079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6876288" y="403250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Difunde el bloque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cuando lo encuentra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3657600" y="388620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3767328" y="405079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4133088" y="403250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Otros nodos verifican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reglas y firmas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914400" y="3886200"/>
            <a:ext cx="1828800" cy="841248"/>
          </a:xfrm>
          <a:prstGeom prst="roundRect">
            <a:avLst>
              <a:gd fmla="val 6522" name="adj"/>
            </a:avLst>
          </a:prstGeom>
          <a:solidFill>
            <a:srgbClr val="0D2138"/>
          </a:solidFill>
          <a:ln cap="flat" cmpd="sng" w="139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1024128" y="4050792"/>
            <a:ext cx="29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389888" y="403250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Trabajan sobre la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cadena aceptada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8823960" y="1993392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8988552" y="2112264"/>
            <a:ext cx="2231136" cy="14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Bitcoin es una red de validadores: no alcanza con minar; cada nodo puede rechazar bloques inválidos.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11. Consenso: de “cadena más larga” a “mayor trabajo acumulado”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7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17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Precisión conceptual para enseñar bien Bitcoin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17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7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7"/>
          <p:cNvCxnSpPr/>
          <p:nvPr/>
        </p:nvCxnSpPr>
        <p:spPr>
          <a:xfrm>
            <a:off x="1005840" y="2743200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7"/>
          <p:cNvCxnSpPr/>
          <p:nvPr/>
        </p:nvCxnSpPr>
        <p:spPr>
          <a:xfrm>
            <a:off x="3108960" y="2743200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5" name="Google Shape;455;p17"/>
          <p:cNvSpPr/>
          <p:nvPr/>
        </p:nvSpPr>
        <p:spPr>
          <a:xfrm>
            <a:off x="384048" y="2450592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420624" y="2606040"/>
            <a:ext cx="6126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2240280" y="2450592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2276856" y="2606040"/>
            <a:ext cx="6126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315968" y="2450592"/>
            <a:ext cx="68580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4352544" y="2606040"/>
            <a:ext cx="6126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6419088" y="1700784"/>
            <a:ext cx="777240" cy="502920"/>
          </a:xfrm>
          <a:prstGeom prst="roundRect">
            <a:avLst>
              <a:gd fmla="val 10909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6455664" y="1856232"/>
            <a:ext cx="7040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103A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549640" y="1700784"/>
            <a:ext cx="777240" cy="502920"/>
          </a:xfrm>
          <a:prstGeom prst="roundRect">
            <a:avLst>
              <a:gd fmla="val 10909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8586216" y="1856232"/>
            <a:ext cx="7040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104A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0652760" y="1700784"/>
            <a:ext cx="777240" cy="502920"/>
          </a:xfrm>
          <a:prstGeom prst="roundRect">
            <a:avLst>
              <a:gd fmla="val 10909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10689336" y="1856232"/>
            <a:ext cx="7040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105A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6419088" y="3456432"/>
            <a:ext cx="777240" cy="502920"/>
          </a:xfrm>
          <a:prstGeom prst="roundRect">
            <a:avLst>
              <a:gd fmla="val 10909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6455664" y="3611880"/>
            <a:ext cx="7040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103B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510528" y="10972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Rama preferida: mayor PoW acumulado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6510528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Rama huérfana / no seleccionada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868680" y="4800600"/>
            <a:ext cx="5212080" cy="731520"/>
          </a:xfrm>
          <a:prstGeom prst="roundRect">
            <a:avLst>
              <a:gd fmla="val 10000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1033272" y="4919472"/>
            <a:ext cx="48828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Regla de selección: seguir la cadena válida que representa más trabajo acumulado.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492240" y="4663440"/>
            <a:ext cx="39776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6492240" y="466344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6656832" y="4800600"/>
            <a:ext cx="3666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6656832" y="5102352"/>
            <a:ext cx="3666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“Más larga” es una simplificación. Técnicamente importa el trabajo acumulado, no sólo contar bloques.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17"/>
          <p:cNvCxnSpPr/>
          <p:nvPr/>
        </p:nvCxnSpPr>
        <p:spPr>
          <a:xfrm flipH="1" rot="10800000">
            <a:off x="5001768" y="1952352"/>
            <a:ext cx="1417200" cy="74970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17"/>
          <p:cNvCxnSpPr/>
          <p:nvPr/>
        </p:nvCxnSpPr>
        <p:spPr>
          <a:xfrm>
            <a:off x="5001768" y="2702052"/>
            <a:ext cx="1417200" cy="10059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17"/>
          <p:cNvCxnSpPr/>
          <p:nvPr/>
        </p:nvCxnSpPr>
        <p:spPr>
          <a:xfrm>
            <a:off x="7196328" y="1952244"/>
            <a:ext cx="1353300" cy="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17"/>
          <p:cNvCxnSpPr/>
          <p:nvPr/>
        </p:nvCxnSpPr>
        <p:spPr>
          <a:xfrm>
            <a:off x="9326880" y="1952244"/>
            <a:ext cx="1326000" cy="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8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12. Validar ≠ elegir cadena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18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8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Dos preguntas distintas que suelen confundirse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18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8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914400" y="1828800"/>
            <a:ext cx="4389120" cy="1371600"/>
          </a:xfrm>
          <a:prstGeom prst="roundRect">
            <a:avLst>
              <a:gd fmla="val 4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914400" y="1828800"/>
            <a:ext cx="64008" cy="1371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1078992" y="1965960"/>
            <a:ext cx="4078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A: ¿el bloque es válido?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1078992" y="2267712"/>
            <a:ext cx="4078224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Firmas correctas, transacciones no gastadas, reglas de emisión, tamaño/formato, Proof of Work válido.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6903720" y="1828800"/>
            <a:ext cx="4023360" cy="1371600"/>
          </a:xfrm>
          <a:prstGeom prst="roundRect">
            <a:avLst>
              <a:gd fmla="val 4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6903720" y="1828800"/>
            <a:ext cx="64008" cy="1371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7068312" y="1965960"/>
            <a:ext cx="3712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B: ¿qué historial seguimos?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7068312" y="2267712"/>
            <a:ext cx="3712464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 hay varias ramas válidas, los nodos eligen la de mayor trabajo acumulado.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18"/>
          <p:cNvCxnSpPr/>
          <p:nvPr/>
        </p:nvCxnSpPr>
        <p:spPr>
          <a:xfrm>
            <a:off x="5440680" y="2514600"/>
            <a:ext cx="1280160" cy="0"/>
          </a:xfrm>
          <a:prstGeom prst="straightConnector1">
            <a:avLst/>
          </a:prstGeom>
          <a:noFill/>
          <a:ln cap="flat" cmpd="sng" w="2540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1" name="Google Shape;501;p18"/>
          <p:cNvSpPr/>
          <p:nvPr/>
        </p:nvSpPr>
        <p:spPr>
          <a:xfrm>
            <a:off x="1828800" y="3886200"/>
            <a:ext cx="8412480" cy="685800"/>
          </a:xfrm>
          <a:prstGeom prst="roundRect">
            <a:avLst>
              <a:gd fmla="val 10667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1975104" y="3995928"/>
            <a:ext cx="811987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Bloque válido puede no terminar en la cadena final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1417320" y="498348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Ejemplo: dos mineros encuentran bloques casi al mismo tiempo. Ambos pueden ser válidos, pero sólo una rama será extendida mayoritariamente.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13. Confirmaciones y finalidad probabilística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" name="Google Shape;510;p19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19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Cada bloque encima hace más costoso revertir una transacción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9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9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19"/>
          <p:cNvCxnSpPr/>
          <p:nvPr/>
        </p:nvCxnSpPr>
        <p:spPr>
          <a:xfrm>
            <a:off x="1737360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6" name="Google Shape;516;p19"/>
          <p:cNvCxnSpPr/>
          <p:nvPr/>
        </p:nvCxnSpPr>
        <p:spPr>
          <a:xfrm>
            <a:off x="3273552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7" name="Google Shape;517;p19"/>
          <p:cNvCxnSpPr/>
          <p:nvPr/>
        </p:nvCxnSpPr>
        <p:spPr>
          <a:xfrm>
            <a:off x="4809744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19"/>
          <p:cNvCxnSpPr/>
          <p:nvPr/>
        </p:nvCxnSpPr>
        <p:spPr>
          <a:xfrm>
            <a:off x="6345936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19"/>
          <p:cNvCxnSpPr/>
          <p:nvPr/>
        </p:nvCxnSpPr>
        <p:spPr>
          <a:xfrm>
            <a:off x="7882128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0" name="Google Shape;520;p19"/>
          <p:cNvCxnSpPr/>
          <p:nvPr/>
        </p:nvCxnSpPr>
        <p:spPr>
          <a:xfrm>
            <a:off x="9418320" y="233172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1" name="Google Shape;521;p19"/>
          <p:cNvSpPr/>
          <p:nvPr/>
        </p:nvSpPr>
        <p:spPr>
          <a:xfrm>
            <a:off x="914400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9"/>
          <p:cNvSpPr/>
          <p:nvPr/>
        </p:nvSpPr>
        <p:spPr>
          <a:xfrm>
            <a:off x="950976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incluida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2450592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9"/>
          <p:cNvSpPr/>
          <p:nvPr/>
        </p:nvSpPr>
        <p:spPr>
          <a:xfrm>
            <a:off x="2487168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2404872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3986784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4023360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3941064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5522976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5559552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5477256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7059168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7095744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7013448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8595360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9"/>
          <p:cNvSpPr/>
          <p:nvPr/>
        </p:nvSpPr>
        <p:spPr>
          <a:xfrm>
            <a:off x="8631936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8549640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10131552" y="2011680"/>
            <a:ext cx="822960" cy="640080"/>
          </a:xfrm>
          <a:prstGeom prst="roundRect">
            <a:avLst>
              <a:gd fmla="val 8571" name="adj"/>
            </a:avLst>
          </a:prstGeom>
          <a:solidFill>
            <a:srgbClr val="0D2B48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10168128" y="216712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10085832" y="2770632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conf.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868680" y="3794760"/>
            <a:ext cx="5486400" cy="786384"/>
          </a:xfrm>
          <a:prstGeom prst="roundRect">
            <a:avLst>
              <a:gd fmla="val 9302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"/>
          <p:cNvSpPr/>
          <p:nvPr/>
        </p:nvSpPr>
        <p:spPr>
          <a:xfrm>
            <a:off x="1033272" y="3913632"/>
            <a:ext cx="5157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Seguridad no absoluta: la probabilidad de reversión cae a medida que aumenta la ventaja de la cadena honesta.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6766560" y="3703320"/>
            <a:ext cx="411480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6766560" y="3703320"/>
            <a:ext cx="64008" cy="10058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6931152" y="3840480"/>
            <a:ext cx="3803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Modelo de Satoshi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931152" y="4142232"/>
            <a:ext cx="3803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 p &gt; q, donde p es el poder honesto y q el del atacante, cada confirmación reduce la probabilidad de alcance del atacante.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1051560" y="5166360"/>
            <a:ext cx="9966960" cy="594360"/>
          </a:xfrm>
          <a:prstGeom prst="roundRect">
            <a:avLst>
              <a:gd fmla="val 12308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1197864" y="5276088"/>
            <a:ext cx="967435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Más confirmaciones → más trabajo por rehacer → menor probabilidad de doble gasto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14. Ataque: reescribir la historia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20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20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Qué pasa si alguien intenta revertir un pago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2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20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868680" y="15361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Cadena honesta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868680" y="3547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Cadena atacante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20"/>
          <p:cNvCxnSpPr/>
          <p:nvPr/>
        </p:nvCxnSpPr>
        <p:spPr>
          <a:xfrm>
            <a:off x="2487168" y="2331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3" name="Google Shape;563;p20"/>
          <p:cNvSpPr/>
          <p:nvPr/>
        </p:nvSpPr>
        <p:spPr>
          <a:xfrm>
            <a:off x="1828800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1865376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20"/>
          <p:cNvCxnSpPr/>
          <p:nvPr/>
        </p:nvCxnSpPr>
        <p:spPr>
          <a:xfrm>
            <a:off x="3566160" y="2331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6" name="Google Shape;566;p20"/>
          <p:cNvSpPr/>
          <p:nvPr/>
        </p:nvSpPr>
        <p:spPr>
          <a:xfrm>
            <a:off x="2907792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2944368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20"/>
          <p:cNvCxnSpPr/>
          <p:nvPr/>
        </p:nvCxnSpPr>
        <p:spPr>
          <a:xfrm>
            <a:off x="4645152" y="2331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9" name="Google Shape;569;p20"/>
          <p:cNvSpPr/>
          <p:nvPr/>
        </p:nvSpPr>
        <p:spPr>
          <a:xfrm>
            <a:off x="3986784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4023360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20"/>
          <p:cNvCxnSpPr/>
          <p:nvPr/>
        </p:nvCxnSpPr>
        <p:spPr>
          <a:xfrm>
            <a:off x="5724144" y="2331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2" name="Google Shape;572;p20"/>
          <p:cNvSpPr/>
          <p:nvPr/>
        </p:nvSpPr>
        <p:spPr>
          <a:xfrm>
            <a:off x="5065776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102352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20"/>
          <p:cNvCxnSpPr/>
          <p:nvPr/>
        </p:nvCxnSpPr>
        <p:spPr>
          <a:xfrm>
            <a:off x="6803136" y="2331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5" name="Google Shape;575;p20"/>
          <p:cNvSpPr/>
          <p:nvPr/>
        </p:nvSpPr>
        <p:spPr>
          <a:xfrm>
            <a:off x="6144768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6181344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H5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7223760" y="20391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7260336" y="21945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20"/>
          <p:cNvCxnSpPr/>
          <p:nvPr/>
        </p:nvCxnSpPr>
        <p:spPr>
          <a:xfrm>
            <a:off x="2487168" y="43891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0" name="Google Shape;580;p20"/>
          <p:cNvSpPr/>
          <p:nvPr/>
        </p:nvSpPr>
        <p:spPr>
          <a:xfrm>
            <a:off x="1828800" y="40965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1865376" y="42519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20"/>
          <p:cNvCxnSpPr/>
          <p:nvPr/>
        </p:nvCxnSpPr>
        <p:spPr>
          <a:xfrm>
            <a:off x="3566160" y="43891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20"/>
          <p:cNvSpPr/>
          <p:nvPr/>
        </p:nvSpPr>
        <p:spPr>
          <a:xfrm>
            <a:off x="2907792" y="40965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2944368" y="42519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20"/>
          <p:cNvCxnSpPr/>
          <p:nvPr/>
        </p:nvCxnSpPr>
        <p:spPr>
          <a:xfrm>
            <a:off x="4645152" y="43891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20"/>
          <p:cNvSpPr/>
          <p:nvPr/>
        </p:nvSpPr>
        <p:spPr>
          <a:xfrm>
            <a:off x="3986784" y="40965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4023360" y="42519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5065776" y="4096512"/>
            <a:ext cx="658368" cy="530352"/>
          </a:xfrm>
          <a:prstGeom prst="roundRect">
            <a:avLst>
              <a:gd fmla="val 10345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5102352" y="42519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8138160" y="1600200"/>
            <a:ext cx="306324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8138160" y="1600200"/>
            <a:ext cx="64008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8302752" y="173736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Para ganar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8302752" y="2039112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El atacante debe producir una cadena alternativa con igual o mayor trabajo acumulado que la cadena honesta.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8138160" y="3063240"/>
            <a:ext cx="306324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8138160" y="3063240"/>
            <a:ext cx="64008" cy="10972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0"/>
          <p:cNvSpPr/>
          <p:nvPr/>
        </p:nvSpPr>
        <p:spPr>
          <a:xfrm>
            <a:off x="8302752" y="320040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Si q &lt; 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8302752" y="3502152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En promedio, queda cada vez más atrás. La probabilidad de alcanzar cae con las confirmaciones.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8138160" y="4526280"/>
            <a:ext cx="30632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0"/>
          <p:cNvSpPr/>
          <p:nvPr/>
        </p:nvSpPr>
        <p:spPr>
          <a:xfrm>
            <a:off x="8138160" y="4526280"/>
            <a:ext cx="64008" cy="914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8302752" y="466344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Si q &gt; 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8302752" y="4965192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Puede alcanzar con alta probabilidad: origen de la idea de “51% attack”.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1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15. Qué puede y no puede hacer un atacante mayoritario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21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21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Un matiz clave para una clase rigurosa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21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21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868680" y="1737360"/>
            <a:ext cx="4617720" cy="2103120"/>
          </a:xfrm>
          <a:prstGeom prst="roundRect">
            <a:avLst>
              <a:gd fmla="val 2609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1"/>
          <p:cNvSpPr/>
          <p:nvPr/>
        </p:nvSpPr>
        <p:spPr>
          <a:xfrm>
            <a:off x="868680" y="1737360"/>
            <a:ext cx="64008" cy="2103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1033272" y="1874520"/>
            <a:ext cx="4306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Puede intentar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1033272" y="2176272"/>
            <a:ext cx="430682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Reorganizar bloques recientes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Revertir sus propios pagos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Ejecutar doble gasto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Censurar temporalmente transacciones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6629400" y="1737360"/>
            <a:ext cx="4617720" cy="2103120"/>
          </a:xfrm>
          <a:prstGeom prst="roundRect">
            <a:avLst>
              <a:gd fmla="val 2609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6629400" y="1737360"/>
            <a:ext cx="64008" cy="21031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6793992" y="1874520"/>
            <a:ext cx="4306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 puede, por sí solo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6793992" y="2176272"/>
            <a:ext cx="430682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Firmar por otros usuarios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Gastar monedas ajenas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Cambiar reglas de consenso aceptadas por nodos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Crear bitcoins arbitrariamente bajo las reglas vigentes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1005840" y="4617720"/>
            <a:ext cx="10149840" cy="685800"/>
          </a:xfrm>
          <a:prstGeom prst="roundRect">
            <a:avLst>
              <a:gd fmla="val 10667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1152144" y="4727448"/>
            <a:ext cx="985723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Seguridad = criptografía + validación de nodos + costo económico + incentivos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1234440" y="548640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minería propone bloques; los nodos verifican reglas. Esa separación protege al sistema frente a bloques inválidos.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16. Incentivos económicos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22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22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Por qué alguien dedicaría recursos a asegurar la red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2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2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914400" y="2423160"/>
            <a:ext cx="1188720" cy="685800"/>
          </a:xfrm>
          <a:prstGeom prst="roundRect">
            <a:avLst>
              <a:gd fmla="val 8000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950976" y="2578608"/>
            <a:ext cx="11155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Minero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22"/>
          <p:cNvCxnSpPr/>
          <p:nvPr/>
        </p:nvCxnSpPr>
        <p:spPr>
          <a:xfrm>
            <a:off x="2240280" y="2743200"/>
            <a:ext cx="150876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22"/>
          <p:cNvSpPr/>
          <p:nvPr/>
        </p:nvSpPr>
        <p:spPr>
          <a:xfrm>
            <a:off x="3749040" y="2359152"/>
            <a:ext cx="1188720" cy="804672"/>
          </a:xfrm>
          <a:prstGeom prst="roundRect">
            <a:avLst>
              <a:gd fmla="val 6818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3785616" y="2514600"/>
            <a:ext cx="1115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Bloque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válido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22"/>
          <p:cNvCxnSpPr/>
          <p:nvPr/>
        </p:nvCxnSpPr>
        <p:spPr>
          <a:xfrm>
            <a:off x="5102352" y="2743200"/>
            <a:ext cx="1527048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22"/>
          <p:cNvSpPr/>
          <p:nvPr/>
        </p:nvSpPr>
        <p:spPr>
          <a:xfrm>
            <a:off x="6629400" y="2359152"/>
            <a:ext cx="1463040" cy="804672"/>
          </a:xfrm>
          <a:prstGeom prst="roundRect">
            <a:avLst>
              <a:gd fmla="val 6818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6665976" y="251460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Recompensa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+ fees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22"/>
          <p:cNvCxnSpPr/>
          <p:nvPr/>
        </p:nvCxnSpPr>
        <p:spPr>
          <a:xfrm>
            <a:off x="8211312" y="2743200"/>
            <a:ext cx="1481328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22"/>
          <p:cNvSpPr/>
          <p:nvPr/>
        </p:nvSpPr>
        <p:spPr>
          <a:xfrm>
            <a:off x="9692640" y="2359152"/>
            <a:ext cx="1463040" cy="804672"/>
          </a:xfrm>
          <a:prstGeom prst="roundRect">
            <a:avLst>
              <a:gd fmla="val 6818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9729216" y="251460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 red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868680" y="4069080"/>
            <a:ext cx="28346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868680" y="406908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2"/>
          <p:cNvSpPr/>
          <p:nvPr/>
        </p:nvSpPr>
        <p:spPr>
          <a:xfrm>
            <a:off x="1033272" y="420624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Block reward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1033272" y="4507992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transacción coinbase crea nuevas monedas para quien encuentra el bloque.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3886200" y="4069080"/>
            <a:ext cx="28346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2"/>
          <p:cNvSpPr/>
          <p:nvPr/>
        </p:nvSpPr>
        <p:spPr>
          <a:xfrm>
            <a:off x="3886200" y="406908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4050792" y="420624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Transaction fees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4050792" y="4507992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Las comisiones pagan prioridad e incentivan inclusión de transacciones.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6903720" y="4069080"/>
            <a:ext cx="356616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"/>
          <p:cNvSpPr/>
          <p:nvPr/>
        </p:nvSpPr>
        <p:spPr>
          <a:xfrm>
            <a:off x="6903720" y="4069080"/>
            <a:ext cx="64008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7068312" y="4206240"/>
            <a:ext cx="3255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Juego económico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7068312" y="4507992"/>
            <a:ext cx="3255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Atacar puede destruir valor; participar honestamente permite capturar recompensas.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3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17. Árboles de Merkle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23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23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Una forma eficiente de resumir muchas transacciones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p2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23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23"/>
          <p:cNvCxnSpPr/>
          <p:nvPr/>
        </p:nvCxnSpPr>
        <p:spPr>
          <a:xfrm flipH="1">
            <a:off x="4114800" y="1828800"/>
            <a:ext cx="137160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0" name="Google Shape;670;p23"/>
          <p:cNvCxnSpPr/>
          <p:nvPr/>
        </p:nvCxnSpPr>
        <p:spPr>
          <a:xfrm>
            <a:off x="5486400" y="1828800"/>
            <a:ext cx="137160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1" name="Google Shape;671;p23"/>
          <p:cNvCxnSpPr/>
          <p:nvPr/>
        </p:nvCxnSpPr>
        <p:spPr>
          <a:xfrm flipH="1">
            <a:off x="3017520" y="3063240"/>
            <a:ext cx="109728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2" name="Google Shape;672;p23"/>
          <p:cNvCxnSpPr/>
          <p:nvPr/>
        </p:nvCxnSpPr>
        <p:spPr>
          <a:xfrm>
            <a:off x="4114800" y="3063240"/>
            <a:ext cx="73152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3" name="Google Shape;673;p23"/>
          <p:cNvCxnSpPr/>
          <p:nvPr/>
        </p:nvCxnSpPr>
        <p:spPr>
          <a:xfrm flipH="1">
            <a:off x="6126480" y="3063240"/>
            <a:ext cx="73152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4" name="Google Shape;674;p23"/>
          <p:cNvCxnSpPr/>
          <p:nvPr/>
        </p:nvCxnSpPr>
        <p:spPr>
          <a:xfrm>
            <a:off x="6858000" y="3063240"/>
            <a:ext cx="1097280" cy="82296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5" name="Google Shape;675;p23"/>
          <p:cNvSpPr/>
          <p:nvPr/>
        </p:nvSpPr>
        <p:spPr>
          <a:xfrm>
            <a:off x="4892040" y="1847088"/>
            <a:ext cx="1188720" cy="658368"/>
          </a:xfrm>
          <a:prstGeom prst="roundRect">
            <a:avLst>
              <a:gd fmla="val 8333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"/>
          <p:cNvSpPr/>
          <p:nvPr/>
        </p:nvSpPr>
        <p:spPr>
          <a:xfrm>
            <a:off x="4928616" y="2002536"/>
            <a:ext cx="11155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3657600" y="2606040"/>
            <a:ext cx="91440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3694176" y="2761488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H12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6400800" y="2606040"/>
            <a:ext cx="91440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6437376" y="2761488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H34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2606040" y="3886200"/>
            <a:ext cx="777240" cy="475488"/>
          </a:xfrm>
          <a:prstGeom prst="roundRect">
            <a:avLst>
              <a:gd fmla="val 11538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2642616" y="4041648"/>
            <a:ext cx="704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4434840" y="3886200"/>
            <a:ext cx="777240" cy="475488"/>
          </a:xfrm>
          <a:prstGeom prst="roundRect">
            <a:avLst>
              <a:gd fmla="val 11538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4471416" y="4041648"/>
            <a:ext cx="704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5715000" y="3886200"/>
            <a:ext cx="777240" cy="475488"/>
          </a:xfrm>
          <a:prstGeom prst="roundRect">
            <a:avLst>
              <a:gd fmla="val 11538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5751576" y="4041648"/>
            <a:ext cx="704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7543800" y="3886200"/>
            <a:ext cx="777240" cy="475488"/>
          </a:xfrm>
          <a:prstGeom prst="roundRect">
            <a:avLst>
              <a:gd fmla="val 11538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3"/>
          <p:cNvSpPr/>
          <p:nvPr/>
        </p:nvSpPr>
        <p:spPr>
          <a:xfrm>
            <a:off x="7580376" y="4041648"/>
            <a:ext cx="704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3"/>
          <p:cNvSpPr/>
          <p:nvPr/>
        </p:nvSpPr>
        <p:spPr>
          <a:xfrm>
            <a:off x="822960" y="5074920"/>
            <a:ext cx="3931920" cy="868680"/>
          </a:xfrm>
          <a:prstGeom prst="roundRect">
            <a:avLst>
              <a:gd fmla="val 6316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>
            <a:off x="822960" y="5074920"/>
            <a:ext cx="64008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987552" y="5212080"/>
            <a:ext cx="36210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Para qué sirven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987552" y="5513832"/>
            <a:ext cx="3621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Permiten probar que una transacción está dentro de un bloque sin descargar todas las transacciones.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5532120" y="5074920"/>
            <a:ext cx="4297680" cy="868680"/>
          </a:xfrm>
          <a:prstGeom prst="roundRect">
            <a:avLst>
              <a:gd fmla="val 6316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5532120" y="5074920"/>
            <a:ext cx="64008" cy="8686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5696712" y="5212080"/>
            <a:ext cx="3986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intuitiva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5696712" y="5513832"/>
            <a:ext cx="398678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raíz de Merkle es una huella compacta de todo el conjunto de transacciones.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4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18. SPV: verificación simplificada de pagos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24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24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No todos los usuarios necesitan guardar toda la blockchain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24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6" name="Google Shape;706;p24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868680" y="2331720"/>
            <a:ext cx="1554480" cy="685800"/>
          </a:xfrm>
          <a:prstGeom prst="roundRect">
            <a:avLst>
              <a:gd fmla="val 8000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4"/>
          <p:cNvSpPr/>
          <p:nvPr/>
        </p:nvSpPr>
        <p:spPr>
          <a:xfrm>
            <a:off x="905256" y="2487168"/>
            <a:ext cx="14813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Cliente liviano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24"/>
          <p:cNvCxnSpPr/>
          <p:nvPr/>
        </p:nvCxnSpPr>
        <p:spPr>
          <a:xfrm>
            <a:off x="2542032" y="2670048"/>
            <a:ext cx="1664208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1" name="Google Shape;711;p24"/>
          <p:cNvSpPr/>
          <p:nvPr/>
        </p:nvSpPr>
        <p:spPr>
          <a:xfrm>
            <a:off x="4206240" y="2240280"/>
            <a:ext cx="1508760" cy="822960"/>
          </a:xfrm>
          <a:prstGeom prst="roundRect">
            <a:avLst>
              <a:gd fmla="val 6667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4"/>
          <p:cNvSpPr/>
          <p:nvPr/>
        </p:nvSpPr>
        <p:spPr>
          <a:xfrm>
            <a:off x="4242816" y="2395728"/>
            <a:ext cx="14356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Headers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 bloques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24"/>
          <p:cNvCxnSpPr/>
          <p:nvPr/>
        </p:nvCxnSpPr>
        <p:spPr>
          <a:xfrm>
            <a:off x="5852160" y="2670048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4" name="Google Shape;714;p24"/>
          <p:cNvSpPr/>
          <p:nvPr/>
        </p:nvSpPr>
        <p:spPr>
          <a:xfrm>
            <a:off x="7498080" y="2240280"/>
            <a:ext cx="1508760" cy="822960"/>
          </a:xfrm>
          <a:prstGeom prst="roundRect">
            <a:avLst>
              <a:gd fmla="val 6667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4"/>
          <p:cNvSpPr/>
          <p:nvPr/>
        </p:nvSpPr>
        <p:spPr>
          <a:xfrm>
            <a:off x="7534656" y="2395728"/>
            <a:ext cx="14356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24"/>
          <p:cNvCxnSpPr/>
          <p:nvPr/>
        </p:nvCxnSpPr>
        <p:spPr>
          <a:xfrm>
            <a:off x="9144000" y="2670048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24"/>
          <p:cNvSpPr/>
          <p:nvPr/>
        </p:nvSpPr>
        <p:spPr>
          <a:xfrm>
            <a:off x="10332720" y="2240280"/>
            <a:ext cx="1234440" cy="822960"/>
          </a:xfrm>
          <a:prstGeom prst="roundRect">
            <a:avLst>
              <a:gd fmla="val 6667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>
            <a:off x="10369296" y="2395728"/>
            <a:ext cx="11612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Pago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verificado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868680" y="4160520"/>
            <a:ext cx="301752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4"/>
          <p:cNvSpPr/>
          <p:nvPr/>
        </p:nvSpPr>
        <p:spPr>
          <a:xfrm>
            <a:off x="868680" y="4160520"/>
            <a:ext cx="64008" cy="10058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4"/>
          <p:cNvSpPr/>
          <p:nvPr/>
        </p:nvSpPr>
        <p:spPr>
          <a:xfrm>
            <a:off x="1033272" y="4297680"/>
            <a:ext cx="2706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1033272" y="4599432"/>
            <a:ext cx="27066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Menos almacenamiento y verificación más liviana: útil para usuarios finales.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4297680" y="4160520"/>
            <a:ext cx="338328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4"/>
          <p:cNvSpPr/>
          <p:nvPr/>
        </p:nvSpPr>
        <p:spPr>
          <a:xfrm>
            <a:off x="4297680" y="4160520"/>
            <a:ext cx="64008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4"/>
          <p:cNvSpPr/>
          <p:nvPr/>
        </p:nvSpPr>
        <p:spPr>
          <a:xfrm>
            <a:off x="4462272" y="4297680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4462272" y="4599432"/>
            <a:ext cx="30723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Confía más en que la cadena con mayor trabajo contiene la transacción; no valida todo por sí mismo.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8092440" y="4160520"/>
            <a:ext cx="310896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4"/>
          <p:cNvSpPr/>
          <p:nvPr/>
        </p:nvSpPr>
        <p:spPr>
          <a:xfrm>
            <a:off x="8092440" y="4160520"/>
            <a:ext cx="64008" cy="10058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/>
          <p:nvPr/>
        </p:nvSpPr>
        <p:spPr>
          <a:xfrm>
            <a:off x="8257032" y="4297680"/>
            <a:ext cx="2798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Concepto docente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4"/>
          <p:cNvSpPr/>
          <p:nvPr/>
        </p:nvSpPr>
        <p:spPr>
          <a:xfrm>
            <a:off x="8257032" y="4599432"/>
            <a:ext cx="27980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SPV muestra una arquitectura por capas: nodos completos sostienen la verificación fuerte.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dark_infographic_style_illustration_with_a_batch_3.png" id="736" name="Google Shape;736;p25"/>
          <p:cNvPicPr preferRelativeResize="0"/>
          <p:nvPr/>
        </p:nvPicPr>
        <p:blipFill rotWithShape="1">
          <a:blip r:embed="rId3">
            <a:alphaModFix/>
          </a:blip>
          <a:srcRect b="7000" l="3000" r="8955" t="500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5"/>
          <p:cNvSpPr/>
          <p:nvPr/>
        </p:nvSpPr>
        <p:spPr>
          <a:xfrm>
            <a:off x="658368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19. Privacidad: pseudónimo, no anónimo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p25"/>
          <p:cNvCxnSpPr/>
          <p:nvPr/>
        </p:nvCxnSpPr>
        <p:spPr>
          <a:xfrm>
            <a:off x="658368" y="1042416"/>
            <a:ext cx="214884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9" name="Google Shape;739;p25"/>
          <p:cNvSpPr/>
          <p:nvPr/>
        </p:nvSpPr>
        <p:spPr>
          <a:xfrm>
            <a:off x="822960" y="1691640"/>
            <a:ext cx="333756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822960" y="1691640"/>
            <a:ext cx="64008" cy="10058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987552" y="182880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 que ve la blockchain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987552" y="2130552"/>
            <a:ext cx="3026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Direcciones / claves públicas y flujos de transacciones.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822960" y="2971800"/>
            <a:ext cx="333756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>
            <a:off x="822960" y="2971800"/>
            <a:ext cx="64008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987552" y="31089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 que no ve directamente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5"/>
          <p:cNvSpPr/>
          <p:nvPr/>
        </p:nvSpPr>
        <p:spPr>
          <a:xfrm>
            <a:off x="987552" y="3410712"/>
            <a:ext cx="3026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Nombre civil, DNI, empresa o identidad legal del usuario.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822960" y="4251960"/>
            <a:ext cx="3337560" cy="1005840"/>
          </a:xfrm>
          <a:prstGeom prst="roundRect">
            <a:avLst>
              <a:gd fmla="val 5455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5"/>
          <p:cNvSpPr/>
          <p:nvPr/>
        </p:nvSpPr>
        <p:spPr>
          <a:xfrm>
            <a:off x="822960" y="4251960"/>
            <a:ext cx="64008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5"/>
          <p:cNvSpPr/>
          <p:nvPr/>
        </p:nvSpPr>
        <p:spPr>
          <a:xfrm>
            <a:off x="987552" y="438912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Riesgo moderno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987552" y="4690872"/>
            <a:ext cx="3026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Análisis de grafos, exchanges y datos externos pueden vincular direcciones con identidades.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6035040" y="5010912"/>
            <a:ext cx="5166360" cy="713232"/>
          </a:xfrm>
          <a:prstGeom prst="roundRect">
            <a:avLst>
              <a:gd fmla="val 10256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5"/>
          <p:cNvSpPr/>
          <p:nvPr/>
        </p:nvSpPr>
        <p:spPr>
          <a:xfrm>
            <a:off x="6199632" y="5129784"/>
            <a:ext cx="483717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Recomendación del paper: usar nuevas claves para evitar vincular pagos. Aun así, Bitcoin no es “anónimo”.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2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25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6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20. Combining and Splitting Value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26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3" name="Google Shape;763;p26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Bitcoin combina y divide valor en las transacciones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4" name="Google Shape;764;p26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5" name="Google Shape;765;p26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9921240" y="493776"/>
            <a:ext cx="118872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6"/>
          <p:cNvSpPr/>
          <p:nvPr/>
        </p:nvSpPr>
        <p:spPr>
          <a:xfrm>
            <a:off x="9921240" y="5440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§9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868680" y="2057400"/>
            <a:ext cx="1325880" cy="749808"/>
          </a:xfrm>
          <a:prstGeom prst="roundRect">
            <a:avLst>
              <a:gd fmla="val 7317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6"/>
          <p:cNvSpPr/>
          <p:nvPr/>
        </p:nvSpPr>
        <p:spPr>
          <a:xfrm>
            <a:off x="905256" y="2212848"/>
            <a:ext cx="12527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Input 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0,30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6"/>
          <p:cNvSpPr/>
          <p:nvPr/>
        </p:nvSpPr>
        <p:spPr>
          <a:xfrm>
            <a:off x="868680" y="3703320"/>
            <a:ext cx="1325880" cy="749808"/>
          </a:xfrm>
          <a:prstGeom prst="roundRect">
            <a:avLst>
              <a:gd fmla="val 7317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6"/>
          <p:cNvSpPr/>
          <p:nvPr/>
        </p:nvSpPr>
        <p:spPr>
          <a:xfrm>
            <a:off x="905256" y="3858768"/>
            <a:ext cx="125272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Input B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0,50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26"/>
          <p:cNvCxnSpPr/>
          <p:nvPr/>
        </p:nvCxnSpPr>
        <p:spPr>
          <a:xfrm>
            <a:off x="2304288" y="2432304"/>
            <a:ext cx="1581912" cy="630936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26"/>
          <p:cNvCxnSpPr/>
          <p:nvPr/>
        </p:nvCxnSpPr>
        <p:spPr>
          <a:xfrm flipH="1" rot="10800000">
            <a:off x="2304288" y="3383280"/>
            <a:ext cx="1581912" cy="694944"/>
          </a:xfrm>
          <a:prstGeom prst="straightConnector1">
            <a:avLst/>
          </a:prstGeom>
          <a:noFill/>
          <a:ln cap="flat" cmpd="sng" w="2540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5" name="Google Shape;775;p26"/>
          <p:cNvSpPr/>
          <p:nvPr/>
        </p:nvSpPr>
        <p:spPr>
          <a:xfrm>
            <a:off x="3886200" y="2743200"/>
            <a:ext cx="1645920" cy="822960"/>
          </a:xfrm>
          <a:prstGeom prst="roundRect">
            <a:avLst>
              <a:gd fmla="val 6667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6"/>
          <p:cNvSpPr/>
          <p:nvPr/>
        </p:nvSpPr>
        <p:spPr>
          <a:xfrm>
            <a:off x="3922776" y="2898648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26"/>
          <p:cNvCxnSpPr/>
          <p:nvPr/>
        </p:nvCxnSpPr>
        <p:spPr>
          <a:xfrm flipH="1" rot="10800000">
            <a:off x="5669280" y="1993392"/>
            <a:ext cx="1828800" cy="1161288"/>
          </a:xfrm>
          <a:prstGeom prst="straightConnector1">
            <a:avLst/>
          </a:prstGeom>
          <a:noFill/>
          <a:ln cap="flat" cmpd="sng" w="2540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8" name="Google Shape;778;p26"/>
          <p:cNvCxnSpPr/>
          <p:nvPr/>
        </p:nvCxnSpPr>
        <p:spPr>
          <a:xfrm>
            <a:off x="5669280" y="3154680"/>
            <a:ext cx="1828800" cy="64008"/>
          </a:xfrm>
          <a:prstGeom prst="straightConnector1">
            <a:avLst/>
          </a:prstGeom>
          <a:noFill/>
          <a:ln cap="flat" cmpd="sng" w="2540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9" name="Google Shape;779;p26"/>
          <p:cNvCxnSpPr/>
          <p:nvPr/>
        </p:nvCxnSpPr>
        <p:spPr>
          <a:xfrm>
            <a:off x="5669280" y="3154680"/>
            <a:ext cx="1828800" cy="1289304"/>
          </a:xfrm>
          <a:prstGeom prst="straightConnector1">
            <a:avLst/>
          </a:prstGeom>
          <a:noFill/>
          <a:ln cap="flat" cmpd="sng" w="2540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0" name="Google Shape;780;p26"/>
          <p:cNvSpPr/>
          <p:nvPr/>
        </p:nvSpPr>
        <p:spPr>
          <a:xfrm>
            <a:off x="7498080" y="1645920"/>
            <a:ext cx="1463040" cy="685800"/>
          </a:xfrm>
          <a:prstGeom prst="roundRect">
            <a:avLst>
              <a:gd fmla="val 8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6"/>
          <p:cNvSpPr/>
          <p:nvPr/>
        </p:nvSpPr>
        <p:spPr>
          <a:xfrm>
            <a:off x="7534656" y="1801368"/>
            <a:ext cx="138988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0,65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7498080" y="2880360"/>
            <a:ext cx="1463040" cy="685800"/>
          </a:xfrm>
          <a:prstGeom prst="roundRect">
            <a:avLst>
              <a:gd fmla="val 8000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6"/>
          <p:cNvSpPr/>
          <p:nvPr/>
        </p:nvSpPr>
        <p:spPr>
          <a:xfrm>
            <a:off x="7534656" y="3035808"/>
            <a:ext cx="138988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0,14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7498080" y="4114800"/>
            <a:ext cx="1463040" cy="685800"/>
          </a:xfrm>
          <a:prstGeom prst="roundRect">
            <a:avLst>
              <a:gd fmla="val 8000" name="adj"/>
            </a:avLst>
          </a:prstGeom>
          <a:solidFill>
            <a:srgbClr val="2B1643"/>
          </a:solidFill>
          <a:ln cap="flat" cmpd="sng" w="13950">
            <a:solidFill>
              <a:srgbClr val="A78BFA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7534656" y="4270248"/>
            <a:ext cx="138988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0,01 BTC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6"/>
          <p:cNvSpPr/>
          <p:nvPr/>
        </p:nvSpPr>
        <p:spPr>
          <a:xfrm>
            <a:off x="868680" y="5074920"/>
            <a:ext cx="3977640" cy="621792"/>
          </a:xfrm>
          <a:prstGeom prst="roundRect">
            <a:avLst>
              <a:gd fmla="val 11765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6"/>
          <p:cNvSpPr/>
          <p:nvPr/>
        </p:nvSpPr>
        <p:spPr>
          <a:xfrm>
            <a:off x="1014984" y="5184648"/>
            <a:ext cx="3685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Inputs = Outputs + Fees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9281160" y="1554480"/>
            <a:ext cx="2011680" cy="1234440"/>
          </a:xfrm>
          <a:prstGeom prst="roundRect">
            <a:avLst>
              <a:gd fmla="val 4444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9281160" y="1554480"/>
            <a:ext cx="64008" cy="12344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6"/>
          <p:cNvSpPr/>
          <p:nvPr/>
        </p:nvSpPr>
        <p:spPr>
          <a:xfrm>
            <a:off x="9445752" y="16916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9445752" y="1993392"/>
            <a:ext cx="170078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Bitcoin no mueve “saldos de cuenta”. Consume salidas previas (inputs) y crea nuevas salidas (outputs).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9281160" y="2926080"/>
            <a:ext cx="2011680" cy="1234440"/>
          </a:xfrm>
          <a:prstGeom prst="roundRect">
            <a:avLst>
              <a:gd fmla="val 4444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9281160" y="2926080"/>
            <a:ext cx="64008" cy="1234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"/>
          <p:cNvSpPr/>
          <p:nvPr/>
        </p:nvSpPr>
        <p:spPr>
          <a:xfrm>
            <a:off x="9445752" y="30632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Por qué importa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9445752" y="3364992"/>
            <a:ext cx="170078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Permite combinar montos pequeños y devolver “change” al emisor dentro de la misma transacción.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9281160" y="4297680"/>
            <a:ext cx="201168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6"/>
          <p:cNvSpPr/>
          <p:nvPr/>
        </p:nvSpPr>
        <p:spPr>
          <a:xfrm>
            <a:off x="9281160" y="4297680"/>
            <a:ext cx="64008" cy="10972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6"/>
          <p:cNvSpPr/>
          <p:nvPr/>
        </p:nvSpPr>
        <p:spPr>
          <a:xfrm>
            <a:off x="9445752" y="44348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Puente conceptual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9445752" y="4736592"/>
            <a:ext cx="170078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Este es el paso que ayuda a entender el modelo UTXO cuando se enseña Bitcoin hoy.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7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21. Reclaiming Disk Space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6" name="Google Shape;806;p27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27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Satoshi propone ahorrar almacenamiento sin romper la integridad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27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p27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7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9875520" y="493776"/>
            <a:ext cx="123444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7"/>
          <p:cNvSpPr/>
          <p:nvPr/>
        </p:nvSpPr>
        <p:spPr>
          <a:xfrm>
            <a:off x="9875520" y="5440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§7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1280160" y="1508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7086600" y="15087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DESPUÉS DEL PRUNING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5" name="Google Shape;815;p27"/>
          <p:cNvCxnSpPr/>
          <p:nvPr/>
        </p:nvCxnSpPr>
        <p:spPr>
          <a:xfrm flipH="1">
            <a:off x="2011680" y="2057400"/>
            <a:ext cx="960120" cy="68580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6" name="Google Shape;816;p27"/>
          <p:cNvCxnSpPr/>
          <p:nvPr/>
        </p:nvCxnSpPr>
        <p:spPr>
          <a:xfrm>
            <a:off x="2971800" y="2057400"/>
            <a:ext cx="960120" cy="68580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7" name="Google Shape;817;p27"/>
          <p:cNvCxnSpPr/>
          <p:nvPr/>
        </p:nvCxnSpPr>
        <p:spPr>
          <a:xfrm flipH="1">
            <a:off x="141732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8" name="Google Shape;818;p27"/>
          <p:cNvCxnSpPr/>
          <p:nvPr/>
        </p:nvCxnSpPr>
        <p:spPr>
          <a:xfrm>
            <a:off x="201168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9" name="Google Shape;819;p27"/>
          <p:cNvCxnSpPr/>
          <p:nvPr/>
        </p:nvCxnSpPr>
        <p:spPr>
          <a:xfrm flipH="1">
            <a:off x="333756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0" name="Google Shape;820;p27"/>
          <p:cNvCxnSpPr/>
          <p:nvPr/>
        </p:nvCxnSpPr>
        <p:spPr>
          <a:xfrm>
            <a:off x="393192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1" name="Google Shape;821;p27"/>
          <p:cNvSpPr/>
          <p:nvPr/>
        </p:nvSpPr>
        <p:spPr>
          <a:xfrm>
            <a:off x="2377440" y="1874520"/>
            <a:ext cx="1188720" cy="594360"/>
          </a:xfrm>
          <a:prstGeom prst="roundRect">
            <a:avLst>
              <a:gd fmla="val 9231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2414016" y="2029968"/>
            <a:ext cx="11155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1554480" y="2743200"/>
            <a:ext cx="868680" cy="475488"/>
          </a:xfrm>
          <a:prstGeom prst="roundRect">
            <a:avLst>
              <a:gd fmla="val 11538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1591056" y="2898648"/>
            <a:ext cx="795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H01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3520440" y="2743200"/>
            <a:ext cx="868680" cy="475488"/>
          </a:xfrm>
          <a:prstGeom prst="roundRect">
            <a:avLst>
              <a:gd fmla="val 11538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7"/>
          <p:cNvSpPr/>
          <p:nvPr/>
        </p:nvSpPr>
        <p:spPr>
          <a:xfrm>
            <a:off x="3557016" y="2898648"/>
            <a:ext cx="795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H23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1024128" y="3822192"/>
            <a:ext cx="640080" cy="438912"/>
          </a:xfrm>
          <a:prstGeom prst="roundRect">
            <a:avLst>
              <a:gd fmla="val 12500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1060704" y="397764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2212848" y="3822192"/>
            <a:ext cx="640080" cy="438912"/>
          </a:xfrm>
          <a:prstGeom prst="roundRect">
            <a:avLst>
              <a:gd fmla="val 12500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7"/>
          <p:cNvSpPr/>
          <p:nvPr/>
        </p:nvSpPr>
        <p:spPr>
          <a:xfrm>
            <a:off x="2249424" y="397764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2944368" y="3822192"/>
            <a:ext cx="640080" cy="438912"/>
          </a:xfrm>
          <a:prstGeom prst="roundRect">
            <a:avLst>
              <a:gd fmla="val 12500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2980944" y="397764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4133088" y="3822192"/>
            <a:ext cx="640080" cy="438912"/>
          </a:xfrm>
          <a:prstGeom prst="roundRect">
            <a:avLst>
              <a:gd fmla="val 12500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4169664" y="397764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5" name="Google Shape;835;p27"/>
          <p:cNvCxnSpPr/>
          <p:nvPr/>
        </p:nvCxnSpPr>
        <p:spPr>
          <a:xfrm flipH="1">
            <a:off x="7360920" y="2057400"/>
            <a:ext cx="960120" cy="68580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6" name="Google Shape;836;p27"/>
          <p:cNvCxnSpPr/>
          <p:nvPr/>
        </p:nvCxnSpPr>
        <p:spPr>
          <a:xfrm>
            <a:off x="8321040" y="2057400"/>
            <a:ext cx="960120" cy="68580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7" name="Google Shape;837;p27"/>
          <p:cNvCxnSpPr/>
          <p:nvPr/>
        </p:nvCxnSpPr>
        <p:spPr>
          <a:xfrm flipH="1">
            <a:off x="868680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8" name="Google Shape;838;p27"/>
          <p:cNvCxnSpPr/>
          <p:nvPr/>
        </p:nvCxnSpPr>
        <p:spPr>
          <a:xfrm>
            <a:off x="9281160" y="3108960"/>
            <a:ext cx="594360" cy="713232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9" name="Google Shape;839;p27"/>
          <p:cNvSpPr/>
          <p:nvPr/>
        </p:nvSpPr>
        <p:spPr>
          <a:xfrm>
            <a:off x="7726680" y="1874520"/>
            <a:ext cx="1188720" cy="594360"/>
          </a:xfrm>
          <a:prstGeom prst="roundRect">
            <a:avLst>
              <a:gd fmla="val 9231" name="adj"/>
            </a:avLst>
          </a:prstGeom>
          <a:solidFill>
            <a:srgbClr val="2D2511"/>
          </a:solidFill>
          <a:ln cap="flat" cmpd="sng" w="139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7763256" y="2029968"/>
            <a:ext cx="11155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6903720" y="2743200"/>
            <a:ext cx="868680" cy="475488"/>
          </a:xfrm>
          <a:prstGeom prst="roundRect">
            <a:avLst>
              <a:gd fmla="val 11538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7"/>
          <p:cNvSpPr/>
          <p:nvPr/>
        </p:nvSpPr>
        <p:spPr>
          <a:xfrm>
            <a:off x="6940296" y="2898648"/>
            <a:ext cx="795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H01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8869680" y="2743200"/>
            <a:ext cx="868680" cy="475488"/>
          </a:xfrm>
          <a:prstGeom prst="roundRect">
            <a:avLst>
              <a:gd fmla="val 11538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7"/>
          <p:cNvSpPr/>
          <p:nvPr/>
        </p:nvSpPr>
        <p:spPr>
          <a:xfrm>
            <a:off x="8906256" y="2898648"/>
            <a:ext cx="795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H23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8339328" y="3822192"/>
            <a:ext cx="868680" cy="438912"/>
          </a:xfrm>
          <a:prstGeom prst="roundRect">
            <a:avLst>
              <a:gd fmla="val 12500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7"/>
          <p:cNvSpPr/>
          <p:nvPr/>
        </p:nvSpPr>
        <p:spPr>
          <a:xfrm>
            <a:off x="8375904" y="3977640"/>
            <a:ext cx="7955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Hash2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7"/>
          <p:cNvSpPr/>
          <p:nvPr/>
        </p:nvSpPr>
        <p:spPr>
          <a:xfrm>
            <a:off x="9802368" y="3822192"/>
            <a:ext cx="640080" cy="438912"/>
          </a:xfrm>
          <a:prstGeom prst="roundRect">
            <a:avLst>
              <a:gd fmla="val 12500" name="adj"/>
            </a:avLst>
          </a:prstGeom>
          <a:solidFill>
            <a:srgbClr val="10263B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7"/>
          <p:cNvSpPr/>
          <p:nvPr/>
        </p:nvSpPr>
        <p:spPr>
          <a:xfrm>
            <a:off x="9838944" y="397764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7"/>
          <p:cNvSpPr/>
          <p:nvPr/>
        </p:nvSpPr>
        <p:spPr>
          <a:xfrm>
            <a:off x="868680" y="4800600"/>
            <a:ext cx="3337560" cy="960120"/>
          </a:xfrm>
          <a:prstGeom prst="roundRect">
            <a:avLst>
              <a:gd fmla="val 5714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7"/>
          <p:cNvSpPr/>
          <p:nvPr/>
        </p:nvSpPr>
        <p:spPr>
          <a:xfrm>
            <a:off x="868680" y="4800600"/>
            <a:ext cx="64008" cy="9601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1033272" y="49377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1033272" y="5239512"/>
            <a:ext cx="302666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Una vez que una transacción está enterrada bajo suficientes bloques, parte del detalle histórico puede podarse.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4434840" y="4800600"/>
            <a:ext cx="3474720" cy="960120"/>
          </a:xfrm>
          <a:prstGeom prst="roundRect">
            <a:avLst>
              <a:gd fmla="val 5714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7"/>
          <p:cNvSpPr/>
          <p:nvPr/>
        </p:nvSpPr>
        <p:spPr>
          <a:xfrm>
            <a:off x="4434840" y="4800600"/>
            <a:ext cx="64008" cy="960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7"/>
          <p:cNvSpPr/>
          <p:nvPr/>
        </p:nvSpPr>
        <p:spPr>
          <a:xfrm>
            <a:off x="4599432" y="493776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Clave técnica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4599432" y="5239512"/>
            <a:ext cx="316382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Sólo la Merkle Root va en el header del bloque; por eso se pueden conservar pruebas compactas de integridad.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8183880" y="4800600"/>
            <a:ext cx="3063240" cy="960120"/>
          </a:xfrm>
          <a:prstGeom prst="roundRect">
            <a:avLst>
              <a:gd fmla="val 5714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7"/>
          <p:cNvSpPr/>
          <p:nvPr/>
        </p:nvSpPr>
        <p:spPr>
          <a:xfrm>
            <a:off x="8183880" y="4800600"/>
            <a:ext cx="64008" cy="9601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7"/>
          <p:cNvSpPr/>
          <p:nvPr/>
        </p:nvSpPr>
        <p:spPr>
          <a:xfrm>
            <a:off x="8348472" y="493776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Cálculo del paper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8348472" y="5239512"/>
            <a:ext cx="275234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80 bytes × 6 × 24 × 365 ≈ 4,2 MB/año en headers si hay 1 bloque cada 10 minutos.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8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22. “One-CPU-one-vote” y la cadena preferida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28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28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Lo que dice el paper y cómo lo interpretamos hoy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28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0" name="Google Shape;870;p28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8"/>
          <p:cNvSpPr/>
          <p:nvPr/>
        </p:nvSpPr>
        <p:spPr>
          <a:xfrm>
            <a:off x="9875520" y="493776"/>
            <a:ext cx="123444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8"/>
          <p:cNvSpPr/>
          <p:nvPr/>
        </p:nvSpPr>
        <p:spPr>
          <a:xfrm>
            <a:off x="9875520" y="54406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§4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8"/>
          <p:cNvSpPr/>
          <p:nvPr/>
        </p:nvSpPr>
        <p:spPr>
          <a:xfrm>
            <a:off x="868680" y="1691640"/>
            <a:ext cx="338328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8"/>
          <p:cNvSpPr/>
          <p:nvPr/>
        </p:nvSpPr>
        <p:spPr>
          <a:xfrm>
            <a:off x="868680" y="1691640"/>
            <a:ext cx="64008" cy="1417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8"/>
          <p:cNvSpPr/>
          <p:nvPr/>
        </p:nvSpPr>
        <p:spPr>
          <a:xfrm>
            <a:off x="1033272" y="1828800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Formulación del paper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1033272" y="2130552"/>
            <a:ext cx="307238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Proof of Work evita el criterio “una IP, un voto”. La representación de la mayoría surge del trabajo computacional aportado.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4434840" y="1691640"/>
            <a:ext cx="338328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8"/>
          <p:cNvSpPr/>
          <p:nvPr/>
        </p:nvSpPr>
        <p:spPr>
          <a:xfrm>
            <a:off x="4434840" y="1691640"/>
            <a:ext cx="64008" cy="14173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8"/>
          <p:cNvSpPr/>
          <p:nvPr/>
        </p:nvSpPr>
        <p:spPr>
          <a:xfrm>
            <a:off x="4599432" y="1828800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Lectura actual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8"/>
          <p:cNvSpPr/>
          <p:nvPr/>
        </p:nvSpPr>
        <p:spPr>
          <a:xfrm>
            <a:off x="4599432" y="2130552"/>
            <a:ext cx="307238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Hoy solemos hablar de hash power y de “most-work chain”: la cadena válida con mayor trabajo acumulado.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8"/>
          <p:cNvSpPr/>
          <p:nvPr/>
        </p:nvSpPr>
        <p:spPr>
          <a:xfrm>
            <a:off x="8001000" y="1691640"/>
            <a:ext cx="3246120" cy="1417320"/>
          </a:xfrm>
          <a:prstGeom prst="roundRect">
            <a:avLst>
              <a:gd fmla="val 3871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8"/>
          <p:cNvSpPr/>
          <p:nvPr/>
        </p:nvSpPr>
        <p:spPr>
          <a:xfrm>
            <a:off x="8001000" y="1691640"/>
            <a:ext cx="64008" cy="14173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8"/>
          <p:cNvSpPr/>
          <p:nvPr/>
        </p:nvSpPr>
        <p:spPr>
          <a:xfrm>
            <a:off x="8165592" y="1828800"/>
            <a:ext cx="2935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Precisión docente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8"/>
          <p:cNvSpPr/>
          <p:nvPr/>
        </p:nvSpPr>
        <p:spPr>
          <a:xfrm>
            <a:off x="8165592" y="2130552"/>
            <a:ext cx="293522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expresión “cadena más larga” funciona como atajo pedagógico, pero técnicamente importa el trabajo acumulado.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8"/>
          <p:cNvSpPr/>
          <p:nvPr/>
        </p:nvSpPr>
        <p:spPr>
          <a:xfrm>
            <a:off x="1051560" y="3657600"/>
            <a:ext cx="10012680" cy="749808"/>
          </a:xfrm>
          <a:prstGeom prst="roundRect">
            <a:avLst>
              <a:gd fmla="val 9756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8"/>
          <p:cNvSpPr/>
          <p:nvPr/>
        </p:nvSpPr>
        <p:spPr>
          <a:xfrm>
            <a:off x="1197864" y="3767328"/>
            <a:ext cx="97200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Cadena preferida = cadena válida con mayor trabajo acumulado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8"/>
          <p:cNvSpPr/>
          <p:nvPr/>
        </p:nvSpPr>
        <p:spPr>
          <a:xfrm>
            <a:off x="1051560" y="4892040"/>
            <a:ext cx="822960" cy="502920"/>
          </a:xfrm>
          <a:prstGeom prst="roundRect">
            <a:avLst>
              <a:gd fmla="val 10909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8"/>
          <p:cNvSpPr/>
          <p:nvPr/>
        </p:nvSpPr>
        <p:spPr>
          <a:xfrm>
            <a:off x="1088136" y="5047488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0" name="Google Shape;890;p28"/>
          <p:cNvCxnSpPr/>
          <p:nvPr/>
        </p:nvCxnSpPr>
        <p:spPr>
          <a:xfrm>
            <a:off x="1920240" y="5138928"/>
            <a:ext cx="1051560" cy="0"/>
          </a:xfrm>
          <a:prstGeom prst="straightConnector1">
            <a:avLst/>
          </a:prstGeom>
          <a:noFill/>
          <a:ln cap="flat" cmpd="sng" w="17775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1" name="Google Shape;891;p28"/>
          <p:cNvSpPr/>
          <p:nvPr/>
        </p:nvSpPr>
        <p:spPr>
          <a:xfrm>
            <a:off x="2971800" y="4892040"/>
            <a:ext cx="1143000" cy="502920"/>
          </a:xfrm>
          <a:prstGeom prst="roundRect">
            <a:avLst>
              <a:gd fmla="val 10909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8"/>
          <p:cNvSpPr/>
          <p:nvPr/>
        </p:nvSpPr>
        <p:spPr>
          <a:xfrm>
            <a:off x="3008376" y="5047488"/>
            <a:ext cx="10698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 basta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3" name="Google Shape;893;p28"/>
          <p:cNvCxnSpPr/>
          <p:nvPr/>
        </p:nvCxnSpPr>
        <p:spPr>
          <a:xfrm>
            <a:off x="4343400" y="5138928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4" name="Google Shape;894;p28"/>
          <p:cNvSpPr/>
          <p:nvPr/>
        </p:nvSpPr>
        <p:spPr>
          <a:xfrm>
            <a:off x="5577840" y="4892040"/>
            <a:ext cx="822960" cy="502920"/>
          </a:xfrm>
          <a:prstGeom prst="roundRect">
            <a:avLst>
              <a:gd fmla="val 10909" name="adj"/>
            </a:avLst>
          </a:prstGeom>
          <a:solidFill>
            <a:srgbClr val="0E2A47"/>
          </a:solidFill>
          <a:ln cap="flat" cmpd="sng" w="139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8"/>
          <p:cNvSpPr/>
          <p:nvPr/>
        </p:nvSpPr>
        <p:spPr>
          <a:xfrm>
            <a:off x="5614416" y="5047488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PoW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6" name="Google Shape;896;p28"/>
          <p:cNvCxnSpPr/>
          <p:nvPr/>
        </p:nvCxnSpPr>
        <p:spPr>
          <a:xfrm>
            <a:off x="6446520" y="5138928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7" name="Google Shape;897;p28"/>
          <p:cNvSpPr/>
          <p:nvPr/>
        </p:nvSpPr>
        <p:spPr>
          <a:xfrm>
            <a:off x="7680960" y="4736592"/>
            <a:ext cx="1325880" cy="822960"/>
          </a:xfrm>
          <a:prstGeom prst="roundRect">
            <a:avLst>
              <a:gd fmla="val 6667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8"/>
          <p:cNvSpPr/>
          <p:nvPr/>
        </p:nvSpPr>
        <p:spPr>
          <a:xfrm>
            <a:off x="7717536" y="4892040"/>
            <a:ext cx="1252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Mayoría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económica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8"/>
          <p:cNvSpPr/>
          <p:nvPr/>
        </p:nvSpPr>
        <p:spPr>
          <a:xfrm>
            <a:off x="9098280" y="480060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Comparado con el paper, esta slide aclara el paso desde la formulación de 2008 a la terminología técnica moderna.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9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23. Modelo matemático del atacante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6" name="Google Shape;906;p29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7" name="Google Shape;907;p29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Variables básicas del análisis probabilístico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8" name="Google Shape;908;p29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9" name="Google Shape;909;p29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9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9"/>
          <p:cNvSpPr/>
          <p:nvPr/>
        </p:nvSpPr>
        <p:spPr>
          <a:xfrm>
            <a:off x="9829800" y="493776"/>
            <a:ext cx="128016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9"/>
          <p:cNvSpPr/>
          <p:nvPr/>
        </p:nvSpPr>
        <p:spPr>
          <a:xfrm>
            <a:off x="9829800" y="5440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§11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9"/>
          <p:cNvSpPr/>
          <p:nvPr/>
        </p:nvSpPr>
        <p:spPr>
          <a:xfrm>
            <a:off x="868680" y="1691640"/>
            <a:ext cx="265176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9"/>
          <p:cNvSpPr/>
          <p:nvPr/>
        </p:nvSpPr>
        <p:spPr>
          <a:xfrm>
            <a:off x="868680" y="169164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9"/>
          <p:cNvSpPr/>
          <p:nvPr/>
        </p:nvSpPr>
        <p:spPr>
          <a:xfrm>
            <a:off x="1033272" y="1828800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9"/>
          <p:cNvSpPr/>
          <p:nvPr/>
        </p:nvSpPr>
        <p:spPr>
          <a:xfrm>
            <a:off x="1033272" y="213055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Probabilidad de que un nodo honesto encuentre el próximo bloque.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9"/>
          <p:cNvSpPr/>
          <p:nvPr/>
        </p:nvSpPr>
        <p:spPr>
          <a:xfrm>
            <a:off x="3749040" y="1691640"/>
            <a:ext cx="265176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9"/>
          <p:cNvSpPr/>
          <p:nvPr/>
        </p:nvSpPr>
        <p:spPr>
          <a:xfrm>
            <a:off x="3749040" y="169164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9"/>
          <p:cNvSpPr/>
          <p:nvPr/>
        </p:nvSpPr>
        <p:spPr>
          <a:xfrm>
            <a:off x="3913632" y="1828800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9"/>
          <p:cNvSpPr/>
          <p:nvPr/>
        </p:nvSpPr>
        <p:spPr>
          <a:xfrm>
            <a:off x="3913632" y="213055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Probabilidad de que el atacante encuentre el próximo bloque.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9"/>
          <p:cNvSpPr/>
          <p:nvPr/>
        </p:nvSpPr>
        <p:spPr>
          <a:xfrm>
            <a:off x="6629400" y="1691640"/>
            <a:ext cx="457200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9"/>
          <p:cNvSpPr/>
          <p:nvPr/>
        </p:nvSpPr>
        <p:spPr>
          <a:xfrm>
            <a:off x="6629400" y="1691640"/>
            <a:ext cx="64008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9"/>
          <p:cNvSpPr/>
          <p:nvPr/>
        </p:nvSpPr>
        <p:spPr>
          <a:xfrm>
            <a:off x="6793992" y="1828800"/>
            <a:ext cx="4261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9"/>
          <p:cNvSpPr/>
          <p:nvPr/>
        </p:nvSpPr>
        <p:spPr>
          <a:xfrm>
            <a:off x="6793992" y="2130552"/>
            <a:ext cx="42611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Cantidad de bloques de ventaja o confirmaciones que observa el receptor.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1097280" y="2971800"/>
            <a:ext cx="2103120" cy="621792"/>
          </a:xfrm>
          <a:prstGeom prst="roundRect">
            <a:avLst>
              <a:gd fmla="val 11765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9"/>
          <p:cNvSpPr/>
          <p:nvPr/>
        </p:nvSpPr>
        <p:spPr>
          <a:xfrm>
            <a:off x="1243584" y="3081528"/>
            <a:ext cx="18105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 + q = 1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9"/>
          <p:cNvSpPr/>
          <p:nvPr/>
        </p:nvSpPr>
        <p:spPr>
          <a:xfrm>
            <a:off x="3749040" y="2880360"/>
            <a:ext cx="7452360" cy="777240"/>
          </a:xfrm>
          <a:prstGeom prst="roundRect">
            <a:avLst>
              <a:gd fmla="val 9412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9"/>
          <p:cNvSpPr/>
          <p:nvPr/>
        </p:nvSpPr>
        <p:spPr>
          <a:xfrm>
            <a:off x="3895344" y="2990088"/>
            <a:ext cx="7159752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q_z = 1 si p ≤ q   ;   q_z = (q/p)^z si p &gt; q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914400" y="40690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Interpretación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868680" y="4389120"/>
            <a:ext cx="3840480" cy="1024128"/>
          </a:xfrm>
          <a:prstGeom prst="roundRect">
            <a:avLst>
              <a:gd fmla="val 5357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9"/>
          <p:cNvSpPr/>
          <p:nvPr/>
        </p:nvSpPr>
        <p:spPr>
          <a:xfrm>
            <a:off x="868680" y="4389120"/>
            <a:ext cx="64008" cy="102412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9"/>
          <p:cNvSpPr/>
          <p:nvPr/>
        </p:nvSpPr>
        <p:spPr>
          <a:xfrm>
            <a:off x="1033272" y="4526280"/>
            <a:ext cx="3529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Carrera entre cadenas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9"/>
          <p:cNvSpPr/>
          <p:nvPr/>
        </p:nvSpPr>
        <p:spPr>
          <a:xfrm>
            <a:off x="1033272" y="4828032"/>
            <a:ext cx="3529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Cada nuevo bloque honesto aumenta la ventaja de la cadena honesta. Cada bloque del atacante la reduce.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9"/>
          <p:cNvSpPr/>
          <p:nvPr/>
        </p:nvSpPr>
        <p:spPr>
          <a:xfrm>
            <a:off x="4983480" y="4389120"/>
            <a:ext cx="3840480" cy="1024128"/>
          </a:xfrm>
          <a:prstGeom prst="roundRect">
            <a:avLst>
              <a:gd fmla="val 5357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9"/>
          <p:cNvSpPr/>
          <p:nvPr/>
        </p:nvSpPr>
        <p:spPr>
          <a:xfrm>
            <a:off x="4983480" y="4389120"/>
            <a:ext cx="64008" cy="102412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9"/>
          <p:cNvSpPr/>
          <p:nvPr/>
        </p:nvSpPr>
        <p:spPr>
          <a:xfrm>
            <a:off x="5148072" y="4526280"/>
            <a:ext cx="3529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Conclusión intuitiva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148072" y="4828032"/>
            <a:ext cx="3529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 el atacante tiene menos poder que la red honesta, su probabilidad de alcance cae exponencialmente con z.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9"/>
          <p:cNvSpPr/>
          <p:nvPr/>
        </p:nvSpPr>
        <p:spPr>
          <a:xfrm>
            <a:off x="9144000" y="4483100"/>
            <a:ext cx="2476500" cy="11685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Lectura del modelo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La ventaja z y el poder relativo q determinan el riesgo. Una flecha aislada no representa la carrera entre cadenas.</a:t>
            </a:r>
            <a:endParaRPr sz="1150">
              <a:solidFill>
                <a:srgbClr val="DDE8F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0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24. Confirmaciones: Gambler’s Ruin y distribución de Poisson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30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6" name="Google Shape;946;p30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estima Satoshi la probabilidad de reversión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3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30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0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0"/>
          <p:cNvSpPr/>
          <p:nvPr/>
        </p:nvSpPr>
        <p:spPr>
          <a:xfrm>
            <a:off x="9829800" y="493776"/>
            <a:ext cx="128016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0"/>
          <p:cNvSpPr/>
          <p:nvPr/>
        </p:nvSpPr>
        <p:spPr>
          <a:xfrm>
            <a:off x="9829800" y="5440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§11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0"/>
          <p:cNvSpPr/>
          <p:nvPr/>
        </p:nvSpPr>
        <p:spPr>
          <a:xfrm>
            <a:off x="868680" y="1691640"/>
            <a:ext cx="3474720" cy="1143000"/>
          </a:xfrm>
          <a:prstGeom prst="roundRect">
            <a:avLst>
              <a:gd fmla="val 48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0"/>
          <p:cNvSpPr/>
          <p:nvPr/>
        </p:nvSpPr>
        <p:spPr>
          <a:xfrm>
            <a:off x="868680" y="1691640"/>
            <a:ext cx="64008" cy="1143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0"/>
          <p:cNvSpPr/>
          <p:nvPr/>
        </p:nvSpPr>
        <p:spPr>
          <a:xfrm>
            <a:off x="1033272" y="182880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1 · Gambler’s Ruin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0"/>
          <p:cNvSpPr/>
          <p:nvPr/>
        </p:nvSpPr>
        <p:spPr>
          <a:xfrm>
            <a:off x="1033272" y="2130552"/>
            <a:ext cx="31638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Al atacante se lo modela como alguien que parte desde atrás y trata de “alcanzar” a la cadena honesta.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0"/>
          <p:cNvSpPr/>
          <p:nvPr/>
        </p:nvSpPr>
        <p:spPr>
          <a:xfrm>
            <a:off x="4526280" y="1691640"/>
            <a:ext cx="3474720" cy="1143000"/>
          </a:xfrm>
          <a:prstGeom prst="roundRect">
            <a:avLst>
              <a:gd fmla="val 48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0"/>
          <p:cNvSpPr/>
          <p:nvPr/>
        </p:nvSpPr>
        <p:spPr>
          <a:xfrm>
            <a:off x="4526280" y="1691640"/>
            <a:ext cx="64008" cy="1143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0"/>
          <p:cNvSpPr/>
          <p:nvPr/>
        </p:nvSpPr>
        <p:spPr>
          <a:xfrm>
            <a:off x="4690872" y="182880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2 · Espera del receptor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0"/>
          <p:cNvSpPr/>
          <p:nvPr/>
        </p:nvSpPr>
        <p:spPr>
          <a:xfrm>
            <a:off x="4690872" y="2130552"/>
            <a:ext cx="31638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El receptor espera z confirmaciones antes de considerar suficientemente seguro el pago recibido.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0"/>
          <p:cNvSpPr/>
          <p:nvPr/>
        </p:nvSpPr>
        <p:spPr>
          <a:xfrm>
            <a:off x="8183880" y="1691640"/>
            <a:ext cx="3017520" cy="1143000"/>
          </a:xfrm>
          <a:prstGeom prst="roundRect">
            <a:avLst>
              <a:gd fmla="val 48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0"/>
          <p:cNvSpPr/>
          <p:nvPr/>
        </p:nvSpPr>
        <p:spPr>
          <a:xfrm>
            <a:off x="8183880" y="1691640"/>
            <a:ext cx="64008" cy="11430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0"/>
          <p:cNvSpPr/>
          <p:nvPr/>
        </p:nvSpPr>
        <p:spPr>
          <a:xfrm>
            <a:off x="8348472" y="1828800"/>
            <a:ext cx="2706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3 · Progreso del atacante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0"/>
          <p:cNvSpPr/>
          <p:nvPr/>
        </p:nvSpPr>
        <p:spPr>
          <a:xfrm>
            <a:off x="8348472" y="2130552"/>
            <a:ext cx="2706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Mientras la cadena honesta agrega z bloques, el avance secreto del atacante se modela con Poisson.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0"/>
          <p:cNvSpPr/>
          <p:nvPr/>
        </p:nvSpPr>
        <p:spPr>
          <a:xfrm>
            <a:off x="868680" y="3246120"/>
            <a:ext cx="2926080" cy="658368"/>
          </a:xfrm>
          <a:prstGeom prst="roundRect">
            <a:avLst>
              <a:gd fmla="val 11111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0"/>
          <p:cNvSpPr/>
          <p:nvPr/>
        </p:nvSpPr>
        <p:spPr>
          <a:xfrm>
            <a:off x="1014984" y="3355848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λ = z · (q / p)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0"/>
          <p:cNvSpPr/>
          <p:nvPr/>
        </p:nvSpPr>
        <p:spPr>
          <a:xfrm>
            <a:off x="4069080" y="3127248"/>
            <a:ext cx="3794760" cy="896112"/>
          </a:xfrm>
          <a:prstGeom prst="roundRect">
            <a:avLst>
              <a:gd fmla="val 6122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0"/>
          <p:cNvSpPr/>
          <p:nvPr/>
        </p:nvSpPr>
        <p:spPr>
          <a:xfrm>
            <a:off x="4069080" y="3127248"/>
            <a:ext cx="64008" cy="89611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0"/>
          <p:cNvSpPr/>
          <p:nvPr/>
        </p:nvSpPr>
        <p:spPr>
          <a:xfrm>
            <a:off x="4233672" y="32644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Lectura intuitiva de λ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0"/>
          <p:cNvSpPr/>
          <p:nvPr/>
        </p:nvSpPr>
        <p:spPr>
          <a:xfrm>
            <a:off x="4233672" y="356616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λ es el progreso esperado del atacante mientras el receptor espera z bloques honestos.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0"/>
          <p:cNvSpPr/>
          <p:nvPr/>
        </p:nvSpPr>
        <p:spPr>
          <a:xfrm>
            <a:off x="914400" y="431596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Escenario visual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30"/>
          <p:cNvCxnSpPr/>
          <p:nvPr/>
        </p:nvCxnSpPr>
        <p:spPr>
          <a:xfrm>
            <a:off x="17556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2" name="Google Shape;972;p30"/>
          <p:cNvSpPr/>
          <p:nvPr/>
        </p:nvSpPr>
        <p:spPr>
          <a:xfrm>
            <a:off x="10972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0"/>
          <p:cNvSpPr/>
          <p:nvPr/>
        </p:nvSpPr>
        <p:spPr>
          <a:xfrm>
            <a:off x="11338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4" name="Google Shape;974;p30"/>
          <p:cNvCxnSpPr/>
          <p:nvPr/>
        </p:nvCxnSpPr>
        <p:spPr>
          <a:xfrm>
            <a:off x="26700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5" name="Google Shape;975;p30"/>
          <p:cNvSpPr/>
          <p:nvPr/>
        </p:nvSpPr>
        <p:spPr>
          <a:xfrm>
            <a:off x="20116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0"/>
          <p:cNvSpPr/>
          <p:nvPr/>
        </p:nvSpPr>
        <p:spPr>
          <a:xfrm>
            <a:off x="20482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7" name="Google Shape;977;p30"/>
          <p:cNvCxnSpPr/>
          <p:nvPr/>
        </p:nvCxnSpPr>
        <p:spPr>
          <a:xfrm>
            <a:off x="35844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8" name="Google Shape;978;p30"/>
          <p:cNvSpPr/>
          <p:nvPr/>
        </p:nvSpPr>
        <p:spPr>
          <a:xfrm>
            <a:off x="29260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0"/>
          <p:cNvSpPr/>
          <p:nvPr/>
        </p:nvSpPr>
        <p:spPr>
          <a:xfrm>
            <a:off x="29626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0" name="Google Shape;980;p30"/>
          <p:cNvCxnSpPr/>
          <p:nvPr/>
        </p:nvCxnSpPr>
        <p:spPr>
          <a:xfrm>
            <a:off x="44988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1" name="Google Shape;981;p30"/>
          <p:cNvSpPr/>
          <p:nvPr/>
        </p:nvSpPr>
        <p:spPr>
          <a:xfrm>
            <a:off x="38404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0"/>
          <p:cNvSpPr/>
          <p:nvPr/>
        </p:nvSpPr>
        <p:spPr>
          <a:xfrm>
            <a:off x="38770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0"/>
          <p:cNvSpPr/>
          <p:nvPr/>
        </p:nvSpPr>
        <p:spPr>
          <a:xfrm>
            <a:off x="47548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102E1F"/>
          </a:solidFill>
          <a:ln cap="flat" cmpd="sng" w="13950">
            <a:solidFill>
              <a:srgbClr val="22C55E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0"/>
          <p:cNvSpPr/>
          <p:nvPr/>
        </p:nvSpPr>
        <p:spPr>
          <a:xfrm>
            <a:off x="47914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0"/>
          <p:cNvSpPr/>
          <p:nvPr/>
        </p:nvSpPr>
        <p:spPr>
          <a:xfrm>
            <a:off x="1051560" y="532180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Cadena honesta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6" name="Google Shape;986;p30"/>
          <p:cNvCxnSpPr/>
          <p:nvPr/>
        </p:nvCxnSpPr>
        <p:spPr>
          <a:xfrm>
            <a:off x="72420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7" name="Google Shape;987;p30"/>
          <p:cNvSpPr/>
          <p:nvPr/>
        </p:nvSpPr>
        <p:spPr>
          <a:xfrm>
            <a:off x="65836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0"/>
          <p:cNvSpPr/>
          <p:nvPr/>
        </p:nvSpPr>
        <p:spPr>
          <a:xfrm>
            <a:off x="66202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30"/>
          <p:cNvCxnSpPr/>
          <p:nvPr/>
        </p:nvCxnSpPr>
        <p:spPr>
          <a:xfrm>
            <a:off x="8156448" y="4983480"/>
            <a:ext cx="182880" cy="0"/>
          </a:xfrm>
          <a:prstGeom prst="straightConnector1">
            <a:avLst/>
          </a:prstGeom>
          <a:noFill/>
          <a:ln cap="flat" cmpd="sng" w="1650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0" name="Google Shape;990;p30"/>
          <p:cNvSpPr/>
          <p:nvPr/>
        </p:nvSpPr>
        <p:spPr>
          <a:xfrm>
            <a:off x="74980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0"/>
          <p:cNvSpPr/>
          <p:nvPr/>
        </p:nvSpPr>
        <p:spPr>
          <a:xfrm>
            <a:off x="75346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0"/>
          <p:cNvSpPr/>
          <p:nvPr/>
        </p:nvSpPr>
        <p:spPr>
          <a:xfrm>
            <a:off x="8412480" y="4709160"/>
            <a:ext cx="658368" cy="457200"/>
          </a:xfrm>
          <a:prstGeom prst="roundRect">
            <a:avLst>
              <a:gd fmla="val 12000" name="adj"/>
            </a:avLst>
          </a:prstGeom>
          <a:solidFill>
            <a:srgbClr val="33181B"/>
          </a:solidFill>
          <a:ln cap="flat" cmpd="sng" w="13950">
            <a:solidFill>
              <a:srgbClr val="EF4444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0"/>
          <p:cNvSpPr/>
          <p:nvPr/>
        </p:nvSpPr>
        <p:spPr>
          <a:xfrm>
            <a:off x="8449056" y="4864608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6537960" y="532180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Cadena secreta del atacante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0"/>
          <p:cNvSpPr/>
          <p:nvPr/>
        </p:nvSpPr>
        <p:spPr>
          <a:xfrm>
            <a:off x="9006840" y="4297680"/>
            <a:ext cx="1965960" cy="1005840"/>
          </a:xfrm>
          <a:prstGeom prst="roundRect">
            <a:avLst>
              <a:gd fmla="val 7273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0"/>
          <p:cNvSpPr/>
          <p:nvPr/>
        </p:nvSpPr>
        <p:spPr>
          <a:xfrm>
            <a:off x="9171432" y="4416552"/>
            <a:ext cx="163677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Mensaje docente: las confirmaciones no eliminan el riesgo; reducen su probabilidad.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1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25. Resultados numéricos del paper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3" name="Google Shape;1003;p31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31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Cuánto cae la probabilidad de que el atacante alcance a la cadena honesta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5" name="Google Shape;1005;p31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31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1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1"/>
          <p:cNvSpPr/>
          <p:nvPr/>
        </p:nvSpPr>
        <p:spPr>
          <a:xfrm>
            <a:off x="10058400" y="493776"/>
            <a:ext cx="105156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1"/>
          <p:cNvSpPr/>
          <p:nvPr/>
        </p:nvSpPr>
        <p:spPr>
          <a:xfrm>
            <a:off x="10058400" y="544068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§11–§12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1"/>
          <p:cNvSpPr/>
          <p:nvPr/>
        </p:nvSpPr>
        <p:spPr>
          <a:xfrm>
            <a:off x="868680" y="1691640"/>
            <a:ext cx="3017520" cy="2103120"/>
          </a:xfrm>
          <a:prstGeom prst="roundRect">
            <a:avLst>
              <a:gd fmla="val 2609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1"/>
          <p:cNvSpPr/>
          <p:nvPr/>
        </p:nvSpPr>
        <p:spPr>
          <a:xfrm>
            <a:off x="868680" y="1691640"/>
            <a:ext cx="64008" cy="21031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1"/>
          <p:cNvSpPr/>
          <p:nvPr/>
        </p:nvSpPr>
        <p:spPr>
          <a:xfrm>
            <a:off x="1033272" y="1828800"/>
            <a:ext cx="2706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 = 0,10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1"/>
          <p:cNvSpPr/>
          <p:nvPr/>
        </p:nvSpPr>
        <p:spPr>
          <a:xfrm>
            <a:off x="1033272" y="2130552"/>
            <a:ext cx="270662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z=1 → 20,46%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z=2 → 5,10%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z=3 → 1,32%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z=4 → 0,35%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z=5 → 0,091%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z=6 → 0,024%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1"/>
          <p:cNvSpPr/>
          <p:nvPr/>
        </p:nvSpPr>
        <p:spPr>
          <a:xfrm>
            <a:off x="4251960" y="1691640"/>
            <a:ext cx="3017520" cy="2103120"/>
          </a:xfrm>
          <a:prstGeom prst="roundRect">
            <a:avLst>
              <a:gd fmla="val 2609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1"/>
          <p:cNvSpPr/>
          <p:nvPr/>
        </p:nvSpPr>
        <p:spPr>
          <a:xfrm>
            <a:off x="4251960" y="1691640"/>
            <a:ext cx="64008" cy="2103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1"/>
          <p:cNvSpPr/>
          <p:nvPr/>
        </p:nvSpPr>
        <p:spPr>
          <a:xfrm>
            <a:off x="4416552" y="1828800"/>
            <a:ext cx="2706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 = 0,30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1"/>
          <p:cNvSpPr/>
          <p:nvPr/>
        </p:nvSpPr>
        <p:spPr>
          <a:xfrm>
            <a:off x="4416552" y="2130552"/>
            <a:ext cx="270662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z=5 → 17,74%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z=10 → 4,17%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z=15 → 1,01%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z=20 → 0,248%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z=25 → 0,061%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z=30 → 0,015%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1"/>
          <p:cNvSpPr/>
          <p:nvPr/>
        </p:nvSpPr>
        <p:spPr>
          <a:xfrm>
            <a:off x="7635240" y="1691640"/>
            <a:ext cx="3611880" cy="2103120"/>
          </a:xfrm>
          <a:prstGeom prst="roundRect">
            <a:avLst>
              <a:gd fmla="val 2609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1"/>
          <p:cNvSpPr/>
          <p:nvPr/>
        </p:nvSpPr>
        <p:spPr>
          <a:xfrm>
            <a:off x="7635240" y="1691640"/>
            <a:ext cx="64008" cy="21031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1"/>
          <p:cNvSpPr/>
          <p:nvPr/>
        </p:nvSpPr>
        <p:spPr>
          <a:xfrm>
            <a:off x="7799832" y="182880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Umbral P &lt; 0,1%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1"/>
          <p:cNvSpPr/>
          <p:nvPr/>
        </p:nvSpPr>
        <p:spPr>
          <a:xfrm>
            <a:off x="7799832" y="2130552"/>
            <a:ext cx="330098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 = 0,10 → z = 5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 = 0,15 → z = 8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 = 0,20 → z = 11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 = 0,25 → z = 15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q = 0,30 → z = 24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1"/>
          <p:cNvSpPr/>
          <p:nvPr/>
        </p:nvSpPr>
        <p:spPr>
          <a:xfrm>
            <a:off x="868680" y="4251960"/>
            <a:ext cx="10378440" cy="777240"/>
          </a:xfrm>
          <a:prstGeom prst="roundRect">
            <a:avLst>
              <a:gd fmla="val 9412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1"/>
          <p:cNvSpPr/>
          <p:nvPr/>
        </p:nvSpPr>
        <p:spPr>
          <a:xfrm>
            <a:off x="1033272" y="4370832"/>
            <a:ext cx="1004925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Interpretación: el famoso “esperar 6 confirmaciones” es una heurística; el riesgo real depende del poder relativo del atacante.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1"/>
          <p:cNvSpPr/>
          <p:nvPr/>
        </p:nvSpPr>
        <p:spPr>
          <a:xfrm>
            <a:off x="1051560" y="5230368"/>
            <a:ext cx="10012680" cy="621792"/>
          </a:xfrm>
          <a:prstGeom prst="roundRect">
            <a:avLst>
              <a:gd fmla="val 11765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1"/>
          <p:cNvSpPr/>
          <p:nvPr/>
        </p:nvSpPr>
        <p:spPr>
          <a:xfrm>
            <a:off x="1197864" y="5340096"/>
            <a:ext cx="97200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Finalidad en Bitcoin = seguridad probabilística, no irreversibilidad absoluta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2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26. Del subsidio de bloque hacia las fees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2" name="Google Shape;1032;p32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3" name="Google Shape;1033;p32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La transición económica sugerida en el paper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" name="Google Shape;1034;p32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5" name="Google Shape;1035;p32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2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2"/>
          <p:cNvSpPr/>
          <p:nvPr/>
        </p:nvSpPr>
        <p:spPr>
          <a:xfrm>
            <a:off x="9829800" y="493776"/>
            <a:ext cx="1280160" cy="292608"/>
          </a:xfrm>
          <a:prstGeom prst="roundRect">
            <a:avLst>
              <a:gd fmla="val 18750" name="adj"/>
            </a:avLst>
          </a:prstGeom>
          <a:solidFill>
            <a:srgbClr val="F59E0B">
              <a:alpha val="94902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2"/>
          <p:cNvSpPr/>
          <p:nvPr/>
        </p:nvSpPr>
        <p:spPr>
          <a:xfrm>
            <a:off x="9829800" y="5440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111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§6 del paper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2"/>
          <p:cNvSpPr/>
          <p:nvPr/>
        </p:nvSpPr>
        <p:spPr>
          <a:xfrm>
            <a:off x="960120" y="1737360"/>
            <a:ext cx="5212080" cy="749808"/>
          </a:xfrm>
          <a:prstGeom prst="roundRect">
            <a:avLst>
              <a:gd fmla="val 9756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2"/>
          <p:cNvSpPr/>
          <p:nvPr/>
        </p:nvSpPr>
        <p:spPr>
          <a:xfrm>
            <a:off x="1106424" y="1847088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Ingreso del minero = Subsidio de bloque + Fees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2"/>
          <p:cNvSpPr/>
          <p:nvPr/>
        </p:nvSpPr>
        <p:spPr>
          <a:xfrm>
            <a:off x="868680" y="2880360"/>
            <a:ext cx="30632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2"/>
          <p:cNvSpPr/>
          <p:nvPr/>
        </p:nvSpPr>
        <p:spPr>
          <a:xfrm>
            <a:off x="868680" y="288036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2"/>
          <p:cNvSpPr/>
          <p:nvPr/>
        </p:nvSpPr>
        <p:spPr>
          <a:xfrm>
            <a:off x="1033272" y="301752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Block subsidy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2"/>
          <p:cNvSpPr/>
          <p:nvPr/>
        </p:nvSpPr>
        <p:spPr>
          <a:xfrm>
            <a:off x="1033272" y="3319272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coinbase crea nuevas monedas para el minero del bloque.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2"/>
          <p:cNvSpPr/>
          <p:nvPr/>
        </p:nvSpPr>
        <p:spPr>
          <a:xfrm>
            <a:off x="4160520" y="2880360"/>
            <a:ext cx="379476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2"/>
          <p:cNvSpPr/>
          <p:nvPr/>
        </p:nvSpPr>
        <p:spPr>
          <a:xfrm>
            <a:off x="4160520" y="288036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2"/>
          <p:cNvSpPr/>
          <p:nvPr/>
        </p:nvSpPr>
        <p:spPr>
          <a:xfrm>
            <a:off x="4325112" y="3017520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Transaction fees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2"/>
          <p:cNvSpPr/>
          <p:nvPr/>
        </p:nvSpPr>
        <p:spPr>
          <a:xfrm>
            <a:off x="4325112" y="3319272"/>
            <a:ext cx="3483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diferencia entre inputs y outputs se convierte en comisión para el bloque que incluye la transacción.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2"/>
          <p:cNvSpPr/>
          <p:nvPr/>
        </p:nvSpPr>
        <p:spPr>
          <a:xfrm>
            <a:off x="8183880" y="2880360"/>
            <a:ext cx="30632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2"/>
          <p:cNvSpPr/>
          <p:nvPr/>
        </p:nvSpPr>
        <p:spPr>
          <a:xfrm>
            <a:off x="8183880" y="2880360"/>
            <a:ext cx="64008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2"/>
          <p:cNvSpPr/>
          <p:nvPr/>
        </p:nvSpPr>
        <p:spPr>
          <a:xfrm>
            <a:off x="8348472" y="3017520"/>
            <a:ext cx="2752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de largo plazo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2"/>
          <p:cNvSpPr/>
          <p:nvPr/>
        </p:nvSpPr>
        <p:spPr>
          <a:xfrm>
            <a:off x="8348472" y="3319272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Cuando la emisión disminuye, las comisiones pueden sostener el incentivo económico de la red.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2"/>
          <p:cNvSpPr/>
          <p:nvPr/>
        </p:nvSpPr>
        <p:spPr>
          <a:xfrm>
            <a:off x="896112" y="4251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Esquema visual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2"/>
          <p:cNvSpPr/>
          <p:nvPr/>
        </p:nvSpPr>
        <p:spPr>
          <a:xfrm>
            <a:off x="914400" y="4572000"/>
            <a:ext cx="4480560" cy="320040"/>
          </a:xfrm>
          <a:prstGeom prst="rect">
            <a:avLst/>
          </a:prstGeom>
          <a:solidFill>
            <a:srgbClr val="F59E0B">
              <a:alpha val="92157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2"/>
          <p:cNvSpPr/>
          <p:nvPr/>
        </p:nvSpPr>
        <p:spPr>
          <a:xfrm>
            <a:off x="5394960" y="4572000"/>
            <a:ext cx="1097280" cy="320040"/>
          </a:xfrm>
          <a:prstGeom prst="rect">
            <a:avLst/>
          </a:prstGeom>
          <a:solidFill>
            <a:srgbClr val="F59E0B">
              <a:alpha val="70196"/>
            </a:srgbClr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2"/>
          <p:cNvSpPr/>
          <p:nvPr/>
        </p:nvSpPr>
        <p:spPr>
          <a:xfrm>
            <a:off x="6537960" y="4572000"/>
            <a:ext cx="3749040" cy="320040"/>
          </a:xfrm>
          <a:prstGeom prst="rect">
            <a:avLst/>
          </a:prstGeom>
          <a:solidFill>
            <a:srgbClr val="38BDF8">
              <a:alpha val="92157"/>
            </a:srgbClr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2"/>
          <p:cNvSpPr/>
          <p:nvPr/>
        </p:nvSpPr>
        <p:spPr>
          <a:xfrm>
            <a:off x="960120" y="491947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Subsidio dominante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2"/>
          <p:cNvSpPr/>
          <p:nvPr/>
        </p:nvSpPr>
        <p:spPr>
          <a:xfrm>
            <a:off x="5440680" y="491947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Transición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2"/>
          <p:cNvSpPr/>
          <p:nvPr/>
        </p:nvSpPr>
        <p:spPr>
          <a:xfrm>
            <a:off x="6583680" y="49194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Fees más relevantes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3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27. Antecedentes intelectuales de Bitcoin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33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7" name="Google Shape;1067;p33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Qué piezas previas integra el white paper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8" name="Google Shape;1068;p3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33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3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3"/>
          <p:cNvSpPr/>
          <p:nvPr/>
        </p:nvSpPr>
        <p:spPr>
          <a:xfrm>
            <a:off x="96012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1980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3"/>
          <p:cNvSpPr/>
          <p:nvPr/>
        </p:nvSpPr>
        <p:spPr>
          <a:xfrm>
            <a:off x="2880360" y="25603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Haber–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Stornetta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1991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3"/>
          <p:cNvSpPr/>
          <p:nvPr/>
        </p:nvSpPr>
        <p:spPr>
          <a:xfrm>
            <a:off x="493776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b-money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1998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3"/>
          <p:cNvSpPr/>
          <p:nvPr/>
        </p:nvSpPr>
        <p:spPr>
          <a:xfrm>
            <a:off x="699516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Hashcash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2002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3"/>
          <p:cNvSpPr/>
          <p:nvPr/>
        </p:nvSpPr>
        <p:spPr>
          <a:xfrm>
            <a:off x="900684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Feller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1957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3"/>
          <p:cNvSpPr/>
          <p:nvPr/>
        </p:nvSpPr>
        <p:spPr>
          <a:xfrm>
            <a:off x="1078992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Bitcoin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2008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3"/>
          <p:cNvSpPr/>
          <p:nvPr/>
        </p:nvSpPr>
        <p:spPr>
          <a:xfrm>
            <a:off x="1051560" y="2011680"/>
            <a:ext cx="438912" cy="43891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3"/>
          <p:cNvSpPr/>
          <p:nvPr/>
        </p:nvSpPr>
        <p:spPr>
          <a:xfrm>
            <a:off x="2971800" y="2011680"/>
            <a:ext cx="438912" cy="43891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3"/>
          <p:cNvSpPr/>
          <p:nvPr/>
        </p:nvSpPr>
        <p:spPr>
          <a:xfrm>
            <a:off x="5029200" y="2011680"/>
            <a:ext cx="438912" cy="43891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3"/>
          <p:cNvSpPr/>
          <p:nvPr/>
        </p:nvSpPr>
        <p:spPr>
          <a:xfrm>
            <a:off x="7086600" y="2011680"/>
            <a:ext cx="438912" cy="43891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3"/>
          <p:cNvSpPr/>
          <p:nvPr/>
        </p:nvSpPr>
        <p:spPr>
          <a:xfrm>
            <a:off x="9098280" y="2011680"/>
            <a:ext cx="438912" cy="438912"/>
          </a:xfrm>
          <a:prstGeom prst="ellipse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3"/>
          <p:cNvSpPr/>
          <p:nvPr/>
        </p:nvSpPr>
        <p:spPr>
          <a:xfrm>
            <a:off x="10881360" y="2011680"/>
            <a:ext cx="438912" cy="43891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3" name="Google Shape;1083;p33"/>
          <p:cNvCxnSpPr/>
          <p:nvPr/>
        </p:nvCxnSpPr>
        <p:spPr>
          <a:xfrm>
            <a:off x="1508760" y="2231136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4" name="Google Shape;1084;p33"/>
          <p:cNvCxnSpPr/>
          <p:nvPr/>
        </p:nvCxnSpPr>
        <p:spPr>
          <a:xfrm>
            <a:off x="3429000" y="2231136"/>
            <a:ext cx="1508760" cy="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33"/>
          <p:cNvCxnSpPr/>
          <p:nvPr/>
        </p:nvCxnSpPr>
        <p:spPr>
          <a:xfrm>
            <a:off x="5440680" y="2231136"/>
            <a:ext cx="1508760" cy="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6" name="Google Shape;1086;p33"/>
          <p:cNvCxnSpPr/>
          <p:nvPr/>
        </p:nvCxnSpPr>
        <p:spPr>
          <a:xfrm>
            <a:off x="7498080" y="2231136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38BDF8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7" name="Google Shape;1087;p33"/>
          <p:cNvCxnSpPr/>
          <p:nvPr/>
        </p:nvCxnSpPr>
        <p:spPr>
          <a:xfrm>
            <a:off x="9509760" y="2231136"/>
            <a:ext cx="1325880" cy="0"/>
          </a:xfrm>
          <a:prstGeom prst="straightConnector1">
            <a:avLst/>
          </a:prstGeom>
          <a:noFill/>
          <a:ln cap="flat" cmpd="sng" w="22850">
            <a:solidFill>
              <a:srgbClr val="F59E0B">
                <a:alpha val="92157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8" name="Google Shape;1088;p33"/>
          <p:cNvSpPr/>
          <p:nvPr/>
        </p:nvSpPr>
        <p:spPr>
          <a:xfrm>
            <a:off x="868680" y="4160520"/>
            <a:ext cx="489204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3"/>
          <p:cNvSpPr/>
          <p:nvPr/>
        </p:nvSpPr>
        <p:spPr>
          <a:xfrm>
            <a:off x="868680" y="416052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3"/>
          <p:cNvSpPr/>
          <p:nvPr/>
        </p:nvSpPr>
        <p:spPr>
          <a:xfrm>
            <a:off x="1033272" y="4297680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Qué toma Satoshi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1033272" y="4599432"/>
            <a:ext cx="4581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Árboles de Merkle, timestamping criptográfico, Proof of Work, dinero digital previo y teoría de probabilidades.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6080760" y="4160520"/>
            <a:ext cx="516636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3"/>
          <p:cNvSpPr/>
          <p:nvPr/>
        </p:nvSpPr>
        <p:spPr>
          <a:xfrm>
            <a:off x="6080760" y="416052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3"/>
          <p:cNvSpPr/>
          <p:nvPr/>
        </p:nvSpPr>
        <p:spPr>
          <a:xfrm>
            <a:off x="6245352" y="4297680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 innovación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6245352" y="4599432"/>
            <a:ext cx="48554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No inventa cada pieza por separado; las integra en un sistema funcional para resolver el doble gasto sin autoridad central.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4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28. Lectura comparada: paper 2008 y Bitcoin actual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2" name="Google Shape;1102;p34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3" name="Google Shape;1103;p34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Qué permanece y qué cambió en la forma de explicarlo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4" name="Google Shape;1104;p34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5" name="Google Shape;1105;p34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4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4"/>
          <p:cNvSpPr/>
          <p:nvPr/>
        </p:nvSpPr>
        <p:spPr>
          <a:xfrm>
            <a:off x="868680" y="1572768"/>
            <a:ext cx="4892040" cy="475488"/>
          </a:xfrm>
          <a:prstGeom prst="roundRect">
            <a:avLst>
              <a:gd fmla="val 5769" name="adj"/>
            </a:avLst>
          </a:prstGeom>
          <a:solidFill>
            <a:srgbClr val="14304D"/>
          </a:solidFill>
          <a:ln cap="flat" cmpd="sng" w="12700">
            <a:solidFill>
              <a:srgbClr val="1430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4"/>
          <p:cNvSpPr/>
          <p:nvPr/>
        </p:nvSpPr>
        <p:spPr>
          <a:xfrm>
            <a:off x="5852160" y="1572768"/>
            <a:ext cx="5440680" cy="475488"/>
          </a:xfrm>
          <a:prstGeom prst="roundRect">
            <a:avLst>
              <a:gd fmla="val 5769" name="adj"/>
            </a:avLst>
          </a:prstGeom>
          <a:solidFill>
            <a:srgbClr val="2D2511"/>
          </a:solidFill>
          <a:ln cap="flat" cmpd="sng" w="12700">
            <a:solidFill>
              <a:srgbClr val="2D25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4"/>
          <p:cNvSpPr/>
          <p:nvPr/>
        </p:nvSpPr>
        <p:spPr>
          <a:xfrm>
            <a:off x="1051560" y="1673352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Formulación en el paper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4"/>
          <p:cNvSpPr/>
          <p:nvPr/>
        </p:nvSpPr>
        <p:spPr>
          <a:xfrm>
            <a:off x="6035040" y="1673352"/>
            <a:ext cx="5074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Lectura / terminología actual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4"/>
          <p:cNvSpPr/>
          <p:nvPr/>
        </p:nvSpPr>
        <p:spPr>
          <a:xfrm>
            <a:off x="868680" y="2194560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4"/>
          <p:cNvSpPr/>
          <p:nvPr/>
        </p:nvSpPr>
        <p:spPr>
          <a:xfrm>
            <a:off x="5852160" y="2194560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4"/>
          <p:cNvSpPr/>
          <p:nvPr/>
        </p:nvSpPr>
        <p:spPr>
          <a:xfrm>
            <a:off x="987552" y="2267712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electronic coin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4"/>
          <p:cNvSpPr/>
          <p:nvPr/>
        </p:nvSpPr>
        <p:spPr>
          <a:xfrm>
            <a:off x="5971032" y="2267712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modelo UTXO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4"/>
          <p:cNvSpPr/>
          <p:nvPr/>
        </p:nvSpPr>
        <p:spPr>
          <a:xfrm>
            <a:off x="868680" y="2724912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4"/>
          <p:cNvSpPr/>
          <p:nvPr/>
        </p:nvSpPr>
        <p:spPr>
          <a:xfrm>
            <a:off x="5852160" y="2724912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4"/>
          <p:cNvSpPr/>
          <p:nvPr/>
        </p:nvSpPr>
        <p:spPr>
          <a:xfrm>
            <a:off x="987552" y="2798064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longest chain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4"/>
          <p:cNvSpPr/>
          <p:nvPr/>
        </p:nvSpPr>
        <p:spPr>
          <a:xfrm>
            <a:off x="5971032" y="2798064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most-work chain / mayor trabajo acumulado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868680" y="3255264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4"/>
          <p:cNvSpPr/>
          <p:nvPr/>
        </p:nvSpPr>
        <p:spPr>
          <a:xfrm>
            <a:off x="5852160" y="3255264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4"/>
          <p:cNvSpPr/>
          <p:nvPr/>
        </p:nvSpPr>
        <p:spPr>
          <a:xfrm>
            <a:off x="987552" y="332841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one-CPU-one-vote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4"/>
          <p:cNvSpPr/>
          <p:nvPr/>
        </p:nvSpPr>
        <p:spPr>
          <a:xfrm>
            <a:off x="5971032" y="3328416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hash power y minería especializada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4"/>
          <p:cNvSpPr/>
          <p:nvPr/>
        </p:nvSpPr>
        <p:spPr>
          <a:xfrm>
            <a:off x="868680" y="3785616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4"/>
          <p:cNvSpPr/>
          <p:nvPr/>
        </p:nvSpPr>
        <p:spPr>
          <a:xfrm>
            <a:off x="5852160" y="3785616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4"/>
          <p:cNvSpPr/>
          <p:nvPr/>
        </p:nvSpPr>
        <p:spPr>
          <a:xfrm>
            <a:off x="987552" y="3858768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public keys anonymous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4"/>
          <p:cNvSpPr/>
          <p:nvPr/>
        </p:nvSpPr>
        <p:spPr>
          <a:xfrm>
            <a:off x="5971032" y="3858768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pseudonimato + análisis de cadena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4"/>
          <p:cNvSpPr/>
          <p:nvPr/>
        </p:nvSpPr>
        <p:spPr>
          <a:xfrm>
            <a:off x="868680" y="4315968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4"/>
          <p:cNvSpPr/>
          <p:nvPr/>
        </p:nvSpPr>
        <p:spPr>
          <a:xfrm>
            <a:off x="5852160" y="4315968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4"/>
          <p:cNvSpPr/>
          <p:nvPr/>
        </p:nvSpPr>
        <p:spPr>
          <a:xfrm>
            <a:off x="987552" y="4389120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nodes y miners casi juntos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4"/>
          <p:cNvSpPr/>
          <p:nvPr/>
        </p:nvSpPr>
        <p:spPr>
          <a:xfrm>
            <a:off x="5971032" y="4389120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distinción entre full nodes, miners y wallets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4"/>
          <p:cNvSpPr/>
          <p:nvPr/>
        </p:nvSpPr>
        <p:spPr>
          <a:xfrm>
            <a:off x="868680" y="4846320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4"/>
          <p:cNvSpPr/>
          <p:nvPr/>
        </p:nvSpPr>
        <p:spPr>
          <a:xfrm>
            <a:off x="5852160" y="4846320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A1A2B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4"/>
          <p:cNvSpPr/>
          <p:nvPr/>
        </p:nvSpPr>
        <p:spPr>
          <a:xfrm>
            <a:off x="987552" y="4919472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CPU mining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4"/>
          <p:cNvSpPr/>
          <p:nvPr/>
        </p:nvSpPr>
        <p:spPr>
          <a:xfrm>
            <a:off x="5971032" y="4919472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ASICs y ecosistema de minería profesional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4"/>
          <p:cNvSpPr/>
          <p:nvPr/>
        </p:nvSpPr>
        <p:spPr>
          <a:xfrm>
            <a:off x="868680" y="5376672"/>
            <a:ext cx="489204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4"/>
          <p:cNvSpPr/>
          <p:nvPr/>
        </p:nvSpPr>
        <p:spPr>
          <a:xfrm>
            <a:off x="5852160" y="5376672"/>
            <a:ext cx="5440680" cy="420624"/>
          </a:xfrm>
          <a:prstGeom prst="roundRect">
            <a:avLst>
              <a:gd fmla="val 4348" name="adj"/>
            </a:avLst>
          </a:prstGeom>
          <a:solidFill>
            <a:srgbClr val="0D2138"/>
          </a:solidFill>
          <a:ln cap="flat" cmpd="sng" w="12700">
            <a:solidFill>
              <a:srgbClr val="1E3A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4"/>
          <p:cNvSpPr/>
          <p:nvPr/>
        </p:nvSpPr>
        <p:spPr>
          <a:xfrm>
            <a:off x="987552" y="5449824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confirmaciones como espera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4"/>
          <p:cNvSpPr/>
          <p:nvPr/>
        </p:nvSpPr>
        <p:spPr>
          <a:xfrm>
            <a:off x="5971032" y="5449824"/>
            <a:ext cx="5166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heurística contextual según riesgo y valor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4"/>
          <p:cNvSpPr/>
          <p:nvPr/>
        </p:nvSpPr>
        <p:spPr>
          <a:xfrm>
            <a:off x="914400" y="5989320"/>
            <a:ext cx="10241280" cy="502920"/>
          </a:xfrm>
          <a:prstGeom prst="roundRect">
            <a:avLst>
              <a:gd fmla="val 14545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4"/>
          <p:cNvSpPr/>
          <p:nvPr/>
        </p:nvSpPr>
        <p:spPr>
          <a:xfrm>
            <a:off x="1078992" y="6108192"/>
            <a:ext cx="991209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Comparado con el paper, hoy distinguimos mejor entre lo que es formulación original, evolución histórica y explicación pedagógica.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5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29. Glosario esencial para la clase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7" name="Google Shape;1147;p35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35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Términos del paper traducidos a lenguaje docente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9" name="Google Shape;1149;p3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35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822960" y="160020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5"/>
          <p:cNvSpPr/>
          <p:nvPr/>
        </p:nvSpPr>
        <p:spPr>
          <a:xfrm>
            <a:off x="822960" y="1600200"/>
            <a:ext cx="64008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5"/>
          <p:cNvSpPr/>
          <p:nvPr/>
        </p:nvSpPr>
        <p:spPr>
          <a:xfrm>
            <a:off x="987552" y="173736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P2P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5"/>
          <p:cNvSpPr/>
          <p:nvPr/>
        </p:nvSpPr>
        <p:spPr>
          <a:xfrm>
            <a:off x="987552" y="203911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Red de pares; no hay servidor central que controle todo.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5"/>
          <p:cNvSpPr/>
          <p:nvPr/>
        </p:nvSpPr>
        <p:spPr>
          <a:xfrm>
            <a:off x="6309360" y="160020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5"/>
          <p:cNvSpPr/>
          <p:nvPr/>
        </p:nvSpPr>
        <p:spPr>
          <a:xfrm>
            <a:off x="6309360" y="1600200"/>
            <a:ext cx="64008" cy="74980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5"/>
          <p:cNvSpPr/>
          <p:nvPr/>
        </p:nvSpPr>
        <p:spPr>
          <a:xfrm>
            <a:off x="6473952" y="173736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Firma digital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5"/>
          <p:cNvSpPr/>
          <p:nvPr/>
        </p:nvSpPr>
        <p:spPr>
          <a:xfrm>
            <a:off x="6473952" y="203911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Prueba criptográfica de autorización de una transferencia.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5"/>
          <p:cNvSpPr/>
          <p:nvPr/>
        </p:nvSpPr>
        <p:spPr>
          <a:xfrm>
            <a:off x="822960" y="260604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5"/>
          <p:cNvSpPr/>
          <p:nvPr/>
        </p:nvSpPr>
        <p:spPr>
          <a:xfrm>
            <a:off x="822960" y="2606040"/>
            <a:ext cx="64008" cy="7498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5"/>
          <p:cNvSpPr/>
          <p:nvPr/>
        </p:nvSpPr>
        <p:spPr>
          <a:xfrm>
            <a:off x="987552" y="274320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5"/>
          <p:cNvSpPr/>
          <p:nvPr/>
        </p:nvSpPr>
        <p:spPr>
          <a:xfrm>
            <a:off x="987552" y="304495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Huella digital de datos; sensible a cualquier cambio.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5"/>
          <p:cNvSpPr/>
          <p:nvPr/>
        </p:nvSpPr>
        <p:spPr>
          <a:xfrm>
            <a:off x="6309360" y="260604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5"/>
          <p:cNvSpPr/>
          <p:nvPr/>
        </p:nvSpPr>
        <p:spPr>
          <a:xfrm>
            <a:off x="6309360" y="2606040"/>
            <a:ext cx="64008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5"/>
          <p:cNvSpPr/>
          <p:nvPr/>
        </p:nvSpPr>
        <p:spPr>
          <a:xfrm>
            <a:off x="6473952" y="274320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Nonce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5"/>
          <p:cNvSpPr/>
          <p:nvPr/>
        </p:nvSpPr>
        <p:spPr>
          <a:xfrm>
            <a:off x="6473952" y="304495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Número que se prueba hasta cumplir la dificultad.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5"/>
          <p:cNvSpPr/>
          <p:nvPr/>
        </p:nvSpPr>
        <p:spPr>
          <a:xfrm>
            <a:off x="822960" y="361188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5"/>
          <p:cNvSpPr/>
          <p:nvPr/>
        </p:nvSpPr>
        <p:spPr>
          <a:xfrm>
            <a:off x="822960" y="3611880"/>
            <a:ext cx="64008" cy="74980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5"/>
          <p:cNvSpPr/>
          <p:nvPr/>
        </p:nvSpPr>
        <p:spPr>
          <a:xfrm>
            <a:off x="987552" y="374904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Proof of Work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5"/>
          <p:cNvSpPr/>
          <p:nvPr/>
        </p:nvSpPr>
        <p:spPr>
          <a:xfrm>
            <a:off x="987552" y="405079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Costo computacional verificable para crear bloques.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5"/>
          <p:cNvSpPr/>
          <p:nvPr/>
        </p:nvSpPr>
        <p:spPr>
          <a:xfrm>
            <a:off x="6309360" y="361188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5"/>
          <p:cNvSpPr/>
          <p:nvPr/>
        </p:nvSpPr>
        <p:spPr>
          <a:xfrm>
            <a:off x="6309360" y="3611880"/>
            <a:ext cx="64008" cy="7498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5"/>
          <p:cNvSpPr/>
          <p:nvPr/>
        </p:nvSpPr>
        <p:spPr>
          <a:xfrm>
            <a:off x="6473952" y="374904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Confirmación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6473952" y="405079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Bloque agregado encima de una transacción incluida.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5"/>
          <p:cNvSpPr/>
          <p:nvPr/>
        </p:nvSpPr>
        <p:spPr>
          <a:xfrm>
            <a:off x="822960" y="461772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5"/>
          <p:cNvSpPr/>
          <p:nvPr/>
        </p:nvSpPr>
        <p:spPr>
          <a:xfrm>
            <a:off x="822960" y="4617720"/>
            <a:ext cx="64008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5"/>
          <p:cNvSpPr/>
          <p:nvPr/>
        </p:nvSpPr>
        <p:spPr>
          <a:xfrm>
            <a:off x="987552" y="475488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Merkle Root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5"/>
          <p:cNvSpPr/>
          <p:nvPr/>
        </p:nvSpPr>
        <p:spPr>
          <a:xfrm>
            <a:off x="987552" y="505663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Resumen criptográfico de todas las transacciones.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5"/>
          <p:cNvSpPr/>
          <p:nvPr/>
        </p:nvSpPr>
        <p:spPr>
          <a:xfrm>
            <a:off x="6309360" y="4617720"/>
            <a:ext cx="4800600" cy="749808"/>
          </a:xfrm>
          <a:prstGeom prst="roundRect">
            <a:avLst>
              <a:gd fmla="val 7317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5"/>
          <p:cNvSpPr/>
          <p:nvPr/>
        </p:nvSpPr>
        <p:spPr>
          <a:xfrm>
            <a:off x="6309360" y="4617720"/>
            <a:ext cx="64008" cy="74980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5"/>
          <p:cNvSpPr/>
          <p:nvPr/>
        </p:nvSpPr>
        <p:spPr>
          <a:xfrm>
            <a:off x="6473952" y="4754880"/>
            <a:ext cx="4489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SPV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5"/>
          <p:cNvSpPr/>
          <p:nvPr/>
        </p:nvSpPr>
        <p:spPr>
          <a:xfrm>
            <a:off x="6473952" y="5056632"/>
            <a:ext cx="4489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Verificación liviana usando headers y pruebas Merkle.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6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30. Malentendidos frecuentes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0" name="Google Shape;1190;p36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1" name="Google Shape;1191;p36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Cómo evitar explicaciones incompletas o engañosas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36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3" name="Google Shape;1193;p36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6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6"/>
          <p:cNvSpPr/>
          <p:nvPr/>
        </p:nvSpPr>
        <p:spPr>
          <a:xfrm>
            <a:off x="868680" y="160020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36"/>
          <p:cNvSpPr/>
          <p:nvPr/>
        </p:nvSpPr>
        <p:spPr>
          <a:xfrm>
            <a:off x="868680" y="1600200"/>
            <a:ext cx="64008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6"/>
          <p:cNvSpPr/>
          <p:nvPr/>
        </p:nvSpPr>
        <p:spPr>
          <a:xfrm>
            <a:off x="1033272" y="1737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“La cadena más larga gana”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6"/>
          <p:cNvSpPr/>
          <p:nvPr/>
        </p:nvSpPr>
        <p:spPr>
          <a:xfrm>
            <a:off x="1033272" y="203911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gana la cadena válida con mayor trabajo acumulado.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6"/>
          <p:cNvSpPr/>
          <p:nvPr/>
        </p:nvSpPr>
        <p:spPr>
          <a:xfrm>
            <a:off x="4434840" y="160020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6"/>
          <p:cNvSpPr/>
          <p:nvPr/>
        </p:nvSpPr>
        <p:spPr>
          <a:xfrm>
            <a:off x="4434840" y="1600200"/>
            <a:ext cx="64008" cy="109728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6"/>
          <p:cNvSpPr/>
          <p:nvPr/>
        </p:nvSpPr>
        <p:spPr>
          <a:xfrm>
            <a:off x="4599432" y="1737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“Los mineros deciden las reglas”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6"/>
          <p:cNvSpPr/>
          <p:nvPr/>
        </p:nvSpPr>
        <p:spPr>
          <a:xfrm>
            <a:off x="4599432" y="203911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los mineros proponen bloques; los nodos validan reglas.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6"/>
          <p:cNvSpPr/>
          <p:nvPr/>
        </p:nvSpPr>
        <p:spPr>
          <a:xfrm>
            <a:off x="8001000" y="160020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6"/>
          <p:cNvSpPr/>
          <p:nvPr/>
        </p:nvSpPr>
        <p:spPr>
          <a:xfrm>
            <a:off x="8001000" y="1600200"/>
            <a:ext cx="64008" cy="10972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6"/>
          <p:cNvSpPr/>
          <p:nvPr/>
        </p:nvSpPr>
        <p:spPr>
          <a:xfrm>
            <a:off x="8165592" y="1737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“Blockchain es inmutable”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6"/>
          <p:cNvSpPr/>
          <p:nvPr/>
        </p:nvSpPr>
        <p:spPr>
          <a:xfrm>
            <a:off x="8165592" y="203911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modificarla es crecientemente costoso y probabilísticamente improbable.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6"/>
          <p:cNvSpPr/>
          <p:nvPr/>
        </p:nvSpPr>
        <p:spPr>
          <a:xfrm>
            <a:off x="868680" y="347472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EF4444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6"/>
          <p:cNvSpPr/>
          <p:nvPr/>
        </p:nvSpPr>
        <p:spPr>
          <a:xfrm>
            <a:off x="868680" y="3474720"/>
            <a:ext cx="64008" cy="10972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6"/>
          <p:cNvSpPr/>
          <p:nvPr/>
        </p:nvSpPr>
        <p:spPr>
          <a:xfrm>
            <a:off x="1033272" y="361188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“Bitcoin es anónimo”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6"/>
          <p:cNvSpPr/>
          <p:nvPr/>
        </p:nvSpPr>
        <p:spPr>
          <a:xfrm>
            <a:off x="1033272" y="391363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es pseudónimo; el grafo de transacciones es público.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6"/>
          <p:cNvSpPr/>
          <p:nvPr/>
        </p:nvSpPr>
        <p:spPr>
          <a:xfrm>
            <a:off x="4434840" y="347472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6"/>
          <p:cNvSpPr/>
          <p:nvPr/>
        </p:nvSpPr>
        <p:spPr>
          <a:xfrm>
            <a:off x="4434840" y="3474720"/>
            <a:ext cx="64008" cy="10972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6"/>
          <p:cNvSpPr/>
          <p:nvPr/>
        </p:nvSpPr>
        <p:spPr>
          <a:xfrm>
            <a:off x="4599432" y="361188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“51% permite hacer cualquier cosa”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6"/>
          <p:cNvSpPr/>
          <p:nvPr/>
        </p:nvSpPr>
        <p:spPr>
          <a:xfrm>
            <a:off x="4599432" y="391363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permite reordenar/censurar, no firmar por terceros ni gastar ajeno.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6"/>
          <p:cNvSpPr/>
          <p:nvPr/>
        </p:nvSpPr>
        <p:spPr>
          <a:xfrm>
            <a:off x="8001000" y="3474720"/>
            <a:ext cx="3337560" cy="1097280"/>
          </a:xfrm>
          <a:prstGeom prst="roundRect">
            <a:avLst>
              <a:gd fmla="val 5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6"/>
          <p:cNvSpPr/>
          <p:nvPr/>
        </p:nvSpPr>
        <p:spPr>
          <a:xfrm>
            <a:off x="8001000" y="3474720"/>
            <a:ext cx="64008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6"/>
          <p:cNvSpPr/>
          <p:nvPr/>
        </p:nvSpPr>
        <p:spPr>
          <a:xfrm>
            <a:off x="8165592" y="361188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“Consenso es una votación”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36"/>
          <p:cNvSpPr/>
          <p:nvPr/>
        </p:nvSpPr>
        <p:spPr>
          <a:xfrm>
            <a:off x="8165592" y="3913632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Mejor: es una regla algorítmica de convergencia basada en trabajo acumulado.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7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31. Actividad para el aula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37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37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Usar el paper como laboratorio conceptual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7" name="Google Shape;1227;p37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8" name="Google Shape;1228;p37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7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37"/>
          <p:cNvSpPr/>
          <p:nvPr/>
        </p:nvSpPr>
        <p:spPr>
          <a:xfrm>
            <a:off x="868680" y="1600200"/>
            <a:ext cx="347472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7"/>
          <p:cNvSpPr/>
          <p:nvPr/>
        </p:nvSpPr>
        <p:spPr>
          <a:xfrm>
            <a:off x="868680" y="160020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7"/>
          <p:cNvSpPr/>
          <p:nvPr/>
        </p:nvSpPr>
        <p:spPr>
          <a:xfrm>
            <a:off x="1033272" y="173736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Caso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37"/>
          <p:cNvSpPr/>
          <p:nvPr/>
        </p:nvSpPr>
        <p:spPr>
          <a:xfrm>
            <a:off x="1033272" y="203911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Alice intenta pagar 1 BTC a Bob y a Carol usando la misma salida previa.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7"/>
          <p:cNvSpPr/>
          <p:nvPr/>
        </p:nvSpPr>
        <p:spPr>
          <a:xfrm>
            <a:off x="4572000" y="1600200"/>
            <a:ext cx="320040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7"/>
          <p:cNvSpPr/>
          <p:nvPr/>
        </p:nvSpPr>
        <p:spPr>
          <a:xfrm>
            <a:off x="4572000" y="160020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7"/>
          <p:cNvSpPr/>
          <p:nvPr/>
        </p:nvSpPr>
        <p:spPr>
          <a:xfrm>
            <a:off x="4736592" y="173736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1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7"/>
          <p:cNvSpPr/>
          <p:nvPr/>
        </p:nvSpPr>
        <p:spPr>
          <a:xfrm>
            <a:off x="4736592" y="2039112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¿Qué prueban las firmas digitales y qué NO prueban?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37"/>
          <p:cNvSpPr/>
          <p:nvPr/>
        </p:nvSpPr>
        <p:spPr>
          <a:xfrm>
            <a:off x="8001000" y="1600200"/>
            <a:ext cx="320040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7"/>
          <p:cNvSpPr/>
          <p:nvPr/>
        </p:nvSpPr>
        <p:spPr>
          <a:xfrm>
            <a:off x="8001000" y="1600200"/>
            <a:ext cx="64008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7"/>
          <p:cNvSpPr/>
          <p:nvPr/>
        </p:nvSpPr>
        <p:spPr>
          <a:xfrm>
            <a:off x="8165592" y="173736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2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7"/>
          <p:cNvSpPr/>
          <p:nvPr/>
        </p:nvSpPr>
        <p:spPr>
          <a:xfrm>
            <a:off x="8165592" y="2039112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¿Por qué el timestamp distribuido resuelve el orden temporal?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37"/>
          <p:cNvSpPr/>
          <p:nvPr/>
        </p:nvSpPr>
        <p:spPr>
          <a:xfrm>
            <a:off x="868680" y="3017520"/>
            <a:ext cx="347472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7"/>
          <p:cNvSpPr/>
          <p:nvPr/>
        </p:nvSpPr>
        <p:spPr>
          <a:xfrm>
            <a:off x="868680" y="3017520"/>
            <a:ext cx="64008" cy="9144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7"/>
          <p:cNvSpPr/>
          <p:nvPr/>
        </p:nvSpPr>
        <p:spPr>
          <a:xfrm>
            <a:off x="1033272" y="3154680"/>
            <a:ext cx="3163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3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37"/>
          <p:cNvSpPr/>
          <p:nvPr/>
        </p:nvSpPr>
        <p:spPr>
          <a:xfrm>
            <a:off x="1033272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 hay dos ramas válidas, ¿cuál siguen los nodos y por qué?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37"/>
          <p:cNvSpPr/>
          <p:nvPr/>
        </p:nvSpPr>
        <p:spPr>
          <a:xfrm>
            <a:off x="4572000" y="3017520"/>
            <a:ext cx="320040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7"/>
          <p:cNvSpPr/>
          <p:nvPr/>
        </p:nvSpPr>
        <p:spPr>
          <a:xfrm>
            <a:off x="4572000" y="3017520"/>
            <a:ext cx="6400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7"/>
          <p:cNvSpPr/>
          <p:nvPr/>
        </p:nvSpPr>
        <p:spPr>
          <a:xfrm>
            <a:off x="4736592" y="315468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4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37"/>
          <p:cNvSpPr/>
          <p:nvPr/>
        </p:nvSpPr>
        <p:spPr>
          <a:xfrm>
            <a:off x="4736592" y="3456432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¿Qué cambia cuando pasan 1, 3 o 6 confirmaciones?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37"/>
          <p:cNvSpPr/>
          <p:nvPr/>
        </p:nvSpPr>
        <p:spPr>
          <a:xfrm>
            <a:off x="8001000" y="3017520"/>
            <a:ext cx="3200400" cy="914400"/>
          </a:xfrm>
          <a:prstGeom prst="roundRect">
            <a:avLst>
              <a:gd fmla="val 6000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7"/>
          <p:cNvSpPr/>
          <p:nvPr/>
        </p:nvSpPr>
        <p:spPr>
          <a:xfrm>
            <a:off x="8001000" y="3017520"/>
            <a:ext cx="64008" cy="9144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7"/>
          <p:cNvSpPr/>
          <p:nvPr/>
        </p:nvSpPr>
        <p:spPr>
          <a:xfrm>
            <a:off x="8165592" y="3154680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Pregunta 5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37"/>
          <p:cNvSpPr/>
          <p:nvPr/>
        </p:nvSpPr>
        <p:spPr>
          <a:xfrm>
            <a:off x="8165592" y="3456432"/>
            <a:ext cx="2889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¿Qué incentivos hacen racional participar honestamente?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37"/>
          <p:cNvSpPr/>
          <p:nvPr/>
        </p:nvSpPr>
        <p:spPr>
          <a:xfrm>
            <a:off x="1280160" y="4892040"/>
            <a:ext cx="9555480" cy="713232"/>
          </a:xfrm>
          <a:prstGeom prst="roundRect">
            <a:avLst>
              <a:gd fmla="val 10256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37"/>
          <p:cNvSpPr/>
          <p:nvPr/>
        </p:nvSpPr>
        <p:spPr>
          <a:xfrm>
            <a:off x="1444752" y="5010912"/>
            <a:ext cx="922629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Producto esperado: un diagrama de 6 pasos que explique el ciclo transacción → bloque → PoW → difusión → validación → consenso.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8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32. Síntesis del white paper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2" name="Google Shape;1262;p38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3" name="Google Shape;1263;p38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La idea completa en una sola lectura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p38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5" name="Google Shape;1265;p38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8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8"/>
          <p:cNvSpPr/>
          <p:nvPr/>
        </p:nvSpPr>
        <p:spPr>
          <a:xfrm>
            <a:off x="914400" y="1508760"/>
            <a:ext cx="10378440" cy="786384"/>
          </a:xfrm>
          <a:prstGeom prst="roundRect">
            <a:avLst>
              <a:gd fmla="val 9302" name="adj"/>
            </a:avLst>
          </a:prstGeom>
          <a:solidFill>
            <a:srgbClr val="10233B">
              <a:alpha val="96078"/>
            </a:srgbClr>
          </a:solidFill>
          <a:ln cap="flat" cmpd="sng" w="15225">
            <a:solidFill>
              <a:srgbClr val="F59E0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8"/>
          <p:cNvSpPr/>
          <p:nvPr/>
        </p:nvSpPr>
        <p:spPr>
          <a:xfrm>
            <a:off x="1078992" y="1627632"/>
            <a:ext cx="10049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Bitcoin transforma energía computacional en consenso sobre el orden de las transacciones.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8"/>
          <p:cNvSpPr/>
          <p:nvPr/>
        </p:nvSpPr>
        <p:spPr>
          <a:xfrm>
            <a:off x="868680" y="2743200"/>
            <a:ext cx="3337560" cy="1051560"/>
          </a:xfrm>
          <a:prstGeom prst="roundRect">
            <a:avLst>
              <a:gd fmla="val 5217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8"/>
          <p:cNvSpPr/>
          <p:nvPr/>
        </p:nvSpPr>
        <p:spPr>
          <a:xfrm>
            <a:off x="868680" y="2743200"/>
            <a:ext cx="64008" cy="105156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8"/>
          <p:cNvSpPr/>
          <p:nvPr/>
        </p:nvSpPr>
        <p:spPr>
          <a:xfrm>
            <a:off x="1033272" y="2880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Capa criptográfica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38"/>
          <p:cNvSpPr/>
          <p:nvPr/>
        </p:nvSpPr>
        <p:spPr>
          <a:xfrm>
            <a:off x="1033272" y="3182112"/>
            <a:ext cx="30266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Firmas digitales + hashes + Merkle trees permiten verificar propiedad, integridad e inclusión.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38"/>
          <p:cNvSpPr/>
          <p:nvPr/>
        </p:nvSpPr>
        <p:spPr>
          <a:xfrm>
            <a:off x="4434840" y="2743200"/>
            <a:ext cx="3337560" cy="1051560"/>
          </a:xfrm>
          <a:prstGeom prst="roundRect">
            <a:avLst>
              <a:gd fmla="val 5217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38"/>
          <p:cNvSpPr/>
          <p:nvPr/>
        </p:nvSpPr>
        <p:spPr>
          <a:xfrm>
            <a:off x="4434840" y="2743200"/>
            <a:ext cx="64008" cy="10515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38"/>
          <p:cNvSpPr/>
          <p:nvPr/>
        </p:nvSpPr>
        <p:spPr>
          <a:xfrm>
            <a:off x="4599432" y="2880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Capa de red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38"/>
          <p:cNvSpPr/>
          <p:nvPr/>
        </p:nvSpPr>
        <p:spPr>
          <a:xfrm>
            <a:off x="4599432" y="3182112"/>
            <a:ext cx="30266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red P2P difunde transacciones y bloques sin autoridad central.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8"/>
          <p:cNvSpPr/>
          <p:nvPr/>
        </p:nvSpPr>
        <p:spPr>
          <a:xfrm>
            <a:off x="8001000" y="2743200"/>
            <a:ext cx="3337560" cy="1051560"/>
          </a:xfrm>
          <a:prstGeom prst="roundRect">
            <a:avLst>
              <a:gd fmla="val 5217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8"/>
          <p:cNvSpPr/>
          <p:nvPr/>
        </p:nvSpPr>
        <p:spPr>
          <a:xfrm>
            <a:off x="8001000" y="2743200"/>
            <a:ext cx="64008" cy="10515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8"/>
          <p:cNvSpPr/>
          <p:nvPr/>
        </p:nvSpPr>
        <p:spPr>
          <a:xfrm>
            <a:off x="8165592" y="2880360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Capa económica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8"/>
          <p:cNvSpPr/>
          <p:nvPr/>
        </p:nvSpPr>
        <p:spPr>
          <a:xfrm>
            <a:off x="8165592" y="3182112"/>
            <a:ext cx="30266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Proof of Work + recompensas + comisiones alinean recursos e incentivos.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8"/>
          <p:cNvSpPr/>
          <p:nvPr/>
        </p:nvSpPr>
        <p:spPr>
          <a:xfrm>
            <a:off x="1508760" y="4800600"/>
            <a:ext cx="9144000" cy="731520"/>
          </a:xfrm>
          <a:prstGeom prst="roundRect">
            <a:avLst>
              <a:gd fmla="val 10000" name="adj"/>
            </a:avLst>
          </a:prstGeom>
          <a:solidFill>
            <a:srgbClr val="071225"/>
          </a:solidFill>
          <a:ln cap="flat" cmpd="sng" w="17775">
            <a:solidFill>
              <a:srgbClr val="F59E0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8"/>
          <p:cNvSpPr/>
          <p:nvPr/>
        </p:nvSpPr>
        <p:spPr>
          <a:xfrm>
            <a:off x="1655064" y="4910328"/>
            <a:ext cx="88513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Consenso = historial válido con mayor trabajo acumulado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9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290" name="Google Shape;1290;p39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Profundización técnica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291" name="Google Shape;1291;p39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9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Catorce diapositivas para conectar el argumento de 2008 con la arquitectura que usan hoy los nodos y las wallets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293" name="Google Shape;1293;p39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9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295" name="Google Shape;1295;p39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35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296" name="Google Shape;1296;p39"/>
          <p:cNvSpPr txBox="1"/>
          <p:nvPr/>
        </p:nvSpPr>
        <p:spPr>
          <a:xfrm>
            <a:off x="939800" y="2159000"/>
            <a:ext cx="5460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59E0B"/>
                </a:solidFill>
              </a:rPr>
              <a:t>BITCOIN</a:t>
            </a:r>
            <a:endParaRPr b="1" sz="3900">
              <a:solidFill>
                <a:srgbClr val="F59E0B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59E0B"/>
                </a:solidFill>
              </a:rPr>
              <a:t>BAJO EL CAPÓ</a:t>
            </a:r>
            <a:endParaRPr b="1" sz="3900">
              <a:solidFill>
                <a:srgbClr val="F59E0B"/>
              </a:solidFill>
            </a:endParaRPr>
          </a:p>
        </p:txBody>
      </p:sp>
      <p:sp>
        <p:nvSpPr>
          <p:cNvPr id="1297" name="Google Shape;1297;p39"/>
          <p:cNvSpPr/>
          <p:nvPr/>
        </p:nvSpPr>
        <p:spPr>
          <a:xfrm>
            <a:off x="7048500" y="2095500"/>
            <a:ext cx="4127400" cy="1079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Transacciones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UTXO, mempool, selección de monedas y fees.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298" name="Google Shape;1298;p39"/>
          <p:cNvSpPr/>
          <p:nvPr/>
        </p:nvSpPr>
        <p:spPr>
          <a:xfrm>
            <a:off x="7048500" y="3429000"/>
            <a:ext cx="4127400" cy="1079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Bloques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Cabecera, target, dificultad y propagación.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299" name="Google Shape;1299;p39"/>
          <p:cNvSpPr/>
          <p:nvPr/>
        </p:nvSpPr>
        <p:spPr>
          <a:xfrm>
            <a:off x="7048500" y="4762500"/>
            <a:ext cx="4127400" cy="1079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Actores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Wallets, nodos completos, pools y mineros.</a:t>
            </a:r>
            <a:endParaRPr sz="1150">
              <a:solidFill>
                <a:srgbClr val="DDE8F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0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07" name="Google Shape;1307;p40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Anatomía técnica de una transacción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308" name="Google Shape;1308;p40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0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La estructura separa referencias a valor previo, nuevas condiciones de gasto y datos de autorización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310" name="Google Shape;1310;p40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0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312" name="Google Shape;1312;p40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36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313" name="Google Shape;1313;p40"/>
          <p:cNvSpPr/>
          <p:nvPr/>
        </p:nvSpPr>
        <p:spPr>
          <a:xfrm>
            <a:off x="698500" y="2095500"/>
            <a:ext cx="3302100" cy="23496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Inputs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Outpoint previo, scriptSig o witness y sequence. Cada input consume un output completo.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14" name="Google Shape;1314;p40"/>
          <p:cNvSpPr/>
          <p:nvPr/>
        </p:nvSpPr>
        <p:spPr>
          <a:xfrm>
            <a:off x="4445000" y="2095500"/>
            <a:ext cx="3302100" cy="23496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Cuerpo común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Versión, cantidad de inputs, cantidad de outputs y locktime describen la operación.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15" name="Google Shape;1315;p40"/>
          <p:cNvSpPr/>
          <p:nvPr/>
        </p:nvSpPr>
        <p:spPr>
          <a:xfrm>
            <a:off x="8191500" y="2095500"/>
            <a:ext cx="3302100" cy="23496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Outputs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Cada output fija un valor en satoshis y un scriptPubKey que define cómo podrá gastarse.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16" name="Google Shape;1316;p40"/>
          <p:cNvSpPr/>
          <p:nvPr/>
        </p:nvSpPr>
        <p:spPr>
          <a:xfrm>
            <a:off x="2984500" y="5143500"/>
            <a:ext cx="6222900" cy="6984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Σ inputs = Σ outputs + fee</a:t>
            </a:r>
            <a:endParaRPr b="1" sz="1600">
              <a:solidFill>
                <a:srgbClr val="F59E0B"/>
              </a:solidFill>
            </a:endParaRPr>
          </a:p>
        </p:txBody>
      </p:sp>
      <p:sp>
        <p:nvSpPr>
          <p:cNvPr id="1317" name="Google Shape;1317;p40"/>
          <p:cNvSpPr txBox="1"/>
          <p:nvPr/>
        </p:nvSpPr>
        <p:spPr>
          <a:xfrm>
            <a:off x="1841500" y="6032500"/>
            <a:ext cx="850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AFC"/>
                </a:solidFill>
              </a:rPr>
              <a:t>SegWit conserva los efectos económicos en la estructura base y coloca las pruebas de autorización en witness.</a:t>
            </a:r>
            <a:endParaRPr b="1" sz="120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1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25" name="Google Shape;1325;p41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UTXO como estado verificable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326" name="Google Shape;1326;p41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41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El estado monetario relevante es el conjunto de outputs aún no gastados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328" name="Google Shape;1328;p41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41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330" name="Google Shape;1330;p41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37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331" name="Google Shape;1331;p41"/>
          <p:cNvSpPr/>
          <p:nvPr/>
        </p:nvSpPr>
        <p:spPr>
          <a:xfrm>
            <a:off x="698500" y="2222500"/>
            <a:ext cx="3238500" cy="1905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Antes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Alice controla dos UTXO: 0,30 BTC y 0,50 BTC.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32" name="Google Shape;1332;p41"/>
          <p:cNvSpPr/>
          <p:nvPr/>
        </p:nvSpPr>
        <p:spPr>
          <a:xfrm>
            <a:off x="4470400" y="2222500"/>
            <a:ext cx="3238500" cy="1905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Transacción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Consume ambos outputs y crea pago, cambio y fee.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33" name="Google Shape;1333;p41"/>
          <p:cNvSpPr/>
          <p:nvPr/>
        </p:nvSpPr>
        <p:spPr>
          <a:xfrm>
            <a:off x="8255000" y="2222500"/>
            <a:ext cx="3238500" cy="1905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Después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Bob recibe 0,65 BTC. Alice recibe 0,14 BTC. La fee suma 0,01 BTC.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34" name="Google Shape;1334;p41"/>
          <p:cNvSpPr/>
          <p:nvPr/>
        </p:nvSpPr>
        <p:spPr>
          <a:xfrm>
            <a:off x="1905000" y="4889500"/>
            <a:ext cx="83820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0,30 + 0,50 = 0,65 + 0,14 + 0,01 BTC</a:t>
            </a:r>
            <a:endParaRPr b="1" sz="1600">
              <a:solidFill>
                <a:srgbClr val="F59E0B"/>
              </a:solidFill>
            </a:endParaRPr>
          </a:p>
        </p:txBody>
      </p:sp>
      <p:sp>
        <p:nvSpPr>
          <p:cNvPr id="1335" name="Google Shape;1335;p41"/>
          <p:cNvSpPr txBox="1"/>
          <p:nvPr/>
        </p:nvSpPr>
        <p:spPr>
          <a:xfrm>
            <a:off x="1905000" y="5943600"/>
            <a:ext cx="8382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AFC"/>
                </a:solidFill>
              </a:rPr>
              <a:t>Un input no se recorta. La wallet debe gastar el UTXO completo y crear cambio cuando corresponde.</a:t>
            </a:r>
            <a:endParaRPr b="1" sz="120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42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43" name="Google Shape;1343;p42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Mempool: una vista local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344" name="Google Shape;1344;p42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42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Las transacciones válidas pueden propagarse de forma distinta antes de entrar en un bloque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346" name="Google Shape;1346;p42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2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348" name="Google Shape;1348;p42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38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349" name="Google Shape;1349;p42"/>
          <p:cNvSpPr/>
          <p:nvPr/>
        </p:nvSpPr>
        <p:spPr>
          <a:xfrm>
            <a:off x="6985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Recepción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nodo recibe una transacción y comprueba estructura, scripts y conflictos.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50" name="Google Shape;1350;p42"/>
          <p:cNvSpPr/>
          <p:nvPr/>
        </p:nvSpPr>
        <p:spPr>
          <a:xfrm>
            <a:off x="44704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Política local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Cada nodo aplica reglas de admisión y reemplazo que no forman parte del consenso de bloques.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51" name="Google Shape;1351;p42"/>
          <p:cNvSpPr/>
          <p:nvPr/>
        </p:nvSpPr>
        <p:spPr>
          <a:xfrm>
            <a:off x="82550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Selección minera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constructor del bloque prioriza transacciones según fee rate, dependencias y restricciones.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52" name="Google Shape;1352;p42"/>
          <p:cNvSpPr/>
          <p:nvPr/>
        </p:nvSpPr>
        <p:spPr>
          <a:xfrm>
            <a:off x="2095500" y="4953000"/>
            <a:ext cx="8001000" cy="11685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Precisión conceptual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No existe una mempool global idéntica. Dos nodos pueden conservar conjuntos diferentes sin romper el consenso.</a:t>
            </a:r>
            <a:endParaRPr sz="1150">
              <a:solidFill>
                <a:srgbClr val="DDE8F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43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60" name="Google Shape;1360;p43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Cabecera de bloque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361" name="Google Shape;1361;p43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43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Seis campos comprometen historia, transacciones y dificultad en solo 80 bytes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363" name="Google Shape;1363;p43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43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365" name="Google Shape;1365;p43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39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366" name="Google Shape;1366;p43"/>
          <p:cNvSpPr/>
          <p:nvPr/>
        </p:nvSpPr>
        <p:spPr>
          <a:xfrm>
            <a:off x="698500" y="20320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Versión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reglas señalizadas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67" name="Google Shape;1367;p43"/>
          <p:cNvSpPr/>
          <p:nvPr/>
        </p:nvSpPr>
        <p:spPr>
          <a:xfrm>
            <a:off x="4470400" y="20320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Hash previo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enlace histórico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68" name="Google Shape;1368;p43"/>
          <p:cNvSpPr/>
          <p:nvPr/>
        </p:nvSpPr>
        <p:spPr>
          <a:xfrm>
            <a:off x="8242300" y="20320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Merkle root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resumen de transacciones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69" name="Google Shape;1369;p43"/>
          <p:cNvSpPr/>
          <p:nvPr/>
        </p:nvSpPr>
        <p:spPr>
          <a:xfrm>
            <a:off x="698500" y="38735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Tiempo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marca aproximada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70" name="Google Shape;1370;p43"/>
          <p:cNvSpPr/>
          <p:nvPr/>
        </p:nvSpPr>
        <p:spPr>
          <a:xfrm>
            <a:off x="4470400" y="38735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nBits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target codificado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71" name="Google Shape;1371;p43"/>
          <p:cNvSpPr/>
          <p:nvPr/>
        </p:nvSpPr>
        <p:spPr>
          <a:xfrm>
            <a:off x="8242300" y="3873500"/>
            <a:ext cx="3238500" cy="1422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Nonce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espacio de búsqueda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72" name="Google Shape;1372;p43"/>
          <p:cNvSpPr/>
          <p:nvPr/>
        </p:nvSpPr>
        <p:spPr>
          <a:xfrm>
            <a:off x="3619500" y="5969000"/>
            <a:ext cx="4953000" cy="571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H(cabecera) &lt; target</a:t>
            </a:r>
            <a:endParaRPr b="1" sz="1600">
              <a:solidFill>
                <a:srgbClr val="F59E0B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44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80" name="Google Shape;1380;p44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Target, dificultad y trabajo esperado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381" name="Google Shape;1381;p44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44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Proof of Work convierte un umbral numérico en costo estadístico verificable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383" name="Google Shape;1383;p44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44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385" name="Google Shape;1385;p44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40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386" name="Google Shape;1386;p44"/>
          <p:cNvSpPr/>
          <p:nvPr/>
        </p:nvSpPr>
        <p:spPr>
          <a:xfrm>
            <a:off x="6985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Target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Máximo hash aceptable. Un target menor exige resultados más raros.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87" name="Google Shape;1387;p44"/>
          <p:cNvSpPr/>
          <p:nvPr/>
        </p:nvSpPr>
        <p:spPr>
          <a:xfrm>
            <a:off x="44704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Probabilidad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Cada hash tiene probabilidad aproximada target / 2²⁵⁶ de cumplir.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88" name="Google Shape;1388;p44"/>
          <p:cNvSpPr/>
          <p:nvPr/>
        </p:nvSpPr>
        <p:spPr>
          <a:xfrm>
            <a:off x="82550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Trabajo esperado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número esperado de intentos es el inverso de la probabilidad de éxito.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389" name="Google Shape;1389;p44"/>
          <p:cNvSpPr/>
          <p:nvPr/>
        </p:nvSpPr>
        <p:spPr>
          <a:xfrm>
            <a:off x="2413000" y="5016500"/>
            <a:ext cx="3302100" cy="6984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8BDF8"/>
                </a:solidFill>
              </a:rPr>
              <a:t>p = target / 2²⁵⁶</a:t>
            </a:r>
            <a:endParaRPr b="1" sz="1600">
              <a:solidFill>
                <a:srgbClr val="38BDF8"/>
              </a:solidFill>
            </a:endParaRPr>
          </a:p>
        </p:txBody>
      </p:sp>
      <p:sp>
        <p:nvSpPr>
          <p:cNvPr id="1390" name="Google Shape;1390;p44"/>
          <p:cNvSpPr/>
          <p:nvPr/>
        </p:nvSpPr>
        <p:spPr>
          <a:xfrm>
            <a:off x="6477000" y="5016500"/>
            <a:ext cx="3302100" cy="6984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E[intentos] = 1 / p</a:t>
            </a:r>
            <a:endParaRPr b="1" sz="1600">
              <a:solidFill>
                <a:srgbClr val="F59E0B"/>
              </a:solidFill>
            </a:endParaRPr>
          </a:p>
        </p:txBody>
      </p:sp>
      <p:sp>
        <p:nvSpPr>
          <p:cNvPr id="1391" name="Google Shape;1391;p44"/>
          <p:cNvSpPr txBox="1"/>
          <p:nvPr/>
        </p:nvSpPr>
        <p:spPr>
          <a:xfrm>
            <a:off x="1841500" y="6032500"/>
            <a:ext cx="850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AFC"/>
                </a:solidFill>
              </a:rPr>
              <a:t>Encontrar la prueba cuesta muchos intentos. Verificarla requiere calcular un hash y compararlo con el target.</a:t>
            </a:r>
            <a:endParaRPr b="1" sz="120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45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399" name="Google Shape;1399;p45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Ajuste de dificultad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00" name="Google Shape;1400;p45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5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La red corrige el target cada 2.016 bloques para conservar el ritmo promedio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02" name="Google Shape;1402;p45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45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404" name="Google Shape;1404;p45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41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405" name="Google Shape;1405;p45"/>
          <p:cNvSpPr/>
          <p:nvPr/>
        </p:nvSpPr>
        <p:spPr>
          <a:xfrm>
            <a:off x="6985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Ventana observada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La red mide cuánto tardaron los últimos 2.016 bloques.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06" name="Google Shape;1406;p45"/>
          <p:cNvSpPr/>
          <p:nvPr/>
        </p:nvSpPr>
        <p:spPr>
          <a:xfrm>
            <a:off x="44704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Tiempo de referencia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Con diez minutos por bloque, la ventana equivale a 20.160 minutos.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07" name="Google Shape;1407;p45"/>
          <p:cNvSpPr/>
          <p:nvPr/>
        </p:nvSpPr>
        <p:spPr>
          <a:xfrm>
            <a:off x="8255000" y="2159000"/>
            <a:ext cx="3238500" cy="21591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Nuevo target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Si la ventana resultó rápida, el target baja. Si fue lenta, el target sube.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08" name="Google Shape;1408;p45"/>
          <p:cNvSpPr/>
          <p:nvPr/>
        </p:nvSpPr>
        <p:spPr>
          <a:xfrm>
            <a:off x="1905000" y="5080000"/>
            <a:ext cx="83820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nuevo target = target anterior × tiempo real / tiempo esperado</a:t>
            </a:r>
            <a:endParaRPr b="1" sz="1600">
              <a:solidFill>
                <a:srgbClr val="F59E0B"/>
              </a:solidFill>
            </a:endParaRPr>
          </a:p>
        </p:txBody>
      </p:sp>
      <p:sp>
        <p:nvSpPr>
          <p:cNvPr id="1409" name="Google Shape;1409;p45"/>
          <p:cNvSpPr txBox="1"/>
          <p:nvPr/>
        </p:nvSpPr>
        <p:spPr>
          <a:xfrm>
            <a:off x="1905000" y="60960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AFC"/>
                </a:solidFill>
              </a:rPr>
              <a:t>Diez minutos es un promedio. Los intervalos individuales conservan variabilidad aleatoria.</a:t>
            </a:r>
            <a:endParaRPr b="1" sz="120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46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417" name="Google Shape;1417;p46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Bifurcación temporal y reorganización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18" name="Google Shape;1418;p46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46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Dos bloques válidos pueden competir hasta que una rama acumula más trabajo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20" name="Google Shape;1420;p46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46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422" name="Google Shape;1422;p46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42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423" name="Google Shape;1423;p46"/>
          <p:cNvSpPr/>
          <p:nvPr/>
        </p:nvSpPr>
        <p:spPr>
          <a:xfrm>
            <a:off x="698500" y="34290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Bloque 100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Ancestro común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24" name="Google Shape;1424;p46"/>
          <p:cNvSpPr/>
          <p:nvPr/>
        </p:nvSpPr>
        <p:spPr>
          <a:xfrm>
            <a:off x="3810000" y="22225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101A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Primera rama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25" name="Google Shape;1425;p46"/>
          <p:cNvSpPr/>
          <p:nvPr/>
        </p:nvSpPr>
        <p:spPr>
          <a:xfrm>
            <a:off x="6921500" y="22225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102A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Cadena activa inicial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26" name="Google Shape;1426;p46"/>
          <p:cNvSpPr/>
          <p:nvPr/>
        </p:nvSpPr>
        <p:spPr>
          <a:xfrm>
            <a:off x="3810000" y="46355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101B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Rama competidora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27" name="Google Shape;1427;p46"/>
          <p:cNvSpPr/>
          <p:nvPr/>
        </p:nvSpPr>
        <p:spPr>
          <a:xfrm>
            <a:off x="6921500" y="46355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102B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Más chainwork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28" name="Google Shape;1428;p46"/>
          <p:cNvSpPr/>
          <p:nvPr/>
        </p:nvSpPr>
        <p:spPr>
          <a:xfrm>
            <a:off x="9906000" y="4635500"/>
            <a:ext cx="1905000" cy="10413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Nueva punta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Los nodos activan B</a:t>
            </a:r>
            <a:endParaRPr sz="1150">
              <a:solidFill>
                <a:srgbClr val="DDE8F2"/>
              </a:solidFill>
            </a:endParaRPr>
          </a:p>
        </p:txBody>
      </p:sp>
      <p:cxnSp>
        <p:nvCxnSpPr>
          <p:cNvPr id="1429" name="Google Shape;1429;p46"/>
          <p:cNvCxnSpPr/>
          <p:nvPr/>
        </p:nvCxnSpPr>
        <p:spPr>
          <a:xfrm flipH="1" rot="10800000">
            <a:off x="2603500" y="2743100"/>
            <a:ext cx="1206600" cy="120660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0" name="Google Shape;1430;p46"/>
          <p:cNvCxnSpPr/>
          <p:nvPr/>
        </p:nvCxnSpPr>
        <p:spPr>
          <a:xfrm>
            <a:off x="5715000" y="2743200"/>
            <a:ext cx="1206600" cy="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1" name="Google Shape;1431;p46"/>
          <p:cNvCxnSpPr/>
          <p:nvPr/>
        </p:nvCxnSpPr>
        <p:spPr>
          <a:xfrm>
            <a:off x="2603500" y="3949700"/>
            <a:ext cx="1206600" cy="12066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2" name="Google Shape;1432;p46"/>
          <p:cNvCxnSpPr/>
          <p:nvPr/>
        </p:nvCxnSpPr>
        <p:spPr>
          <a:xfrm>
            <a:off x="5715000" y="5156200"/>
            <a:ext cx="1206600" cy="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46"/>
          <p:cNvCxnSpPr/>
          <p:nvPr/>
        </p:nvCxnSpPr>
        <p:spPr>
          <a:xfrm>
            <a:off x="8826500" y="5156200"/>
            <a:ext cx="107940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4" name="Google Shape;1434;p46"/>
          <p:cNvSpPr txBox="1"/>
          <p:nvPr/>
        </p:nvSpPr>
        <p:spPr>
          <a:xfrm>
            <a:off x="2095500" y="603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Los nodos deshacen los efectos de la rama A y aplican los bloques de la rama B sobre el conjunto UTXO.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47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442" name="Google Shape;1442;p47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Funciones de wallets, nodos y mineros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43" name="Google Shape;1443;p47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47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La separación de roles evita atribuir a la minería poderes que no posee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45" name="Google Shape;1445;p47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47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447" name="Google Shape;1447;p47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43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448" name="Google Shape;1448;p47"/>
          <p:cNvSpPr/>
          <p:nvPr/>
        </p:nvSpPr>
        <p:spPr>
          <a:xfrm>
            <a:off x="6985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Wallet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Gestiona claves, selecciona UTXO, construye transacciones y estima fees.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49" name="Google Shape;1449;p47"/>
          <p:cNvSpPr/>
          <p:nvPr/>
        </p:nvSpPr>
        <p:spPr>
          <a:xfrm>
            <a:off x="44704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Nodo completo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Verifica todas las reglas, mantiene el conjunto UTXO y selecciona cadena por chainwork.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50" name="Google Shape;1450;p47"/>
          <p:cNvSpPr/>
          <p:nvPr/>
        </p:nvSpPr>
        <p:spPr>
          <a:xfrm>
            <a:off x="82550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Minero o pool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Construye bloques candidatos y busca Proof of Work. Propone, pero no impone reglas.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51" name="Google Shape;1451;p47"/>
          <p:cNvSpPr/>
          <p:nvPr/>
        </p:nvSpPr>
        <p:spPr>
          <a:xfrm>
            <a:off x="3111500" y="5334000"/>
            <a:ext cx="59691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F4444"/>
                </a:solidFill>
              </a:rPr>
              <a:t>proponer bloques ≠ validar reglas</a:t>
            </a:r>
            <a:endParaRPr b="1" sz="1600">
              <a:solidFill>
                <a:srgbClr val="EF4444"/>
              </a:solidFill>
            </a:endParaRPr>
          </a:p>
        </p:txBody>
      </p:sp>
      <p:sp>
        <p:nvSpPr>
          <p:cNvPr id="1452" name="Google Shape;1452;p47"/>
          <p:cNvSpPr txBox="1"/>
          <p:nvPr/>
        </p:nvSpPr>
        <p:spPr>
          <a:xfrm>
            <a:off x="1968500" y="6223000"/>
            <a:ext cx="825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La descentralización depende de que cada nodo pueda rechazar un bloque inválido aunque tenga Proof of Work.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48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460" name="Google Shape;1460;p48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Transacción coinbase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61" name="Google Shape;1461;p48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48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El primer registro del bloque crea el subsidio y asigna las fees al minero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63" name="Google Shape;1463;p48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48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465" name="Google Shape;1465;p48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44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466" name="Google Shape;1466;p48"/>
          <p:cNvSpPr/>
          <p:nvPr/>
        </p:nvSpPr>
        <p:spPr>
          <a:xfrm>
            <a:off x="6985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Input especial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No referencia un UTXO anterior. Solo resulta válido como primer input de la coinbase.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67" name="Google Shape;1467;p48"/>
          <p:cNvSpPr/>
          <p:nvPr/>
        </p:nvSpPr>
        <p:spPr>
          <a:xfrm>
            <a:off x="44704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Output del minero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Puede asignar hasta el subsidio vigente más la suma de las fees del bloque.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68" name="Google Shape;1468;p48"/>
          <p:cNvSpPr/>
          <p:nvPr/>
        </p:nvSpPr>
        <p:spPr>
          <a:xfrm>
            <a:off x="82550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Maduración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output coinbase necesita 100 bloques antes de poder gastarse.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69" name="Google Shape;1469;p48"/>
          <p:cNvSpPr/>
          <p:nvPr/>
        </p:nvSpPr>
        <p:spPr>
          <a:xfrm>
            <a:off x="2984500" y="5207000"/>
            <a:ext cx="62229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</a:rPr>
              <a:t>recompensa = subsidio + Σ fees</a:t>
            </a:r>
            <a:endParaRPr b="1" sz="1600">
              <a:solidFill>
                <a:srgbClr val="F59E0B"/>
              </a:solidFill>
            </a:endParaRPr>
          </a:p>
        </p:txBody>
      </p:sp>
      <p:sp>
        <p:nvSpPr>
          <p:cNvPr id="1470" name="Google Shape;1470;p48"/>
          <p:cNvSpPr txBox="1"/>
          <p:nvPr/>
        </p:nvSpPr>
        <p:spPr>
          <a:xfrm>
            <a:off x="2095500" y="615950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La maduración reduce el impacto de reorganizaciones sobre recompensas recién creadas.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49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478" name="Google Shape;1478;p49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Mercado de espacio de bloque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79" name="Google Shape;1479;p49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49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Las fees coordinan demanda de inclusión y oferta limitada de capacidad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81" name="Google Shape;1481;p49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49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483" name="Google Shape;1483;p49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45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484" name="Google Shape;1484;p49"/>
          <p:cNvSpPr/>
          <p:nvPr/>
        </p:nvSpPr>
        <p:spPr>
          <a:xfrm>
            <a:off x="6985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Fee total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Diferencia entre el valor de inputs y outputs de una transacción.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85" name="Google Shape;1485;p49"/>
          <p:cNvSpPr/>
          <p:nvPr/>
        </p:nvSpPr>
        <p:spPr>
          <a:xfrm>
            <a:off x="44704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Fee rate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Comisión por unidad de peso. Permite comparar transacciones de tamaños distintos.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86" name="Google Shape;1486;p49"/>
          <p:cNvSpPr/>
          <p:nvPr/>
        </p:nvSpPr>
        <p:spPr>
          <a:xfrm>
            <a:off x="8255000" y="2159000"/>
            <a:ext cx="3238500" cy="22860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Selección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minero evalúa paquetes, dependencias y restricciones para maximizar ingreso esperado.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487" name="Google Shape;1487;p49"/>
          <p:cNvSpPr/>
          <p:nvPr/>
        </p:nvSpPr>
        <p:spPr>
          <a:xfrm>
            <a:off x="3048000" y="5207000"/>
            <a:ext cx="60960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78BFA"/>
                </a:solidFill>
              </a:rPr>
              <a:t>fee rate = fee / virtual bytes</a:t>
            </a:r>
            <a:endParaRPr b="1" sz="1600">
              <a:solidFill>
                <a:srgbClr val="A78BFA"/>
              </a:solidFill>
            </a:endParaRPr>
          </a:p>
        </p:txBody>
      </p:sp>
      <p:sp>
        <p:nvSpPr>
          <p:cNvPr id="1488" name="Google Shape;1488;p49"/>
          <p:cNvSpPr txBox="1"/>
          <p:nvPr/>
        </p:nvSpPr>
        <p:spPr>
          <a:xfrm>
            <a:off x="1968500" y="6159500"/>
            <a:ext cx="825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Una fee alta no vuelve válida una transacción inválida. Solo influye después de superar las reglas.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50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496" name="Google Shape;1496;p50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SPV: capacidad y supuesto de confianza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497" name="Google Shape;1497;p50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50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Una prueba Merkle demuestra inclusión, pero no reemplaza la validación completa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499" name="Google Shape;1499;p50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50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501" name="Google Shape;1501;p50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46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502" name="Google Shape;1502;p50"/>
          <p:cNvSpPr/>
          <p:nvPr/>
        </p:nvSpPr>
        <p:spPr>
          <a:xfrm>
            <a:off x="6985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Comprueba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Cadena de cabeceras, Proof of Work e inclusión de una transacción mediante una rama Merkle.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03" name="Google Shape;1503;p50"/>
          <p:cNvSpPr/>
          <p:nvPr/>
        </p:nvSpPr>
        <p:spPr>
          <a:xfrm>
            <a:off x="44704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No reproduce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Validación exhaustiva de todos los scripts, emisiones y reglas de cada bloque.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04" name="Google Shape;1504;p50"/>
          <p:cNvSpPr/>
          <p:nvPr/>
        </p:nvSpPr>
        <p:spPr>
          <a:xfrm>
            <a:off x="82550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Depende de pares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Necesita que otros nodos le informen bloques y transacciones relevantes sin ocultarlos.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05" name="Google Shape;1505;p50"/>
          <p:cNvSpPr/>
          <p:nvPr/>
        </p:nvSpPr>
        <p:spPr>
          <a:xfrm>
            <a:off x="2222500" y="5397500"/>
            <a:ext cx="77469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78BFA"/>
                </a:solidFill>
              </a:rPr>
              <a:t>inclusión verificada ≠ bloque validado por completo</a:t>
            </a:r>
            <a:endParaRPr b="1" sz="1600">
              <a:solidFill>
                <a:srgbClr val="A78BFA"/>
              </a:solidFill>
            </a:endParaRPr>
          </a:p>
        </p:txBody>
      </p:sp>
      <p:sp>
        <p:nvSpPr>
          <p:cNvPr id="1506" name="Google Shape;1506;p50"/>
          <p:cNvSpPr txBox="1"/>
          <p:nvPr/>
        </p:nvSpPr>
        <p:spPr>
          <a:xfrm>
            <a:off x="2032000" y="6286500"/>
            <a:ext cx="812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El ahorro de almacenamiento y ancho de banda implica un modelo de seguridad diferente.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1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514" name="Google Shape;1514;p51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SegWit y la estructura witness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515" name="Google Shape;1515;p51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51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BIP 141 separa las pruebas de autorización de los efectos económicos de la transacción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517" name="Google Shape;1517;p51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1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519" name="Google Shape;1519;p51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47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520" name="Google Shape;1520;p51"/>
          <p:cNvSpPr/>
          <p:nvPr/>
        </p:nvSpPr>
        <p:spPr>
          <a:xfrm>
            <a:off x="6985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Witness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Contiene firmas y scripts necesarios para validar, pero no para identificar inputs y outputs.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21" name="Google Shape;1521;p51"/>
          <p:cNvSpPr/>
          <p:nvPr/>
        </p:nvSpPr>
        <p:spPr>
          <a:xfrm>
            <a:off x="44704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Maleabilidad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SegWit evita que terceros modifiquen el txid mediante cambios en firmas de transacciones SegWit.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22" name="Google Shape;1522;p51"/>
          <p:cNvSpPr/>
          <p:nvPr/>
        </p:nvSpPr>
        <p:spPr>
          <a:xfrm>
            <a:off x="82550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Block weight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La nueva métrica pondera de forma diferente los datos base y witness.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23" name="Google Shape;1523;p51"/>
          <p:cNvSpPr txBox="1"/>
          <p:nvPr/>
        </p:nvSpPr>
        <p:spPr>
          <a:xfrm>
            <a:off x="1905000" y="55880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AFC"/>
                </a:solidFill>
              </a:rPr>
              <a:t>SegWit amplía Bitcoin mediante una soft fork y conserva el modelo UTXO, la validación y Proof of Work.</a:t>
            </a:r>
            <a:endParaRPr b="1" sz="120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52"/>
          <p:cNvSpPr txBox="1"/>
          <p:nvPr/>
        </p:nvSpPr>
        <p:spPr>
          <a:xfrm>
            <a:off x="635000" y="254000"/>
            <a:ext cx="406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59E0B"/>
                </a:solidFill>
              </a:rPr>
              <a:t>PROFUNDIZACIÓN TÉCNICA</a:t>
            </a:r>
            <a:endParaRPr b="1" sz="850">
              <a:solidFill>
                <a:srgbClr val="F59E0B"/>
              </a:solidFill>
            </a:endParaRPr>
          </a:p>
        </p:txBody>
      </p:sp>
      <p:sp>
        <p:nvSpPr>
          <p:cNvPr id="1531" name="Google Shape;1531;p52"/>
          <p:cNvSpPr txBox="1"/>
          <p:nvPr/>
        </p:nvSpPr>
        <p:spPr>
          <a:xfrm>
            <a:off x="635000" y="533400"/>
            <a:ext cx="1092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7FAFC"/>
                </a:solidFill>
              </a:rPr>
              <a:t>Schnorr y Taproot</a:t>
            </a:r>
            <a:endParaRPr b="1" sz="2500">
              <a:solidFill>
                <a:srgbClr val="F7FAFC"/>
              </a:solidFill>
            </a:endParaRPr>
          </a:p>
        </p:txBody>
      </p:sp>
      <p:sp>
        <p:nvSpPr>
          <p:cNvPr id="1532" name="Google Shape;1532;p52"/>
          <p:cNvSpPr/>
          <p:nvPr/>
        </p:nvSpPr>
        <p:spPr>
          <a:xfrm>
            <a:off x="635000" y="1231900"/>
            <a:ext cx="17781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52"/>
          <p:cNvSpPr txBox="1"/>
          <p:nvPr/>
        </p:nvSpPr>
        <p:spPr>
          <a:xfrm>
            <a:off x="635000" y="1371600"/>
            <a:ext cx="10858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FB3CB"/>
                </a:solidFill>
              </a:rPr>
              <a:t>BIP 340 y BIP 341 modernizan firmas y condiciones de gasto</a:t>
            </a:r>
            <a:endParaRPr sz="1150">
              <a:solidFill>
                <a:srgbClr val="8FB3CB"/>
              </a:solidFill>
            </a:endParaRPr>
          </a:p>
        </p:txBody>
      </p:sp>
      <p:sp>
        <p:nvSpPr>
          <p:cNvPr id="1534" name="Google Shape;1534;p52"/>
          <p:cNvSpPr/>
          <p:nvPr/>
        </p:nvSpPr>
        <p:spPr>
          <a:xfrm>
            <a:off x="635000" y="6502400"/>
            <a:ext cx="10922100" cy="12600"/>
          </a:xfrm>
          <a:prstGeom prst="rect">
            <a:avLst/>
          </a:prstGeom>
          <a:solidFill>
            <a:srgbClr val="1E3A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52"/>
          <p:cNvSpPr txBox="1"/>
          <p:nvPr/>
        </p:nvSpPr>
        <p:spPr>
          <a:xfrm>
            <a:off x="635000" y="6565900"/>
            <a:ext cx="6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FB3CB"/>
                </a:solidFill>
              </a:rPr>
              <a:t>Material elaborado por el profesor Sergio Gevatschnaider</a:t>
            </a:r>
            <a:endParaRPr sz="750">
              <a:solidFill>
                <a:srgbClr val="8FB3CB"/>
              </a:solidFill>
            </a:endParaRPr>
          </a:p>
        </p:txBody>
      </p:sp>
      <p:sp>
        <p:nvSpPr>
          <p:cNvPr id="1536" name="Google Shape;1536;p52"/>
          <p:cNvSpPr txBox="1"/>
          <p:nvPr/>
        </p:nvSpPr>
        <p:spPr>
          <a:xfrm>
            <a:off x="10795000" y="6565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B"/>
                </a:solidFill>
              </a:rPr>
              <a:t>48</a:t>
            </a:r>
            <a:endParaRPr b="1" sz="800">
              <a:solidFill>
                <a:srgbClr val="F59E0B"/>
              </a:solidFill>
            </a:endParaRPr>
          </a:p>
        </p:txBody>
      </p:sp>
      <p:sp>
        <p:nvSpPr>
          <p:cNvPr id="1537" name="Google Shape;1537;p52"/>
          <p:cNvSpPr/>
          <p:nvPr/>
        </p:nvSpPr>
        <p:spPr>
          <a:xfrm>
            <a:off x="6985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Firmas Schnorr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BIP 340 define firmas de 64 bytes sobre secp256k1 con propiedades algebraicas claras.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38" name="Google Shape;1538;p52"/>
          <p:cNvSpPr/>
          <p:nvPr/>
        </p:nvSpPr>
        <p:spPr>
          <a:xfrm>
            <a:off x="44704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Ruta de clave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Taproot permite gastar mediante una clave agregada sin revelar scripts alternativos.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39" name="Google Shape;1539;p52"/>
          <p:cNvSpPr/>
          <p:nvPr/>
        </p:nvSpPr>
        <p:spPr>
          <a:xfrm>
            <a:off x="8255000" y="2159000"/>
            <a:ext cx="3238500" cy="2603400"/>
          </a:xfrm>
          <a:prstGeom prst="roundRect">
            <a:avLst>
              <a:gd fmla="val 16667" name="adj"/>
            </a:avLst>
          </a:prstGeom>
          <a:solidFill>
            <a:srgbClr val="102239"/>
          </a:solidFill>
          <a:ln cap="flat" cmpd="sng" w="152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7FAFC"/>
                </a:solidFill>
              </a:rPr>
              <a:t>Ruta de script</a:t>
            </a:r>
            <a:endParaRPr b="1" sz="1500">
              <a:solidFill>
                <a:srgbClr val="F7FAFC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50">
                <a:solidFill>
                  <a:srgbClr val="DDE8F2"/>
                </a:solidFill>
              </a:rPr>
              <a:t>El gasto revela solo la rama ejecutada y una prueba que la vincula con el compromiso Taproot.</a:t>
            </a:r>
            <a:endParaRPr sz="1150">
              <a:solidFill>
                <a:srgbClr val="DDE8F2"/>
              </a:solidFill>
            </a:endParaRPr>
          </a:p>
        </p:txBody>
      </p:sp>
      <p:sp>
        <p:nvSpPr>
          <p:cNvPr id="1540" name="Google Shape;1540;p52"/>
          <p:cNvSpPr/>
          <p:nvPr/>
        </p:nvSpPr>
        <p:spPr>
          <a:xfrm>
            <a:off x="2857500" y="5397500"/>
            <a:ext cx="6477000" cy="736500"/>
          </a:xfrm>
          <a:prstGeom prst="roundRect">
            <a:avLst>
              <a:gd fmla="val 16667" name="adj"/>
            </a:avLst>
          </a:prstGeom>
          <a:solidFill>
            <a:srgbClr val="0D2034"/>
          </a:solidFill>
          <a:ln cap="flat" cmpd="sng" w="152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78BFA"/>
                </a:solidFill>
              </a:rPr>
              <a:t>paper fundacional + evolución compatible</a:t>
            </a:r>
            <a:endParaRPr b="1" sz="1600">
              <a:solidFill>
                <a:srgbClr val="A78BFA"/>
              </a:solidFill>
            </a:endParaRPr>
          </a:p>
        </p:txBody>
      </p:sp>
      <p:sp>
        <p:nvSpPr>
          <p:cNvPr id="1541" name="Google Shape;1541;p52"/>
          <p:cNvSpPr txBox="1"/>
          <p:nvPr/>
        </p:nvSpPr>
        <p:spPr>
          <a:xfrm>
            <a:off x="1905000" y="62865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7FAFC"/>
                </a:solidFill>
              </a:rPr>
              <a:t>La arquitectura de 2008 permanece. Las soft forks agregan capacidades bajo nuevas reglas de gasto.</a:t>
            </a:r>
            <a:endParaRPr b="1" sz="1150">
              <a:solidFill>
                <a:srgbClr val="F7FAFC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53"/>
          <p:cNvSpPr/>
          <p:nvPr/>
        </p:nvSpPr>
        <p:spPr>
          <a:xfrm>
            <a:off x="566928" y="3840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Referencias y lectura recomendada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8" name="Google Shape;1548;p53"/>
          <p:cNvCxnSpPr/>
          <p:nvPr/>
        </p:nvCxnSpPr>
        <p:spPr>
          <a:xfrm>
            <a:off x="566928" y="969264"/>
            <a:ext cx="21031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9" name="Google Shape;1549;p53"/>
          <p:cNvSpPr/>
          <p:nvPr/>
        </p:nvSpPr>
        <p:spPr>
          <a:xfrm>
            <a:off x="566928" y="107899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DD3FC"/>
                </a:solidFill>
                <a:latin typeface="Arial"/>
                <a:ea typeface="Arial"/>
                <a:cs typeface="Arial"/>
                <a:sym typeface="Arial"/>
              </a:rPr>
              <a:t>Fuente primaria y materiales para profundizar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0" name="Google Shape;1550;p5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1D4E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1" name="Google Shape;1551;p53"/>
          <p:cNvSpPr/>
          <p:nvPr/>
        </p:nvSpPr>
        <p:spPr>
          <a:xfrm>
            <a:off x="566928" y="6547104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 · White paper de Bitcoin · Satoshi Nakamoto, 2008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53"/>
          <p:cNvSpPr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20"/>
              <a:buFont typeface="Arial"/>
              <a:buNone/>
            </a:pPr>
            <a:r>
              <a:rPr lang="en-US" sz="820">
                <a:solidFill>
                  <a:schemeClr val="dk1"/>
                </a:solidFill>
              </a:rPr>
              <a:t>49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53"/>
          <p:cNvSpPr/>
          <p:nvPr/>
        </p:nvSpPr>
        <p:spPr>
          <a:xfrm>
            <a:off x="868680" y="1691640"/>
            <a:ext cx="516636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F59E0B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53"/>
          <p:cNvSpPr/>
          <p:nvPr/>
        </p:nvSpPr>
        <p:spPr>
          <a:xfrm>
            <a:off x="868680" y="169164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53"/>
          <p:cNvSpPr/>
          <p:nvPr/>
        </p:nvSpPr>
        <p:spPr>
          <a:xfrm>
            <a:off x="1033272" y="1828800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Fuente primaria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3"/>
          <p:cNvSpPr/>
          <p:nvPr/>
        </p:nvSpPr>
        <p:spPr>
          <a:xfrm>
            <a:off x="1033272" y="2130552"/>
            <a:ext cx="485546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Satoshi Nakamoto (2008). Bitcoin: A Peer-to-Peer Electronic Cash System.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https://bitcoin.org/bitcoin.pdf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53"/>
          <p:cNvSpPr/>
          <p:nvPr/>
        </p:nvSpPr>
        <p:spPr>
          <a:xfrm>
            <a:off x="6355080" y="1691640"/>
            <a:ext cx="489204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38BDF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53"/>
          <p:cNvSpPr/>
          <p:nvPr/>
        </p:nvSpPr>
        <p:spPr>
          <a:xfrm>
            <a:off x="6355080" y="1691640"/>
            <a:ext cx="64008" cy="1188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53"/>
          <p:cNvSpPr/>
          <p:nvPr/>
        </p:nvSpPr>
        <p:spPr>
          <a:xfrm>
            <a:off x="6519672" y="1828800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Código de referencia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53"/>
          <p:cNvSpPr/>
          <p:nvPr/>
        </p:nvSpPr>
        <p:spPr>
          <a:xfrm>
            <a:off x="6519672" y="2130552"/>
            <a:ext cx="45811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Bitcoin Core: implementación abierta del protocolo Bitcoin.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https://github.com/bitcoin/bitcoin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3"/>
          <p:cNvSpPr/>
          <p:nvPr/>
        </p:nvSpPr>
        <p:spPr>
          <a:xfrm>
            <a:off x="868680" y="3337560"/>
            <a:ext cx="516636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22C55E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53"/>
          <p:cNvSpPr/>
          <p:nvPr/>
        </p:nvSpPr>
        <p:spPr>
          <a:xfrm>
            <a:off x="868680" y="3337560"/>
            <a:ext cx="64008" cy="11887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53"/>
          <p:cNvSpPr/>
          <p:nvPr/>
        </p:nvSpPr>
        <p:spPr>
          <a:xfrm>
            <a:off x="1033272" y="3474720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Para conectar con clase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3"/>
          <p:cNvSpPr/>
          <p:nvPr/>
        </p:nvSpPr>
        <p:spPr>
          <a:xfrm>
            <a:off x="1033272" y="3776472"/>
            <a:ext cx="485546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Temas puente: criptografía, firmas digitales, teoría de juegos, redes P2P, modelos probabilísticos, análisis de grafos.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3"/>
          <p:cNvSpPr/>
          <p:nvPr/>
        </p:nvSpPr>
        <p:spPr>
          <a:xfrm>
            <a:off x="6355080" y="3337560"/>
            <a:ext cx="4892040" cy="1188720"/>
          </a:xfrm>
          <a:prstGeom prst="roundRect">
            <a:avLst>
              <a:gd fmla="val 4615" name="adj"/>
            </a:avLst>
          </a:prstGeom>
          <a:solidFill>
            <a:srgbClr val="0B1B2F"/>
          </a:solidFill>
          <a:ln cap="flat" cmpd="sng" w="12700">
            <a:solidFill>
              <a:srgbClr val="A78BFA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3"/>
          <p:cNvSpPr/>
          <p:nvPr/>
        </p:nvSpPr>
        <p:spPr>
          <a:xfrm>
            <a:off x="6355080" y="3337560"/>
            <a:ext cx="64008" cy="1188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53"/>
          <p:cNvSpPr/>
          <p:nvPr/>
        </p:nvSpPr>
        <p:spPr>
          <a:xfrm>
            <a:off x="6519672" y="3474720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Frase final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3"/>
          <p:cNvSpPr/>
          <p:nvPr/>
        </p:nvSpPr>
        <p:spPr>
          <a:xfrm>
            <a:off x="6519672" y="3776472"/>
            <a:ext cx="458114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No es sólo una base de datos distribuida: es un mecanismo económico-críptográfico para acordar una historia común.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3"/>
          <p:cNvSpPr/>
          <p:nvPr/>
        </p:nvSpPr>
        <p:spPr>
          <a:xfrm>
            <a:off x="960120" y="57150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Material elaborado por el profesor Sergio Gevatschnaider. Verificar siempre con el white paper original para citas textuales.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