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b6ac48188c44fb" /><Relationship Type="http://schemas.openxmlformats.org/officeDocument/2006/relationships/extended-properties" Target="/docProps/app.xml" Id="Rdcf6e08863ee42d5" /><Relationship Type="http://schemas.openxmlformats.org/officeDocument/2006/relationships/officeDocument" Target="/ppt/presentation.xml" Id="R39406f7157764a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7ae2ee85514d03"/>
  </p:sldMasterIdLst>
  <p:notesMasterIdLst>
    <p:notesMasterId xmlns:r="http://schemas.openxmlformats.org/officeDocument/2006/relationships" r:id="Raf9249e48f3645c3"/>
  </p:notesMasterIdLst>
  <p:sldIdLst>
    <p:sldId xmlns:r="http://schemas.openxmlformats.org/officeDocument/2006/relationships" id="256" r:id="Rf6318df1163f4a9e"/>
    <p:sldId xmlns:r="http://schemas.openxmlformats.org/officeDocument/2006/relationships" id="257" r:id="Rd2f30af166a44c06"/>
    <p:sldId xmlns:r="http://schemas.openxmlformats.org/officeDocument/2006/relationships" id="258" r:id="Rcd4eada47ba24cc4"/>
    <p:sldId xmlns:r="http://schemas.openxmlformats.org/officeDocument/2006/relationships" id="259" r:id="Rb8435c9554ce4077"/>
    <p:sldId xmlns:r="http://schemas.openxmlformats.org/officeDocument/2006/relationships" id="260" r:id="Rbcd7dfe683764ec8"/>
    <p:sldId xmlns:r="http://schemas.openxmlformats.org/officeDocument/2006/relationships" id="261" r:id="R56c502ddb8434211"/>
    <p:sldId xmlns:r="http://schemas.openxmlformats.org/officeDocument/2006/relationships" id="262" r:id="Rb6bd131fdf7f4980"/>
    <p:sldId xmlns:r="http://schemas.openxmlformats.org/officeDocument/2006/relationships" id="263" r:id="R4d4e3367c18f4baa"/>
    <p:sldId xmlns:r="http://schemas.openxmlformats.org/officeDocument/2006/relationships" id="264" r:id="R106c3ff256de48d9"/>
    <p:sldId xmlns:r="http://schemas.openxmlformats.org/officeDocument/2006/relationships" id="265" r:id="Rc73f9a62f3ae4c9e"/>
    <p:sldId xmlns:r="http://schemas.openxmlformats.org/officeDocument/2006/relationships" id="266" r:id="R4d699a43170a4c77"/>
    <p:sldId xmlns:r="http://schemas.openxmlformats.org/officeDocument/2006/relationships" id="267" r:id="Raca983839d0e492a"/>
    <p:sldId xmlns:r="http://schemas.openxmlformats.org/officeDocument/2006/relationships" id="268" r:id="R3753a5987fbc474c"/>
    <p:sldId xmlns:r="http://schemas.openxmlformats.org/officeDocument/2006/relationships" id="269" r:id="R68891207786d40d7"/>
    <p:sldId xmlns:r="http://schemas.openxmlformats.org/officeDocument/2006/relationships" id="270" r:id="R48872bf952614c27"/>
    <p:sldId xmlns:r="http://schemas.openxmlformats.org/officeDocument/2006/relationships" id="271" r:id="R5be96afefc8b48eb"/>
    <p:sldId xmlns:r="http://schemas.openxmlformats.org/officeDocument/2006/relationships" id="272" r:id="R5f68b26ed7834f3f"/>
    <p:sldId xmlns:r="http://schemas.openxmlformats.org/officeDocument/2006/relationships" id="273" r:id="Ra68c75f5556f4221"/>
    <p:sldId xmlns:r="http://schemas.openxmlformats.org/officeDocument/2006/relationships" id="274" r:id="Rfbdde643ed4c4d0e"/>
    <p:sldId xmlns:r="http://schemas.openxmlformats.org/officeDocument/2006/relationships" id="275" r:id="Rd4e3ff6f192140bc"/>
    <p:sldId xmlns:r="http://schemas.openxmlformats.org/officeDocument/2006/relationships" id="276" r:id="R5ba6b2f674a740bc"/>
    <p:sldId xmlns:r="http://schemas.openxmlformats.org/officeDocument/2006/relationships" id="277" r:id="R9462c0e8017a43d8"/>
    <p:sldId xmlns:r="http://schemas.openxmlformats.org/officeDocument/2006/relationships" id="278" r:id="Rea1ebfe4be764ecf"/>
    <p:sldId xmlns:r="http://schemas.openxmlformats.org/officeDocument/2006/relationships" id="279" r:id="Rc3d714dc8b314ca5"/>
    <p:sldId xmlns:r="http://schemas.openxmlformats.org/officeDocument/2006/relationships" id="280" r:id="Rada9f5d5d6d54154"/>
    <p:sldId xmlns:r="http://schemas.openxmlformats.org/officeDocument/2006/relationships" id="281" r:id="R1619512c297d49d4"/>
    <p:sldId xmlns:r="http://schemas.openxmlformats.org/officeDocument/2006/relationships" id="282" r:id="R7a560364391543ac"/>
    <p:sldId xmlns:r="http://schemas.openxmlformats.org/officeDocument/2006/relationships" id="283" r:id="R0f024e614a3f4c5b"/>
    <p:sldId xmlns:r="http://schemas.openxmlformats.org/officeDocument/2006/relationships" id="284" r:id="R672526a3de064d03"/>
    <p:sldId xmlns:r="http://schemas.openxmlformats.org/officeDocument/2006/relationships" id="285" r:id="R8266d7a4d1a74b65"/>
    <p:sldId xmlns:r="http://schemas.openxmlformats.org/officeDocument/2006/relationships" id="286" r:id="R70e59ace8c3946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e45728ad974ea5" /><Relationship Type="http://schemas.openxmlformats.org/officeDocument/2006/relationships/slideMaster" Target="/ppt/slideMasters/slideMaster1.xml" Id="Ra47ae2ee85514d03" /><Relationship Type="http://schemas.openxmlformats.org/officeDocument/2006/relationships/notesMaster" Target="/ppt/notesMasters/notesMaster1.xml" Id="Raf9249e48f3645c3" /><Relationship Type="http://schemas.openxmlformats.org/officeDocument/2006/relationships/presProps" Target="/ppt/presProps.xml" Id="R03948e1f987b441f" /><Relationship Type="http://schemas.openxmlformats.org/officeDocument/2006/relationships/tableStyles" Target="/ppt/tableStyles.xml" Id="Rd246b0550c784ac5" /><Relationship Type="http://schemas.openxmlformats.org/officeDocument/2006/relationships/slide" Target="/ppt/slides/slide1.xml" Id="Rf6318df1163f4a9e" /><Relationship Type="http://schemas.openxmlformats.org/officeDocument/2006/relationships/slide" Target="/ppt/slides/slide2.xml" Id="Rd2f30af166a44c06" /><Relationship Type="http://schemas.openxmlformats.org/officeDocument/2006/relationships/slide" Target="/ppt/slides/slide3.xml" Id="Rcd4eada47ba24cc4" /><Relationship Type="http://schemas.openxmlformats.org/officeDocument/2006/relationships/slide" Target="/ppt/slides/slide4.xml" Id="Rb8435c9554ce4077" /><Relationship Type="http://schemas.openxmlformats.org/officeDocument/2006/relationships/slide" Target="/ppt/slides/slide5.xml" Id="Rbcd7dfe683764ec8" /><Relationship Type="http://schemas.openxmlformats.org/officeDocument/2006/relationships/slide" Target="/ppt/slides/slide6.xml" Id="R56c502ddb8434211" /><Relationship Type="http://schemas.openxmlformats.org/officeDocument/2006/relationships/slide" Target="/ppt/slides/slide7.xml" Id="Rb6bd131fdf7f4980" /><Relationship Type="http://schemas.openxmlformats.org/officeDocument/2006/relationships/slide" Target="/ppt/slides/slide8.xml" Id="R4d4e3367c18f4baa" /><Relationship Type="http://schemas.openxmlformats.org/officeDocument/2006/relationships/slide" Target="/ppt/slides/slide9.xml" Id="R106c3ff256de48d9" /><Relationship Type="http://schemas.openxmlformats.org/officeDocument/2006/relationships/slide" Target="/ppt/slides/slide10.xml" Id="Rc73f9a62f3ae4c9e" /><Relationship Type="http://schemas.openxmlformats.org/officeDocument/2006/relationships/slide" Target="/ppt/slides/slide11.xml" Id="R4d699a43170a4c77" /><Relationship Type="http://schemas.openxmlformats.org/officeDocument/2006/relationships/slide" Target="/ppt/slides/slide12.xml" Id="Raca983839d0e492a" /><Relationship Type="http://schemas.openxmlformats.org/officeDocument/2006/relationships/slide" Target="/ppt/slides/slide13.xml" Id="R3753a5987fbc474c" /><Relationship Type="http://schemas.openxmlformats.org/officeDocument/2006/relationships/slide" Target="/ppt/slides/slide14.xml" Id="R68891207786d40d7" /><Relationship Type="http://schemas.openxmlformats.org/officeDocument/2006/relationships/slide" Target="/ppt/slides/slide15.xml" Id="R48872bf952614c27" /><Relationship Type="http://schemas.openxmlformats.org/officeDocument/2006/relationships/slide" Target="/ppt/slides/slide16.xml" Id="R5be96afefc8b48eb" /><Relationship Type="http://schemas.openxmlformats.org/officeDocument/2006/relationships/slide" Target="/ppt/slides/slide17.xml" Id="R5f68b26ed7834f3f" /><Relationship Type="http://schemas.openxmlformats.org/officeDocument/2006/relationships/slide" Target="/ppt/slides/slide18.xml" Id="Ra68c75f5556f4221" /><Relationship Type="http://schemas.openxmlformats.org/officeDocument/2006/relationships/slide" Target="/ppt/slides/slide19.xml" Id="Rfbdde643ed4c4d0e" /><Relationship Type="http://schemas.openxmlformats.org/officeDocument/2006/relationships/slide" Target="/ppt/slides/slide20.xml" Id="Rd4e3ff6f192140bc" /><Relationship Type="http://schemas.openxmlformats.org/officeDocument/2006/relationships/slide" Target="/ppt/slides/slide21.xml" Id="R5ba6b2f674a740bc" /><Relationship Type="http://schemas.openxmlformats.org/officeDocument/2006/relationships/slide" Target="/ppt/slides/slide22.xml" Id="R9462c0e8017a43d8" /><Relationship Type="http://schemas.openxmlformats.org/officeDocument/2006/relationships/slide" Target="/ppt/slides/slide23.xml" Id="Rea1ebfe4be764ecf" /><Relationship Type="http://schemas.openxmlformats.org/officeDocument/2006/relationships/slide" Target="/ppt/slides/slide24.xml" Id="Rc3d714dc8b314ca5" /><Relationship Type="http://schemas.openxmlformats.org/officeDocument/2006/relationships/slide" Target="/ppt/slides/slide25.xml" Id="Rada9f5d5d6d54154" /><Relationship Type="http://schemas.openxmlformats.org/officeDocument/2006/relationships/slide" Target="/ppt/slides/slide26.xml" Id="R1619512c297d49d4" /><Relationship Type="http://schemas.openxmlformats.org/officeDocument/2006/relationships/slide" Target="/ppt/slides/slide27.xml" Id="R7a560364391543ac" /><Relationship Type="http://schemas.openxmlformats.org/officeDocument/2006/relationships/slide" Target="/ppt/slides/slide28.xml" Id="R0f024e614a3f4c5b" /><Relationship Type="http://schemas.openxmlformats.org/officeDocument/2006/relationships/slide" Target="/ppt/slides/slide29.xml" Id="R672526a3de064d03" /><Relationship Type="http://schemas.openxmlformats.org/officeDocument/2006/relationships/slide" Target="/ppt/slides/slide30.xml" Id="R8266d7a4d1a74b65" /><Relationship Type="http://schemas.openxmlformats.org/officeDocument/2006/relationships/slide" Target="/ppt/slides/slide31.xml" Id="R70e59ace8c3946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6518bccaef40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b6abe10a514779" /><Relationship Type="http://schemas.openxmlformats.org/officeDocument/2006/relationships/notesMaster" Target="/ppt/notesMasters/notesMaster1.xml" Id="Rdab7cbfa07794d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fa34a6eb594a0c" /><Relationship Type="http://schemas.openxmlformats.org/officeDocument/2006/relationships/notesMaster" Target="/ppt/notesMasters/notesMaster1.xml" Id="Ra2fc2ed821a741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2367635b41496a" /><Relationship Type="http://schemas.openxmlformats.org/officeDocument/2006/relationships/notesMaster" Target="/ppt/notesMasters/notesMaster1.xml" Id="R2ed87af3f02145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f77adf7bf84a6a" /><Relationship Type="http://schemas.openxmlformats.org/officeDocument/2006/relationships/notesMaster" Target="/ppt/notesMasters/notesMaster1.xml" Id="R90fd47e0df3d4b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d4915ccbc747f4" /><Relationship Type="http://schemas.openxmlformats.org/officeDocument/2006/relationships/notesMaster" Target="/ppt/notesMasters/notesMaster1.xml" Id="Rc8838e6a61a343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48e92f65414431" /><Relationship Type="http://schemas.openxmlformats.org/officeDocument/2006/relationships/notesMaster" Target="/ppt/notesMasters/notesMaster1.xml" Id="R8fececc318b64d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7b189ca2504ab3" /><Relationship Type="http://schemas.openxmlformats.org/officeDocument/2006/relationships/notesMaster" Target="/ppt/notesMasters/notesMaster1.xml" Id="R03c6ca85c8084c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983b4662834dc1" /><Relationship Type="http://schemas.openxmlformats.org/officeDocument/2006/relationships/notesMaster" Target="/ppt/notesMasters/notesMaster1.xml" Id="Rd875aa3f15fe40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1507ceb61848ad" /><Relationship Type="http://schemas.openxmlformats.org/officeDocument/2006/relationships/notesMaster" Target="/ppt/notesMasters/notesMaster1.xml" Id="Rfabd34ad353141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5bfcff475945c1" /><Relationship Type="http://schemas.openxmlformats.org/officeDocument/2006/relationships/notesMaster" Target="/ppt/notesMasters/notesMaster1.xml" Id="Rdf06de53e3d64d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21b0bbb71647c4" /><Relationship Type="http://schemas.openxmlformats.org/officeDocument/2006/relationships/notesMaster" Target="/ppt/notesMasters/notesMaster1.xml" Id="Race002c979ec40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71d499d41a4120" /><Relationship Type="http://schemas.openxmlformats.org/officeDocument/2006/relationships/notesMaster" Target="/ppt/notesMasters/notesMaster1.xml" Id="R454d4933d4c14e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81a40a9f0d4e51" /><Relationship Type="http://schemas.openxmlformats.org/officeDocument/2006/relationships/notesMaster" Target="/ppt/notesMasters/notesMaster1.xml" Id="Rdaf81f977cbd44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76501f0bfe4d3e" /><Relationship Type="http://schemas.openxmlformats.org/officeDocument/2006/relationships/notesMaster" Target="/ppt/notesMasters/notesMaster1.xml" Id="R37db675a608244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41eb36a8ff4d11" /><Relationship Type="http://schemas.openxmlformats.org/officeDocument/2006/relationships/notesMaster" Target="/ppt/notesMasters/notesMaster1.xml" Id="R3d7a61aa68f74f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3698a74dbc41f9" /><Relationship Type="http://schemas.openxmlformats.org/officeDocument/2006/relationships/notesMaster" Target="/ppt/notesMasters/notesMaster1.xml" Id="Radc073df7daf4c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6aeaaf32c345b9" /><Relationship Type="http://schemas.openxmlformats.org/officeDocument/2006/relationships/notesMaster" Target="/ppt/notesMasters/notesMaster1.xml" Id="R33bddb709b2f49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4e638305ab54bb0" /><Relationship Type="http://schemas.openxmlformats.org/officeDocument/2006/relationships/notesMaster" Target="/ppt/notesMasters/notesMaster1.xml" Id="R5bb095303b8c48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72ac4bd2ff47a6" /><Relationship Type="http://schemas.openxmlformats.org/officeDocument/2006/relationships/notesMaster" Target="/ppt/notesMasters/notesMaster1.xml" Id="Re267d6d68cc345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de0ae9543fc4d7d" /><Relationship Type="http://schemas.openxmlformats.org/officeDocument/2006/relationships/notesMaster" Target="/ppt/notesMasters/notesMaster1.xml" Id="Rd778494be2974b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bb66a02c59c46a0" /><Relationship Type="http://schemas.openxmlformats.org/officeDocument/2006/relationships/notesMaster" Target="/ppt/notesMasters/notesMaster1.xml" Id="R2025d87b456d41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effe173f7ea4a3a" /><Relationship Type="http://schemas.openxmlformats.org/officeDocument/2006/relationships/notesMaster" Target="/ppt/notesMasters/notesMaster1.xml" Id="R1ad9296736a64a9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115ffaf80274691" /><Relationship Type="http://schemas.openxmlformats.org/officeDocument/2006/relationships/notesMaster" Target="/ppt/notesMasters/notesMaster1.xml" Id="R3339ab4782f6451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eb293a2d4942c5" /><Relationship Type="http://schemas.openxmlformats.org/officeDocument/2006/relationships/notesMaster" Target="/ppt/notesMasters/notesMaster1.xml" Id="Rb185b057f5b541d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b5c6960c9e940d5" /><Relationship Type="http://schemas.openxmlformats.org/officeDocument/2006/relationships/notesMaster" Target="/ppt/notesMasters/notesMaster1.xml" Id="R282428132ef145f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7ce0030f03e4f8d" /><Relationship Type="http://schemas.openxmlformats.org/officeDocument/2006/relationships/notesMaster" Target="/ppt/notesMasters/notesMaster1.xml" Id="R465527db9bff4a4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4aeb2e38e5c4ab5" /><Relationship Type="http://schemas.openxmlformats.org/officeDocument/2006/relationships/notesMaster" Target="/ppt/notesMasters/notesMaster1.xml" Id="R4dd7791caedc498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cbaa231d775462f" /><Relationship Type="http://schemas.openxmlformats.org/officeDocument/2006/relationships/notesMaster" Target="/ppt/notesMasters/notesMaster1.xml" Id="R0dddd9f5c683429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160f2ac13124924" /><Relationship Type="http://schemas.openxmlformats.org/officeDocument/2006/relationships/notesMaster" Target="/ppt/notesMasters/notesMaster1.xml" Id="Rf30c702294bc403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fad693b00174f06" /><Relationship Type="http://schemas.openxmlformats.org/officeDocument/2006/relationships/notesMaster" Target="/ppt/notesMasters/notesMaster1.xml" Id="R33cdfd8453c94c1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894b169845d4e30" /><Relationship Type="http://schemas.openxmlformats.org/officeDocument/2006/relationships/notesMaster" Target="/ppt/notesMasters/notesMaster1.xml" Id="R76360271dffb4b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Glassnode, HODL Waves. https://docs.glassnode.com/guides-and-tutorials/metric-guides/age-distribution/hodl-waves</a:t>
            </a:r>
          </a:p>
          <a:p xmlns:a="http://schemas.openxmlformats.org/drawingml/2006/main">
            <a:r>
              <a:t>Fuente metodológica: Glassnode, Coin Days Destroyed. https://docs.glassnode.com/guides-and-tutorials/metric-guides/coin-days-destroyed/cdd-coin-days-destroyed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Coin Metrics Network Data Pro, UTXO y age bands. https://gitbook-docs.coinmetrics.io/network-data/network-data-overview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Coin Metrics Network Data Pro, UTXO y age bands. https://gitbook-docs.coinmetrics.io/network-data/network-data-overview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Glassnode, Coin Days Destroyed. https://docs.glassnode.com/guides-and-tutorials/metric-guides/coin-days-destroyed/cdd-coin-days-destroyed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Datos simulados para fines didácticos. Fuente metodológica: Glassnode, HODL Waves. https://docs.glassnode.com/guides-and-tutorials/metric-guides/age-distribution/hodl-waves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Glassnode, HODL Waves. https://docs.glassnode.com/guides-and-tutorials/metric-guides/age-distribution/hodl-waves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Glassnode, HODL Waves. https://docs.glassnode.com/guides-and-tutorials/metric-guides/age-distribution/hodl-waves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Coin Metrics Network Data Pro, UTXO y age bands. https://gitbook-docs.coinmetrics.io/network-data/network-data-overview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Glassnode, Coin Days Destroyed. https://docs.glassnode.com/guides-and-tutorials/metric-guides/coin-days-destroyed/cdd-coin-days-destroyed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Datos simulados. Para conservar una escala legible, el gráfico divide CDD por 100. Fuente metodológica: Glassnode, Coin Days Destroyed. https://docs.glassnode.com/guides-and-tutorials/metric-guides/coin-days-destroyed/cdd-coin-days-destroyed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Glassnode, Average Coin Dormancy. https://docs.glassnode.com/basic-api/endpoints/indicators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Glassnode, Realized Cap HODL Waves. https://docs.glassnode.com/guides-and-tutorials/metric-guides/age-distribution/realized-cap-hodl-waves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Glassnode, Realized Cap HODL Waves. https://docs.glassnode.com/guides-and-tutorials/metric-guides/age-distribution/realized-cap-hodl-waves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Glassnode, Realized Cap HODL Waves. https://docs.glassnode.com/guides-and-tutorials/metric-guides/age-distribution/realized-cap-hodl-waves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Glassnode Academy, Long and Short Term Holder Supply. https://docs.glassnode.com/guides-and-tutorials/metric-guides/long-and-short-term-holder-supply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académica: Schatzmann, J. E. y Haslhofer, B. (2023), Exploring investor behavior in Bitcoin: a study of the disposition effect, Digital Finance 5. https://doi.org/10.1007/s42521-023-00086-w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académica: Schatzmann, J. E. y Haslhofer, B. (2023), Exploring investor behavior in Bitcoin: a study of the disposition effect, Digital Finance 5. https://doi.org/10.1007/s42521-023-00086-w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Coin Metrics Network Data Pro, UTXO y age bands. https://gitbook-docs.coinmetrics.io/network-data/network-data-overview</a:t>
            </a:r>
          </a:p>
          <a:p xmlns:a="http://schemas.openxmlformats.org/drawingml/2006/main">
            <a:r>
              <a:t>Fuente metodológica: Glassnode, HODL Waves. https://docs.glassnode.com/guides-and-tutorials/metric-guides/age-distribution/hodl-waves</a:t>
            </a:r>
          </a:p>
          <a:p xmlns:a="http://schemas.openxmlformats.org/drawingml/2006/main">
            <a:r>
              <a:t>Fuente metodológica: Glassnode, Coin Days Destroyed. https://docs.glassnode.com/guides-and-tutorials/metric-guides/coin-days-destroyed/cdd-coin-days-destroyed</a:t>
            </a:r>
          </a:p>
          <a:p xmlns:a="http://schemas.openxmlformats.org/drawingml/2006/main">
            <a:r>
              <a:t>Fuente académica: Schatzmann, J. E. y Haslhofer, B. (2023), Exploring investor behavior in Bitcoin: a study of the disposition effect, Digital Finance 5. https://doi.org/10.1007/s42521-023-00086-w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277c6e7bd448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5a1779d97f44f4" /><Relationship Type="http://schemas.openxmlformats.org/officeDocument/2006/relationships/slideLayout" Target="/ppt/slideLayouts/slideLayout1.xml" Id="R03052c9c09a14f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052c9c09a14f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6cc523ba2448a" /><Relationship Type="http://schemas.openxmlformats.org/officeDocument/2006/relationships/notesSlide" Target="/ppt/notesSlides/notesSlide1.xml" Id="R62fedb963b2d45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4d18f5f6441d8" /><Relationship Type="http://schemas.openxmlformats.org/officeDocument/2006/relationships/notesSlide" Target="/ppt/notesSlides/notesSlide2.xml" Id="R1c97b3e3fe2e48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0abe4838d483e" /><Relationship Type="http://schemas.openxmlformats.org/officeDocument/2006/relationships/notesSlide" Target="/ppt/notesSlides/notesSlide3.xml" Id="R9fdc5ac972a248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ed953f00f4942" /><Relationship Type="http://schemas.openxmlformats.org/officeDocument/2006/relationships/notesSlide" Target="/ppt/notesSlides/notesSlide4.xml" Id="R43041f9b4eb046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19748bea840d8" /><Relationship Type="http://schemas.openxmlformats.org/officeDocument/2006/relationships/notesSlide" Target="/ppt/notesSlides/notesSlide5.xml" Id="R806200f836c34f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f219d407f4b6c" /><Relationship Type="http://schemas.openxmlformats.org/officeDocument/2006/relationships/notesSlide" Target="/ppt/notesSlides/notesSlide6.xml" Id="R4b29b81968e644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0753aafc64281" /><Relationship Type="http://schemas.openxmlformats.org/officeDocument/2006/relationships/chart" Target="/ppt/slides/charts/chart1.xml" Id="Rf948063e4f1a4101" /><Relationship Type="http://schemas.openxmlformats.org/officeDocument/2006/relationships/notesSlide" Target="/ppt/notesSlides/notesSlide7.xml" Id="R6f8f0f412d6b40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8bdc196ab42f9" /><Relationship Type="http://schemas.openxmlformats.org/officeDocument/2006/relationships/notesSlide" Target="/ppt/notesSlides/notesSlide8.xml" Id="Rba66875cc1044c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029da0bf7474d" /><Relationship Type="http://schemas.openxmlformats.org/officeDocument/2006/relationships/notesSlide" Target="/ppt/notesSlides/notesSlide9.xml" Id="R181f2092fc9349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f99df339241d2" /><Relationship Type="http://schemas.openxmlformats.org/officeDocument/2006/relationships/notesSlide" Target="/ppt/notesSlides/notesSlide10.xml" Id="R9891e636c7f141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4538f80b14248" /><Relationship Type="http://schemas.openxmlformats.org/officeDocument/2006/relationships/notesSlide" Target="/ppt/notesSlides/notesSlide11.xml" Id="R55f2e0b39eb940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a36f343d749ad" /><Relationship Type="http://schemas.openxmlformats.org/officeDocument/2006/relationships/notesSlide" Target="/ppt/notesSlides/notesSlide12.xml" Id="Rceb84c8cfad14c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d56f8fae54c0e" /><Relationship Type="http://schemas.openxmlformats.org/officeDocument/2006/relationships/notesSlide" Target="/ppt/notesSlides/notesSlide13.xml" Id="R2b588efe484041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92a438cb84894" /><Relationship Type="http://schemas.openxmlformats.org/officeDocument/2006/relationships/notesSlide" Target="/ppt/notesSlides/notesSlide14.xml" Id="R6eae4b5fd0064d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2bc9c000f414f" /><Relationship Type="http://schemas.openxmlformats.org/officeDocument/2006/relationships/chart" Target="/ppt/slides/charts/chart2.xml" Id="R8d9b07cd92274461" /><Relationship Type="http://schemas.openxmlformats.org/officeDocument/2006/relationships/notesSlide" Target="/ppt/notesSlides/notesSlide15.xml" Id="Ra7a85f008fc748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cb5e479f2451a" /><Relationship Type="http://schemas.openxmlformats.org/officeDocument/2006/relationships/notesSlide" Target="/ppt/notesSlides/notesSlide16.xml" Id="Rd2fb63d3e3d94d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c0b43770449e3" /><Relationship Type="http://schemas.openxmlformats.org/officeDocument/2006/relationships/notesSlide" Target="/ppt/notesSlides/notesSlide17.xml" Id="R07b2d98b4fee49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e398286684834" /><Relationship Type="http://schemas.openxmlformats.org/officeDocument/2006/relationships/notesSlide" Target="/ppt/notesSlides/notesSlide18.xml" Id="R3327a637e65b44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d25e1d3e440b2" /><Relationship Type="http://schemas.openxmlformats.org/officeDocument/2006/relationships/notesSlide" Target="/ppt/notesSlides/notesSlide19.xml" Id="Ra5743b0179ca4fe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ac873b2504e14" /><Relationship Type="http://schemas.openxmlformats.org/officeDocument/2006/relationships/notesSlide" Target="/ppt/notesSlides/notesSlide20.xml" Id="R488aa3c64b5740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9f376cd564473" /><Relationship Type="http://schemas.openxmlformats.org/officeDocument/2006/relationships/notesSlide" Target="/ppt/notesSlides/notesSlide21.xml" Id="R50a61ff90cdf46f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8ffe65fcd493f" /><Relationship Type="http://schemas.openxmlformats.org/officeDocument/2006/relationships/notesSlide" Target="/ppt/notesSlides/notesSlide22.xml" Id="R3d6b1365b65b4c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9aae183f245c9" /><Relationship Type="http://schemas.openxmlformats.org/officeDocument/2006/relationships/notesSlide" Target="/ppt/notesSlides/notesSlide23.xml" Id="R28a84b4836294fd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9ffe49e484394" /><Relationship Type="http://schemas.openxmlformats.org/officeDocument/2006/relationships/notesSlide" Target="/ppt/notesSlides/notesSlide24.xml" Id="R72e3e21cdf024f5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ecca4b47546bb" /><Relationship Type="http://schemas.openxmlformats.org/officeDocument/2006/relationships/notesSlide" Target="/ppt/notesSlides/notesSlide25.xml" Id="Rd56757514ddb443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088df782a4408" /><Relationship Type="http://schemas.openxmlformats.org/officeDocument/2006/relationships/notesSlide" Target="/ppt/notesSlides/notesSlide26.xml" Id="R5217ec46007a4bb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ae051cb404ac3" /><Relationship Type="http://schemas.openxmlformats.org/officeDocument/2006/relationships/notesSlide" Target="/ppt/notesSlides/notesSlide27.xml" Id="Rca2b82b4d6fb486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c76baf51c414b" /><Relationship Type="http://schemas.openxmlformats.org/officeDocument/2006/relationships/notesSlide" Target="/ppt/notesSlides/notesSlide28.xml" Id="R6901252f679245c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be3ade6454d6f" /><Relationship Type="http://schemas.openxmlformats.org/officeDocument/2006/relationships/notesSlide" Target="/ppt/notesSlides/notesSlide29.xml" Id="R19fbff3e63d54fa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8c64179d44ed7" /><Relationship Type="http://schemas.openxmlformats.org/officeDocument/2006/relationships/notesSlide" Target="/ppt/notesSlides/notesSlide30.xml" Id="R3fa2b0094af24a9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6085473d64345" /><Relationship Type="http://schemas.openxmlformats.org/officeDocument/2006/relationships/notesSlide" Target="/ppt/notesSlides/notesSlide31.xml" Id="R2e6d685ea8aa43e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percentStacked"/>
        <c:varyColors val="0"/>
        <c:ser>
          <c:idx val="0"/>
          <c:order val="0"/>
          <c:tx>
            <c:v>&lt; 1 mes</c:v>
          </c:tx>
          <c:spPr>
            <a:solidFill xmlns:a="http://schemas.openxmlformats.org/drawingml/2006/main">
              <a:srgbClr val="5AA0FF"/>
            </a:solidFill>
          </c:spPr>
          <c:cat>
            <c:strRef>
              <c:f>'Chart Data'!$A$2:$A$2</c:f>
              <c:strCache>
                <c:ptCount val="1"/>
                <c:pt idx="0">
                  <c:v>Oferta simulada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18</c:v>
                </c:pt>
              </c:numCache>
            </c:numRef>
          </c:val>
        </c:ser>
        <c:ser>
          <c:idx val="1"/>
          <c:order val="1"/>
          <c:tx>
            <c:v>1 a 6 meses</c:v>
          </c:tx>
          <c:spPr>
            <a:solidFill xmlns:a="http://schemas.openxmlformats.org/drawingml/2006/main">
              <a:srgbClr val="36D3C5"/>
            </a:solidFill>
          </c:spPr>
          <c:cat>
            <c:strRef>
              <c:f>'Chart Data'!$C$2:$C$2</c:f>
              <c:strCache>
                <c:ptCount val="1"/>
                <c:pt idx="0">
                  <c:v>Oferta simulada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24</c:v>
                </c:pt>
              </c:numCache>
            </c:numRef>
          </c:val>
        </c:ser>
        <c:ser>
          <c:idx val="2"/>
          <c:order val="2"/>
          <c:tx>
            <c:v>6 a 12 meses</c:v>
          </c:tx>
          <c:spPr>
            <a:solidFill xmlns:a="http://schemas.openxmlformats.org/drawingml/2006/main">
              <a:srgbClr val="F6C453"/>
            </a:solidFill>
          </c:spPr>
          <c:cat>
            <c:strRef>
              <c:f>'Chart Data'!$E$2:$E$2</c:f>
              <c:strCache>
                <c:ptCount val="1"/>
                <c:pt idx="0">
                  <c:v>Oferta simulada</c:v>
                </c:pt>
              </c:strCache>
            </c:strRef>
          </c:cat>
          <c:val>
            <c:numRef>
              <c:f>'Chart Data'!$F$2:$F$2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</c:ser>
        <c:ser>
          <c:idx val="3"/>
          <c:order val="3"/>
          <c:tx>
            <c:v>1 a 2 años</c:v>
          </c:tx>
          <c:spPr>
            <a:solidFill xmlns:a="http://schemas.openxmlformats.org/drawingml/2006/main">
              <a:srgbClr val="F7931A"/>
            </a:solidFill>
          </c:spPr>
          <c:cat>
            <c:strRef>
              <c:f>'Chart Data'!$G$2:$G$2</c:f>
              <c:strCache>
                <c:ptCount val="1"/>
                <c:pt idx="0">
                  <c:v>Oferta simulada</c:v>
                </c:pt>
              </c:strCache>
            </c:strRef>
          </c:cat>
          <c:val>
            <c:numRef>
              <c:f>'Chart Data'!$H$2:$H$2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</c:ser>
        <c:ser>
          <c:idx val="4"/>
          <c:order val="4"/>
          <c:tx>
            <c:v>&gt; 2 años</c:v>
          </c:tx>
          <c:spPr>
            <a:solidFill xmlns:a="http://schemas.openxmlformats.org/drawingml/2006/main">
              <a:srgbClr val="9B8CFF"/>
            </a:solidFill>
          </c:spPr>
          <c:cat>
            <c:strRef>
              <c:f>'Chart Data'!$I$2:$I$2</c:f>
              <c:strCache>
                <c:ptCount val="1"/>
                <c:pt idx="0">
                  <c:v>Oferta simulada</c:v>
                </c:pt>
              </c:strCache>
            </c:strRef>
          </c:cat>
          <c:val>
            <c:numRef>
              <c:f>'Chart Data'!$J$2:$J$2</c:f>
              <c:numCache>
                <c:formatCode>General</c:formatCode>
                <c:ptCount val="1"/>
                <c:pt idx="0">
                  <c:v>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7111F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03B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9BB0C9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BTC transferidos</c:v>
          </c:tx>
          <c:spPr>
            <a:solidFill xmlns:a="http://schemas.openxmlformats.org/drawingml/2006/main">
              <a:srgbClr val="5AA0FF"/>
            </a:solidFill>
          </c:spPr>
          <c:cat>
            <c:strRef>
              <c:f>'Chart Data'!$A$2:$A$3</c:f>
              <c:strCache>
                <c:ptCount val="2"/>
                <c:pt idx="0">
                  <c:v>10 BTC × 1 día</c:v>
                </c:pt>
                <c:pt idx="1">
                  <c:v>1 BTC × 1.000 días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v>CDD dividido por 100</c:v>
          </c:tx>
          <c:spPr>
            <a:solidFill xmlns:a="http://schemas.openxmlformats.org/drawingml/2006/main">
              <a:srgbClr val="F7931A"/>
            </a:solidFill>
          </c:spPr>
          <c:cat>
            <c:strRef>
              <c:f>'Chart Data'!$C$2:$C$3</c:f>
              <c:strCache>
                <c:ptCount val="2"/>
                <c:pt idx="0">
                  <c:v>10 BTC × 1 día</c:v>
                </c:pt>
                <c:pt idx="1">
                  <c:v>1 BTC × 1.000 días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0.1</c:v>
                </c:pt>
                <c:pt idx="1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EDF5FF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03B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B5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03B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9BB0C9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B466D-7EA2-455C-9FCB-73A92DB3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BLOCKCHAIN Y FINANZAS DESCENTRALIZADAS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16B7F-2644-48F6-A213-194BB289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14375"/>
            <a:ext cx="219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BTC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4A3F7-DF1D-4EBD-8C21-FF2BF3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524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HODL y análisis on-chain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CCFFF-2686-4119-8EA4-441A647F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800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UTXO, coin age, HODL Waves, CDD y finanzas conductuales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B67D9-F39F-4076-9A32-3E23591E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3B5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ABEEC-3CC6-422F-9122-3BCCC0FC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Profesor Sergio Gevatschnaider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B6AD8-93D4-4946-9149-54BA90DC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6197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31 diapositivas</a:t>
            </a:r>
          </a:p>
        </p:txBody>
      </p:sp>
    </p:spTree>
    <p:extLst>
      <p:ext uri="{BB962C8B-B14F-4D97-AF65-F5344CB8AC3E}">
        <p14:creationId xmlns:p14="http://schemas.microsoft.com/office/powerpoint/2010/main" val="15562215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BBF7A-EC53-441D-B68E-7D83C04E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D8FE2-4AF8-49AF-AE5C-A5636172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Objetivos de aprendizaje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72995-45C4-4762-A29B-4CD778E6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D8914-1FEA-4D09-9215-23C18AA8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36F39-C02E-4F75-9172-784ABA0B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4A0B4-E636-42DB-BCD4-9D492618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Calcular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92096-07FA-4FC8-A35B-A3775902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Interpretar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178BF-90CD-4288-8F42-2E0B2FC2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0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F3FA2-2EE8-4D7F-8B68-E6DAF90F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Edad de un UTXO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Coin days acumulados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CDD de un evento de gasto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Drawdown y proporciones de cohortes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43C27-6889-46A9-8642-2F5AE700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HODL Waves como distribución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CDD como actividad ponderada por edad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Heurísticas de entidades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Límites de las afirmaciones conductuales</a:t>
            </a:r>
          </a:p>
        </p:txBody>
      </p:sp>
    </p:spTree>
    <p:extLst>
      <p:ext uri="{BB962C8B-B14F-4D97-AF65-F5344CB8AC3E}">
        <p14:creationId xmlns:p14="http://schemas.microsoft.com/office/powerpoint/2010/main" val="12706110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2505A-78DD-432E-8439-846142B5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3E39D-341C-4F17-8FCC-12A1DA4E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conjunto UTXO como dato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18EC3-1A89-4929-8CB8-1BD3A72E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295B1-905A-4C4C-A44B-CE6201D4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E8053-016E-4AD8-BA85-E5685B91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D915C-E3FF-4BB2-8460-8A003453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Cada UTXO conserva valor, condición de gasto y momento de creación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DAB37-A5B7-4759-A7C1-BCE4C020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El analista puede medir el tiempo transcurrido y observar cuándo una transacción consume esa salida. La identidad y la motivación quedan fuera del registro directo.</a:t>
            </a:r>
          </a:p>
        </p:txBody>
      </p:sp>
    </p:spTree>
    <p:extLst>
      <p:ext uri="{BB962C8B-B14F-4D97-AF65-F5344CB8AC3E}">
        <p14:creationId xmlns:p14="http://schemas.microsoft.com/office/powerpoint/2010/main" val="564493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675684-7C87-43E1-9D6D-1D3247DA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47332-AFD4-4511-941D-39843B62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Ciclo de vida de un UTXO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7C546-9DBC-48EE-BF61-096A7F83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D3F4E-F92F-44BC-B2EE-2697569C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015E6-1571-490F-88BB-F0AFD3E2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61384-2E29-42C6-94E3-C2419147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F97D5-D2B0-4AEF-B820-A5E500DC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9EF6D-BB3A-4EA1-9064-8E6A3D62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Creación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DEDF3-9FBD-4C37-ACD6-40EAB6D4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Una transacción produce el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D04B3-1F6F-4E39-8CB8-EC4D832E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4B23C-859F-47DF-A61D-C2966D98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A620E-E362-4B48-8688-44B5AD2A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Permanencia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50DB0-59BF-4FF5-A2B2-7099714A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El output integra el UTXO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86811-F53B-4CE3-9A14-85562595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2A1B0C"/>
          </a:solidFill>
          <a:ln xmlns:a="http://schemas.openxmlformats.org/drawingml/2006/main" w="9525">
            <a:solidFill>
              <a:srgbClr val="F793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E8828-B8E9-4BA6-A9EA-5E5DB999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41E24-0FDE-48D7-A8F9-F4171F24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Gasto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BE1F5-4ABE-4124-83C5-0260D0EB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Otra transacción lo usa como 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7A562-382F-4248-8F93-342243C6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A1FEF-CF30-42BB-9CD3-B8DE1C7B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1AC11C-D54F-4975-9187-39C24B67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Renovación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254F01-7702-4A7F-84DD-162E1D32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Nacen outputs con edad cero</a:t>
            </a:r>
          </a:p>
        </p:txBody>
      </p: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9087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cxnSp>
        <p:nvCxnSpPr>
          <p:cNvPr id="49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1537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DA7C53-81BB-4862-BDAC-8BB2FFB4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Bitcoin no traslada una moneda física. Consume salidas completas y crea nuevas salidas.</a:t>
            </a:r>
          </a:p>
        </p:txBody>
      </p:sp>
    </p:spTree>
    <p:extLst>
      <p:ext uri="{BB962C8B-B14F-4D97-AF65-F5344CB8AC3E}">
        <p14:creationId xmlns:p14="http://schemas.microsoft.com/office/powerpoint/2010/main" val="1407294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2321C-6428-42A7-96A7-79D0FF7C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53887-92E7-404F-86C8-6190506D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Edad del UTXO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ACB6E-FB40-4A67-8C8C-94A6D0BF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57FC9-1E6F-46A0-BF45-4A779633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55D64-FCC7-484A-9773-ACF230A4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C833F-49ED-41D1-B58E-09668738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1C2A"/>
          </a:solidFill>
          <a:ln xmlns:a="http://schemas.openxmlformats.org/drawingml/2006/main" w="19050">
            <a:solidFill>
              <a:srgbClr val="F793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A43D9-40BE-4EED-89CD-B916AD34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coin age = tiempo transcurrido desde la creación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036B1-B22B-418D-BA2D-55B9658E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unidad puede expresarse en días o bloques.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edad se acumula mientras el output permanece sin gastar.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gasto destruye la edad acumulada de esa salida.</a:t>
            </a:r>
          </a:p>
        </p:txBody>
      </p:sp>
    </p:spTree>
    <p:extLst>
      <p:ext uri="{BB962C8B-B14F-4D97-AF65-F5344CB8AC3E}">
        <p14:creationId xmlns:p14="http://schemas.microsoft.com/office/powerpoint/2010/main" val="16712120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EF746-0F66-4566-BCBB-B7B5E9A0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A1AEB-DBD9-46A3-9321-F989EB12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Ejemplo de coin days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87022-556D-428B-82A2-E62CCEC2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B48F7-9A5F-4F43-9DED-1A09487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2BC11-5B82-411B-B764-54BE169C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184FA-B0D8-4E67-98A6-CF662334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1C2A"/>
          </a:solidFill>
          <a:ln xmlns:a="http://schemas.openxmlformats.org/drawingml/2006/main" w="19050">
            <a:solidFill>
              <a:srgbClr val="F793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CCA40-55DF-4DE6-A029-5E5E156C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2 BTC × 500 días = 1.000 coin days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F9E8D-20A8-48BF-9493-41FFF393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valor pondera la relevancia económica del output.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antigüedad pondera el tiempo de inmovilidad.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Los coin days se materializan como CDD cuando ocurre el gasto.</a:t>
            </a:r>
          </a:p>
        </p:txBody>
      </p:sp>
    </p:spTree>
    <p:extLst>
      <p:ext uri="{BB962C8B-B14F-4D97-AF65-F5344CB8AC3E}">
        <p14:creationId xmlns:p14="http://schemas.microsoft.com/office/powerpoint/2010/main" val="11398097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EC824-96AF-4B44-90A4-4B1A4E47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1C4A4-C58D-448C-A8F2-44C66C24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Agrupación por bandas de edad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E9A0E-CCC8-4F98-BCA4-8D01750F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8CAB9-0486-4805-AC46-BB5559E0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7DC0F-F9D5-4B5D-9AAE-5995E978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4462F-E79A-4E03-ACBD-971584AB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Ejemplo didáctico. Cada franja representa una proporción de la oferta simulada.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904875" y="2095500"/>
          <a:ext xmlns:a="http://schemas.openxmlformats.org/drawingml/2006/main" cx="1038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48063e4f1a410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DDF0B-5ACF-46C1-8A14-8A3A96FB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29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7111F"/>
                </a:solidFill>
                <a:latin typeface="DejaVu Sans"/>
                <a:ea typeface="DejaVu Sans"/>
                <a:cs typeface="DejaVu Sans"/>
              </a:rPr>
              <a:t>18 %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5A202-A295-458F-ADAB-B1BE39E5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29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7111F"/>
                </a:solidFill>
                <a:latin typeface="DejaVu Sans"/>
                <a:ea typeface="DejaVu Sans"/>
                <a:cs typeface="DejaVu Sans"/>
              </a:rPr>
              <a:t>24 %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1C922-D652-455F-831F-E1C708BA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7111F"/>
                </a:solidFill>
                <a:latin typeface="DejaVu Sans"/>
                <a:ea typeface="DejaVu Sans"/>
                <a:cs typeface="DejaVu Sans"/>
              </a:rPr>
              <a:t>16 %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059F1-98CA-450C-83F0-325B20E7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7111F"/>
                </a:solidFill>
                <a:latin typeface="DejaVu Sans"/>
                <a:ea typeface="DejaVu Sans"/>
                <a:cs typeface="DejaVu Sans"/>
              </a:rPr>
              <a:t>19 %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05273-2AE6-46C0-8D02-B87BEFB7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29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7111F"/>
                </a:solidFill>
                <a:latin typeface="DejaVu Sans"/>
                <a:ea typeface="DejaVu Sans"/>
                <a:cs typeface="DejaVu Sans"/>
              </a:rPr>
              <a:t>23 %</a:t>
            </a:r>
          </a:p>
        </p:txBody>
      </p:sp>
    </p:spTree>
    <p:extLst>
      <p:ext uri="{BB962C8B-B14F-4D97-AF65-F5344CB8AC3E}">
        <p14:creationId xmlns:p14="http://schemas.microsoft.com/office/powerpoint/2010/main" val="494536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23145-8131-4F4E-AEFD-E71CCAE0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42900-17E6-47D1-BC40-0826C74A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HODL Waves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DD16C-EB2C-4A66-B39A-CBC09A2B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9EF70-6ABB-4A26-BA00-F5AC9177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E9CE6-C22F-4793-8E05-68E31D12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16710-184B-47DF-A6F8-902A9071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Distribución de la oferta por tiempo desde el último movimiento de los UTXO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9A7EE-8A35-4423-95DD-94A2914F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La suma de las bandas representa el total considerado por la métrica. El cambio de ancho muestra envejecimiento, gasto y creación de outputs nuevos.</a:t>
            </a:r>
          </a:p>
        </p:txBody>
      </p:sp>
    </p:spTree>
    <p:extLst>
      <p:ext uri="{BB962C8B-B14F-4D97-AF65-F5344CB8AC3E}">
        <p14:creationId xmlns:p14="http://schemas.microsoft.com/office/powerpoint/2010/main" val="3794830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41B30-AE32-40FA-ACF4-3D333E71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69ACB-0D3A-4B21-8A2A-83ACBB08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Expansión y contracción de bandas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062F0-5EAD-4912-BDC2-06DA5EBF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5AE0D-A7E7-4724-9947-22C6BA28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C6004-8FED-4DA6-8DA7-523A5769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FB4E3-F599-4985-932E-7F9F9758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Banda antigua se expande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33EE9-7D3D-4198-BE9A-99899488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Banda joven se expande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254F6-C44E-4834-9A40-1F228EC3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0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D2997-CDFD-4EF9-BB91-4B9C891A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Los UTXO continúan sin gastarse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oferta migra hacia cohortes mayores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Aumenta la inmovilidad observada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4DE96-146F-4175-B9D5-6057D616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Se gastan UTXO de otras cohortes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Aparecen outputs con edad reciente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oferta se rejuvenece en la medición</a:t>
            </a:r>
          </a:p>
        </p:txBody>
      </p:sp>
    </p:spTree>
    <p:extLst>
      <p:ext uri="{BB962C8B-B14F-4D97-AF65-F5344CB8AC3E}">
        <p14:creationId xmlns:p14="http://schemas.microsoft.com/office/powerpoint/2010/main" val="18438033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D68AD-D8BC-403C-BBB9-19DDA0F5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104BD-86C1-4AA7-B441-AB2FCAA3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Lectura rigurosa de una HODL Wave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39AE5-9331-484A-932A-1F5B0086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21861-2D0A-4D36-A543-E4C48BCC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2DDE5-B8BF-40B5-8C59-3DB117CE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F721F-09AE-468B-AA1C-E4D96A99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La métrica describe estados de outputs, no estados mentales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45B2F-3FF6-4FA0-BF56-0C2509B8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El nombre HODL funciona como etiqueta histórica. La interpretación académica debe hablar de edad, inmovilidad y cohortes de oferta.</a:t>
            </a:r>
          </a:p>
        </p:txBody>
      </p:sp>
    </p:spTree>
    <p:extLst>
      <p:ext uri="{BB962C8B-B14F-4D97-AF65-F5344CB8AC3E}">
        <p14:creationId xmlns:p14="http://schemas.microsoft.com/office/powerpoint/2010/main" val="20127992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8DEDE-3CB2-4E8B-B9E3-BED4ECA8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DC302-44DB-4982-BD25-F1E83F73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Explicaciones compatibles con un UTXO antiguo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E06A5-11D8-4B97-9309-0E6DEA4A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59AC6-A022-4331-8901-0D621246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7BE06-3AE7-4F20-ABA0-09A76972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11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14750"/>
                <a:gridCol w="4286250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Hipótesis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Qué puede observarse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Qué falta comprobar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HODL deliberado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Ausencia de gasto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 y horizonte del propietario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Cold storage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Baja frecuencia de movimiento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Arquitectura de custodia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Reserva institucional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UTXO de gran valor o cluster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Identidad y finalidad contable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Clave perdida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Inmovilidad prolongada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Imposibilidad efectiva de firmar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54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F9852-9529-4B36-AA3C-B21A6AE0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462BB-DE42-4EB9-A5B8-7650DFE4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Datos brutos y ajuste por entidad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E056B-3E82-4D14-86AE-58F037A6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430E2-F275-4EDB-B528-132DC182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35FCC-AB50-4837-A257-B4E8F60B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2545F-0505-4443-936B-FDC18784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Blockchain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A3F07-CC62-4466-8767-1901DCE1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Capa analítica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8F10F-51C2-429A-AE17-42599946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0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57876-B49F-4A99-BD32-79F28E45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Direcciones, inputs y outputs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Valores y alturas de bloque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Transacciones internas visibles como movimientos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2EA97-58D8-42C8-8731-21D4A98D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Clusters que aproximan entidades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Etiquetas de exchanges y custodios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Filtros para movimientos internos</a:t>
            </a:r>
          </a:p>
        </p:txBody>
      </p:sp>
    </p:spTree>
    <p:extLst>
      <p:ext uri="{BB962C8B-B14F-4D97-AF65-F5344CB8AC3E}">
        <p14:creationId xmlns:p14="http://schemas.microsoft.com/office/powerpoint/2010/main" val="11987341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9E5DE-B659-460D-BE3F-7375C2E6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93886-A5B2-465E-A45C-4AE20EA9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Costo metodológico del ajuste por entidad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0EEDC-D135-4BA8-B6FF-1DEFAD3A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394CD-75F5-4B4C-88FF-C407D7F9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4D65E-6226-404B-B88F-9E273FBF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13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00500"/>
                <a:gridCol w="4381500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Aspecto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Dato bruto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Métrica ajustada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Reproducibilidad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Alta desde la cadena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Depende de heurísticas y etiquetas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Sentido económico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Puede incluir transferencias internas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Busca aproximar transferencias entre entidades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Revisión histórica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bloque permanece estable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proveedor puede reclasificar clusters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Uso académico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Describe eventos técnicos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Permite hipótesis económicas con cautela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971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1D367-2A4D-4F96-8A0F-4C7C9D5A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6D8E5-C8B6-449B-B988-5D74FEA6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Coin Days Destroyed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28FA2-045D-41C7-B337-C9D3EE5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D6318-6ADC-4523-B185-E70A389B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81B91-EDCC-4970-823E-2B58CE22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D8E9A-0FCA-41D1-9FE3-E56E7CCF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1C2A"/>
          </a:solidFill>
          <a:ln xmlns:a="http://schemas.openxmlformats.org/drawingml/2006/main" w="19050">
            <a:solidFill>
              <a:srgbClr val="F793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D9F46-ED3A-4A3C-BD0D-A9A9A92E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CDD = Σ (BTC gastados × edad en días)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ED775-DD19-4FC3-B4D3-F31A5361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cálculo se realiza sobre outputs consumidos.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Una moneda antigua recibe más peso que una reciente.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métrica agrega actividad económica ponderada por antigüedad.</a:t>
            </a:r>
          </a:p>
        </p:txBody>
      </p:sp>
    </p:spTree>
    <p:extLst>
      <p:ext uri="{BB962C8B-B14F-4D97-AF65-F5344CB8AC3E}">
        <p14:creationId xmlns:p14="http://schemas.microsoft.com/office/powerpoint/2010/main" val="2070744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A145E-3786-4B48-ABA7-4E31A839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2BB9D-DECA-4E6B-974F-118B1E25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Volumen y CDD pueden contar historias distintas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34B2C-7CE5-42B2-B0D0-BD199FC0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0ABF0-6AB0-47BD-913D-A9AB3910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987EF-577B-4171-B5CB-0A97AB5D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C334F-80E7-4039-A841-955EF80E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Ejemplo didáctico con dos eventos de gasto.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904875" y="2095500"/>
          <a:ext xmlns:a="http://schemas.openxmlformats.org/drawingml/2006/main" cx="1038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9b07cd92274461"/>
          </a:graphicData>
        </a:graphic>
      </p:graphicFrame>
    </p:spTree>
    <p:extLst>
      <p:ext uri="{BB962C8B-B14F-4D97-AF65-F5344CB8AC3E}">
        <p14:creationId xmlns:p14="http://schemas.microsoft.com/office/powerpoint/2010/main" val="8195352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048E6-6B64-429B-B996-DBFA40BC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191F9-99AE-4263-9E48-6879808B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Un pico de CDD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B7032-D353-4629-B02B-E38EE926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AA45B-FA4D-4CC1-AFC5-B601AB84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8F748-8979-4AF6-ADBE-A2FFCEB2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B97CE-BC72-4BCD-8E29-960F5D2E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Afirmación sustentada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DA9F4-43FE-4856-BEDA-92714083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Afirmación que requiere evidencia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982E1-7B33-467E-B2E0-AE588014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0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4E23B-4736-4D04-9611-D7DE8B35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Se gastó valor con edad acumulada alta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combinación valor por edad fue inusual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evento puede compararse con su historia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93F52-1B3C-4778-BCCB-FADAE35C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Los inversores perdieron convicción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Una institución vendió sus reservas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precio cambiará en una dirección específica</a:t>
            </a:r>
          </a:p>
        </p:txBody>
      </p:sp>
    </p:spTree>
    <p:extLst>
      <p:ext uri="{BB962C8B-B14F-4D97-AF65-F5344CB8AC3E}">
        <p14:creationId xmlns:p14="http://schemas.microsoft.com/office/powerpoint/2010/main" val="20189507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A766B-B2E7-44B4-B340-22F77CA6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9F2AA-71C0-4464-8E85-C39F71AF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Dormancy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7248F-9C34-4A95-AE11-293685CB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EB38E-EA7A-44C0-81CF-2CE29EC4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F9BC5-CD48-4485-8613-0F99AF32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D4A7A-2251-45E8-8038-DFFF2E61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1C2A"/>
          </a:solidFill>
          <a:ln xmlns:a="http://schemas.openxmlformats.org/drawingml/2006/main" w="19050">
            <a:solidFill>
              <a:srgbClr val="F793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B5959-C894-4AEF-B7B3-4EE57D12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dormancy = CDD / volumen transferido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94C3A-D22E-4D84-8629-7D485A71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cociente expresa edad media destruida por unidad transferida.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Una dormancy alta indica gasto relativo de monedas más antiguas.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definición exacta depende del tratamiento del volumen y del ajuste por entidad.</a:t>
            </a:r>
          </a:p>
        </p:txBody>
      </p:sp>
    </p:spTree>
    <p:extLst>
      <p:ext uri="{BB962C8B-B14F-4D97-AF65-F5344CB8AC3E}">
        <p14:creationId xmlns:p14="http://schemas.microsoft.com/office/powerpoint/2010/main" val="17944809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5553A-74CD-496F-8589-2D1DEE85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379CD-3CF8-4867-82D2-8690BAE0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Realized capitalization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E8469-6B9B-4151-A5C6-46F14F58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E2E12-3870-4093-BFF6-742CDADA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920F7-7170-4575-A52E-7E88F1BF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16F70-8EBA-4698-80B5-8D7846DB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1C2A"/>
          </a:solidFill>
          <a:ln xmlns:a="http://schemas.openxmlformats.org/drawingml/2006/main" w="19050">
            <a:solidFill>
              <a:srgbClr val="F793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07575-B899-4F6B-92B3-AD2714B1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realized cap = Σ (UTXO × precio en su último movimiento)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22E00-B9DD-4EFD-A1E0-66EF10E2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Cada unidad se valora al precio asociado con su último movimiento.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medida difiere de capitalización de mercado, que usa el precio actual.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resultado aproxima una base de costo agregada bajo supuestos metodológicos.</a:t>
            </a:r>
          </a:p>
        </p:txBody>
      </p:sp>
    </p:spTree>
    <p:extLst>
      <p:ext uri="{BB962C8B-B14F-4D97-AF65-F5344CB8AC3E}">
        <p14:creationId xmlns:p14="http://schemas.microsoft.com/office/powerpoint/2010/main" val="12369868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53F82-9504-472D-8C08-FA469BB9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71D37-F7B5-4AE4-991A-89E6408F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Realized price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4A0D0-E472-4AE8-92D3-5108D86C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CAF78-EF50-4FE1-AC7C-A01C7FB6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B8190-8F16-4AB9-BD94-6BAC54D4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5ECE7-36DA-4CE9-A676-70462EC0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1C2A"/>
          </a:solidFill>
          <a:ln xmlns:a="http://schemas.openxmlformats.org/drawingml/2006/main" w="19050">
            <a:solidFill>
              <a:srgbClr val="F793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19986-94CF-4A03-82AD-A4CE4975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realized price = realized cap / oferta circulante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FFFF5-7EED-4DFA-9724-1CC09943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Funciona como promedio agregado de valoración realizada.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No coincide con la base de costo exacta de cada persona.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Las monedas perdidas y los movimientos internos afectan la interpretación.</a:t>
            </a:r>
          </a:p>
        </p:txBody>
      </p:sp>
    </p:spTree>
    <p:extLst>
      <p:ext uri="{BB962C8B-B14F-4D97-AF65-F5344CB8AC3E}">
        <p14:creationId xmlns:p14="http://schemas.microsoft.com/office/powerpoint/2010/main" val="9394642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58AFC-2FE8-43D0-95C8-2CCC77E8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97DD7-BE8B-4DC9-AC30-4714EF71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HODL Waves y Realized Cap HODL Waves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B56E3-CA16-47AA-9C6E-E80CF82D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BDC9E-E620-4BF6-9DD6-1732B5C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1805A-3403-4655-9D46-16F0B9D5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46E8E-1D84-4677-94D2-551351CE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Ponderación por oferta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36D14-617A-457F-BFC9-F60893DF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Ponderación por valor realizado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5781F-E5B5-4BC1-8771-2EEB5AA3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0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EEE51-DBB8-438C-8B9F-B0D88EB5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Cada banda expresa proporción de BTC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Las monedas antiguas conservan todo su peso nominal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pregunta central se refiere a edad de oferta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945C3-D051-4C3F-8B42-BABCFAB8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Cada banda expresa proporción de realized cap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precio del último movimiento modifica el peso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pregunta central se refiere a valor realizado</a:t>
            </a:r>
          </a:p>
        </p:txBody>
      </p:sp>
    </p:spTree>
    <p:extLst>
      <p:ext uri="{BB962C8B-B14F-4D97-AF65-F5344CB8AC3E}">
        <p14:creationId xmlns:p14="http://schemas.microsoft.com/office/powerpoint/2010/main" val="16499661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C22B0-7B41-4155-A935-EFF6560B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A7BE3-433E-4EA0-9E2A-A488B504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Long-Term Holder y Short-Term Holder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B6EA0-C1A5-4181-ADD9-990396A4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4F7CF-ED70-441D-88C0-6872CDBB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86212-233F-4470-8B56-EA790F29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19CBD-B295-409D-9362-6F79F24F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LTH y STH son cohortes analíticas construidas con una heurística temporal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6EB4D-BC28-4273-BB52-EB023871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El umbral cercano a 155 días usado por ciertos proveedores sirve para segmentar series agregadas. No transforma a una persona en inversor de largo plazo durante un día específico.</a:t>
            </a:r>
          </a:p>
        </p:txBody>
      </p:sp>
    </p:spTree>
    <p:extLst>
      <p:ext uri="{BB962C8B-B14F-4D97-AF65-F5344CB8AC3E}">
        <p14:creationId xmlns:p14="http://schemas.microsoft.com/office/powerpoint/2010/main" val="11687567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7D052-A47D-44CE-BEC5-9F8C0B1F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E2C5E-6097-4D21-8605-D3FEA380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Finanzas conductuales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297F9-CF43-40B3-AD0B-92F0FCCE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AB542-3056-4526-964F-51868367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09962-CB5B-4CCA-96DC-93942460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60A6F-C9DE-49BF-B459-72F3AD37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La decisión de mantener depende de expectativas, riesgo, información, identidad y horizonte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AE0D3-E6A6-4D8E-9234-E813A0A4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Una misma conducta observable puede surgir de procesos distintos. La blockchain registra el gasto o la inmovilidad, mientras el análisis conductual formula hipótesis sobre el decisor.</a:t>
            </a:r>
          </a:p>
        </p:txBody>
      </p:sp>
    </p:spTree>
    <p:extLst>
      <p:ext uri="{BB962C8B-B14F-4D97-AF65-F5344CB8AC3E}">
        <p14:creationId xmlns:p14="http://schemas.microsoft.com/office/powerpoint/2010/main" val="14470819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AF20D-3985-42E3-A8A0-AF3235AB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20A79-029D-42F9-B7CC-79CB8E1D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Prospect theory y punto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773EE-41F1-4887-A675-A3A469E9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C0019-171E-4932-8D37-DE3C3B1A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65BD7-D527-40D4-84FE-43D1E8EC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83E59-9379-4E9B-B934-F89A1030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Evaluación relativa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4C7CF-C5D9-4DF4-8C5F-3BC8DE53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Consecuencia conductual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8C472-085F-4F7D-8F2C-571D3603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0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4D44F-BD37-43C8-BC32-D23DDAC0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inversor compara el precio con una referencia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costo de compra suele actuar como ancla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Ganancias y pérdidas reciben pesos psicológicos distintos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F3C63-F06E-426F-AEA2-6DDAC31D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Una pérdida puede motivar espera para volver a cero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Una ganancia puede inducir venta temprana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decisión depende del encuadre del resultado</a:t>
            </a:r>
          </a:p>
        </p:txBody>
      </p:sp>
    </p:spTree>
    <p:extLst>
      <p:ext uri="{BB962C8B-B14F-4D97-AF65-F5344CB8AC3E}">
        <p14:creationId xmlns:p14="http://schemas.microsoft.com/office/powerpoint/2010/main" val="11357656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95995-087A-441D-8AE3-3F2843A2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33525-AA20-44B8-B2DC-38A7DEF5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Loss aversion y disposition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8577D-62C6-48F1-939B-379903A6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054A1-106A-4FF7-ADC9-719789DA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471D7-A525-4671-BA64-45F66E3F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730EB-9BFC-4639-A073-BA287D33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Loss aversion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53352-DC7E-43DD-B0D9-2FFDA083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Disposition effect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72A58-C68F-4907-A63D-6C27FB1E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0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AC24E-517F-4874-BC4C-E3F0E891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Las pérdidas pesan más que ganancias equivalentes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Describe una preferencia ante resultados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Puede influir en tamaño de posición y salida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F8FCF-E78C-48B4-8FBB-427C0856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Mayor propensión a vender ganadores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Mayor propensión a conservar perdedores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Se mide como patrón de decisiones realizadas</a:t>
            </a:r>
          </a:p>
        </p:txBody>
      </p:sp>
    </p:spTree>
    <p:extLst>
      <p:ext uri="{BB962C8B-B14F-4D97-AF65-F5344CB8AC3E}">
        <p14:creationId xmlns:p14="http://schemas.microsoft.com/office/powerpoint/2010/main" val="12177399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3988B-338C-4D02-AD54-125823A9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8992E-FFCC-45E2-A9DE-D3EF0D77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Proporciones de realización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3448D-EB71-4301-9ED6-F5B6EF7E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5738E-11F9-4BA9-A7DF-F7137699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2DCFA-9DA0-4878-A6C9-2904F4DD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D3113-2599-41E6-B590-6D18170E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1C2A"/>
          </a:solidFill>
          <a:ln xmlns:a="http://schemas.openxmlformats.org/drawingml/2006/main" w="19050">
            <a:solidFill>
              <a:srgbClr val="F793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06954-A593-43E0-A4E4-9D8FB8F1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DE = PGR − PLR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58E1E-AEEA-4FA9-8DE7-E548192A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PGR mide la proporción de ganancias realizadas.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PLR mide la proporción de pérdidas realizadas.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Un valor positivo puede resultar compatible con disposition effect bajo el diseño del estudio.</a:t>
            </a:r>
          </a:p>
        </p:txBody>
      </p:sp>
    </p:spTree>
    <p:extLst>
      <p:ext uri="{BB962C8B-B14F-4D97-AF65-F5344CB8AC3E}">
        <p14:creationId xmlns:p14="http://schemas.microsoft.com/office/powerpoint/2010/main" val="98592342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A39BC-1D98-4038-A14E-A27503B9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43E90-52F3-40E8-A1DE-FBFB85C4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Evidencia empírica en Bitcoin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71260-A68C-4D0D-9171-4B5BD778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8C667-DBC2-464D-B6E4-BD6491AE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F8C4B-7E72-472B-9F4D-9E857C31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43542-01F7-4CFD-8DE2-698BD4D8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Schatzmann y Haslhofer usan transferencias hacia exchanges como proxy de venta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5B2CC-9096-41A8-8B63-404C7740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El estudio encuentra evidencia compatible con disposition effect. La identificación depende de clusters de entidades, proxies y reglas que aproximan la base de costo.</a:t>
            </a:r>
          </a:p>
        </p:txBody>
      </p:sp>
    </p:spTree>
    <p:extLst>
      <p:ext uri="{BB962C8B-B14F-4D97-AF65-F5344CB8AC3E}">
        <p14:creationId xmlns:p14="http://schemas.microsoft.com/office/powerpoint/2010/main" val="38997140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4C765B-175C-4830-9A43-841A9DE4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3B0A7-B1E9-42DF-8FFA-2D09AC45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Escalera de inferencia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07102-897E-45EE-98BB-5083D29C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2F100-6B30-4A35-A664-34C68C6F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700F0-AFF9-4BD2-BFAA-6F373B07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18C3C-1F90-423C-929B-7BEE37C8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02B8C-4CC5-45FA-B33C-58E6D9F9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3FF06-B42F-4A36-945D-B0BDF69E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Dato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DE81C-8CBB-487F-B2EE-DC76D359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Un UTXO se gastó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D4F0B-8D1E-481F-A554-5C2A1626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D7648-F98D-4C46-93A0-3A53C7DF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FBDD5-7B56-4CD2-A9C7-E86CDFCE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Métrica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63960-AB25-430A-86A5-3B57DE42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Generó CDD alto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361E4-626F-41E4-B8CD-79E845BC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7AB31-7681-4930-A8D4-980731D7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59408-D56A-4EFC-B54A-619DE4D5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Hipótesis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BF7A7-380E-497E-A455-814B8652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Una cohorte antigua se activó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C090E-74B6-494C-9A09-ADF83A58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2A1B0C"/>
          </a:solidFill>
          <a:ln xmlns:a="http://schemas.openxmlformats.org/drawingml/2006/main" w="9525">
            <a:solidFill>
              <a:srgbClr val="F7931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A3DBA-7730-41E9-BBF4-440F5217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4320-69A6-4932-9FB6-50377F60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Validación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7A0A49-27D7-4AF2-B059-26BDD8FE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Contrastar entidades, mercado y contexto</a:t>
            </a:r>
          </a:p>
        </p:txBody>
      </p: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9087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cxnSp>
        <p:nvCxnSpPr>
          <p:cNvPr id="49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1537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1ECE0E-54A3-4BF2-89C3-A52E6ADF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Cada escalón agrega supuestos. La confianza debe disminuir cuando aumenta la distancia respecto del dato bruto.</a:t>
            </a:r>
          </a:p>
        </p:txBody>
      </p:sp>
    </p:spTree>
    <p:extLst>
      <p:ext uri="{BB962C8B-B14F-4D97-AF65-F5344CB8AC3E}">
        <p14:creationId xmlns:p14="http://schemas.microsoft.com/office/powerpoint/2010/main" val="20961870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33A78-B0ED-49E2-8EF0-91704554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070E7-3989-429E-BDA5-DE9D5857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Los cinco laboratorios del bloque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20484-BCA0-473E-9860-26B113B9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1CEAD-2CF3-43AC-8976-A6C578AB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4499A-B656-48EC-94E4-D1F9788D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28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4000500"/>
                <a:gridCol w="57150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Lab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Objeto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Pregunta principal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HODL, DCA y venta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¿Cambió la cantidad o la valoración?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UTXO Aging y HODL Waves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¿Cómo migra la oferta entre bandas?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CDD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¿Qué agrega cantidad por edad?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Behavioral Bitcoin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¿Convicción o patrón de realización?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Riesgo y asignación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¿Cuándo aparece una venta forzada?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3972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6991B-B161-4AF7-9798-46486D59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97C01-4321-4713-B10B-5BC78564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Caso integrador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7BFD2-5BF4-4547-98EA-CFD2AA9D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50157-E49F-411E-97CF-1662F7DC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F08E3-0EB2-46E2-B9B5-8F57EE72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D2DF8-AC60-4CB3-B058-B3FDAFFD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Datos observados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57AD5-3122-469D-8DE3-63830E32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Conclusiones prudentes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599FF-B324-43ED-9BBD-CE4C0165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0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BFA44-D636-4E1F-915C-F95F6F32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Aumenta la banda mayor a dos años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CDD permanece bajo durante meses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Luego aparece un pico de CDD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B06DE-62B2-431E-BF7C-5F911E30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oferta envejeció antes del evento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Se gastaron monedas con edad acumulada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identidad y la motivación siguen abiertas</a:t>
            </a:r>
          </a:p>
        </p:txBody>
      </p:sp>
    </p:spTree>
    <p:extLst>
      <p:ext uri="{BB962C8B-B14F-4D97-AF65-F5344CB8AC3E}">
        <p14:creationId xmlns:p14="http://schemas.microsoft.com/office/powerpoint/2010/main" val="4045021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F581A-BB17-48D3-9A6C-84C09AE6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3AFE6-80CA-4B76-BF1F-D9F322D4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Lista de control para leer métricas on-chain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5282B-5063-4FAF-A1A0-4BE9E948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DDFD4-C271-4720-8456-A7A8E368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30992-7A55-4A71-B772-BFDA5DC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30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2865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Pregunta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Comprobación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¿Qué unidad mide?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BTC, USD, días, proporción o entidad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¿Cuál es el denominador?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Oferta total, volumen o realized cap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¿Usa ajuste por entidad?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Revisar heurísticas y cobertura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¿El dato es bruto o derivado?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Separar observación de modelo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¿La conclusión atribuye intención?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Exigir evidencia externa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9131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DC33C-93DA-4A04-9D77-DD9494DB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CD45C-6FA9-433A-ABD4-1FAF9F58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Síntesis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BE02F-A624-47D0-9F33-2A1AF426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C9DC1-94C4-4FED-977E-A37620F0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B1443-084D-4B23-86DF-62F6793A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ON-CHAIN  ·  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CE6BB-DC8C-40EE-8F0A-05247E79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Decisión humana, huella blockchain, métrica on-chain e interpretación crítica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F4D74-5461-4FF2-A738-E5A22308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El análisis gana rigor cuando calcula correctamente y conserva la distancia entre lo que la cadena muestra y lo que el investigador infiere.</a:t>
            </a:r>
          </a:p>
        </p:txBody>
      </p:sp>
    </p:spTree>
    <p:extLst>
      <p:ext uri="{BB962C8B-B14F-4D97-AF65-F5344CB8AC3E}">
        <p14:creationId xmlns:p14="http://schemas.microsoft.com/office/powerpoint/2010/main" val="1226290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2026-09-14T13:08:31.1980000Z</dcterms:created>
  <dcterms:modified xsi:type="dcterms:W3CDTF">2026-09-14T13:08:31.1980000Z</dcterms:modified>
</coreProperties>
</file>