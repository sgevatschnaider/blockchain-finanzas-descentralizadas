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a29f89b3e44071" /><Relationship Type="http://schemas.openxmlformats.org/officeDocument/2006/relationships/extended-properties" Target="/docProps/app.xml" Id="R3f146eda71704e58" /><Relationship Type="http://schemas.openxmlformats.org/officeDocument/2006/relationships/officeDocument" Target="/ppt/presentation.xml" Id="R1bb75d0272444d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5609e47ea24a1f"/>
    <p:sldMasterId xmlns:r="http://schemas.openxmlformats.org/officeDocument/2006/relationships" id="2147483649" r:id="R2b7d1ffdb1234261"/>
  </p:sldMasterIdLst>
  <p:notesMasterIdLst>
    <p:notesMasterId xmlns:r="http://schemas.openxmlformats.org/officeDocument/2006/relationships" r:id="Rcf253e2c99994c3b"/>
  </p:notesMasterIdLst>
  <p:sldIdLst>
    <p:sldId xmlns:r="http://schemas.openxmlformats.org/officeDocument/2006/relationships" id="256" r:id="R1209607e55b9489a"/>
    <p:sldId xmlns:r="http://schemas.openxmlformats.org/officeDocument/2006/relationships" id="257" r:id="Rf3957da3dd2541ec"/>
    <p:sldId xmlns:r="http://schemas.openxmlformats.org/officeDocument/2006/relationships" id="258" r:id="R1a8afafd35e64c15"/>
    <p:sldId xmlns:r="http://schemas.openxmlformats.org/officeDocument/2006/relationships" id="259" r:id="R99e5b2fa3b1a46e5"/>
    <p:sldId xmlns:r="http://schemas.openxmlformats.org/officeDocument/2006/relationships" id="260" r:id="R6da42b775f0c4c6c"/>
    <p:sldId xmlns:r="http://schemas.openxmlformats.org/officeDocument/2006/relationships" id="261" r:id="R8682e37c473e4894"/>
    <p:sldId xmlns:r="http://schemas.openxmlformats.org/officeDocument/2006/relationships" id="262" r:id="R20b18c97745f451e"/>
    <p:sldId xmlns:r="http://schemas.openxmlformats.org/officeDocument/2006/relationships" id="263" r:id="R7e3493cca2194176"/>
    <p:sldId xmlns:r="http://schemas.openxmlformats.org/officeDocument/2006/relationships" id="264" r:id="R567a2a29a4964b6a"/>
    <p:sldId xmlns:r="http://schemas.openxmlformats.org/officeDocument/2006/relationships" id="265" r:id="R681525cb9d124e3a"/>
    <p:sldId xmlns:r="http://schemas.openxmlformats.org/officeDocument/2006/relationships" id="266" r:id="Rfb0e0ed3b3054309"/>
    <p:sldId xmlns:r="http://schemas.openxmlformats.org/officeDocument/2006/relationships" id="267" r:id="R60f910868e074601"/>
    <p:sldId xmlns:r="http://schemas.openxmlformats.org/officeDocument/2006/relationships" id="268" r:id="Rbcfe156613934592"/>
    <p:sldId xmlns:r="http://schemas.openxmlformats.org/officeDocument/2006/relationships" id="269" r:id="R12539fdb81b24799"/>
    <p:sldId xmlns:r="http://schemas.openxmlformats.org/officeDocument/2006/relationships" id="270" r:id="R0c631a654e664383"/>
    <p:sldId xmlns:r="http://schemas.openxmlformats.org/officeDocument/2006/relationships" id="271" r:id="Rcd19c6abe5c3493d"/>
    <p:sldId xmlns:r="http://schemas.openxmlformats.org/officeDocument/2006/relationships" id="272" r:id="R525e7046c6204027"/>
    <p:sldId xmlns:r="http://schemas.openxmlformats.org/officeDocument/2006/relationships" id="273" r:id="R1c5c9cf652f046b5"/>
    <p:sldId xmlns:r="http://schemas.openxmlformats.org/officeDocument/2006/relationships" id="274" r:id="Rcbbbe1b1b00a40f1"/>
    <p:sldId xmlns:r="http://schemas.openxmlformats.org/officeDocument/2006/relationships" id="275" r:id="R29c53ab1fd2244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aca5210a664afc" /><Relationship Type="http://schemas.openxmlformats.org/officeDocument/2006/relationships/slideMaster" Target="/ppt/slideMasters/slideMaster1.xml" Id="Ref5609e47ea24a1f" /><Relationship Type="http://schemas.openxmlformats.org/officeDocument/2006/relationships/slideMaster" Target="/ppt/slideMasters/slideMaster2.xml" Id="R2b7d1ffdb1234261" /><Relationship Type="http://schemas.openxmlformats.org/officeDocument/2006/relationships/notesMaster" Target="/ppt/notesMasters/notesMaster1.xml" Id="Rcf253e2c99994c3b" /><Relationship Type="http://schemas.openxmlformats.org/officeDocument/2006/relationships/presProps" Target="/ppt/presProps.xml" Id="Rb612fff741cd44b9" /><Relationship Type="http://schemas.openxmlformats.org/officeDocument/2006/relationships/tableStyles" Target="/ppt/tableStyles.xml" Id="R2dab050cdf3746e2" /><Relationship Type="http://schemas.openxmlformats.org/officeDocument/2006/relationships/slide" Target="/ppt/slides/slide1.xml" Id="R1209607e55b9489a" /><Relationship Type="http://schemas.openxmlformats.org/officeDocument/2006/relationships/slide" Target="/ppt/slides/slide2.xml" Id="Rf3957da3dd2541ec" /><Relationship Type="http://schemas.openxmlformats.org/officeDocument/2006/relationships/slide" Target="/ppt/slides/slide3.xml" Id="R1a8afafd35e64c15" /><Relationship Type="http://schemas.openxmlformats.org/officeDocument/2006/relationships/slide" Target="/ppt/slides/slide4.xml" Id="R99e5b2fa3b1a46e5" /><Relationship Type="http://schemas.openxmlformats.org/officeDocument/2006/relationships/slide" Target="/ppt/slides/slide5.xml" Id="R6da42b775f0c4c6c" /><Relationship Type="http://schemas.openxmlformats.org/officeDocument/2006/relationships/slide" Target="/ppt/slides/slide6.xml" Id="R8682e37c473e4894" /><Relationship Type="http://schemas.openxmlformats.org/officeDocument/2006/relationships/slide" Target="/ppt/slides/slide7.xml" Id="R20b18c97745f451e" /><Relationship Type="http://schemas.openxmlformats.org/officeDocument/2006/relationships/slide" Target="/ppt/slides/slide8.xml" Id="R7e3493cca2194176" /><Relationship Type="http://schemas.openxmlformats.org/officeDocument/2006/relationships/slide" Target="/ppt/slides/slide9.xml" Id="R567a2a29a4964b6a" /><Relationship Type="http://schemas.openxmlformats.org/officeDocument/2006/relationships/slide" Target="/ppt/slides/slide10.xml" Id="R681525cb9d124e3a" /><Relationship Type="http://schemas.openxmlformats.org/officeDocument/2006/relationships/slide" Target="/ppt/slides/slide11.xml" Id="Rfb0e0ed3b3054309" /><Relationship Type="http://schemas.openxmlformats.org/officeDocument/2006/relationships/slide" Target="/ppt/slides/slide12.xml" Id="R60f910868e074601" /><Relationship Type="http://schemas.openxmlformats.org/officeDocument/2006/relationships/slide" Target="/ppt/slides/slide13.xml" Id="Rbcfe156613934592" /><Relationship Type="http://schemas.openxmlformats.org/officeDocument/2006/relationships/slide" Target="/ppt/slides/slide14.xml" Id="R12539fdb81b24799" /><Relationship Type="http://schemas.openxmlformats.org/officeDocument/2006/relationships/slide" Target="/ppt/slides/slide15.xml" Id="R0c631a654e664383" /><Relationship Type="http://schemas.openxmlformats.org/officeDocument/2006/relationships/slide" Target="/ppt/slides/slide16.xml" Id="Rcd19c6abe5c3493d" /><Relationship Type="http://schemas.openxmlformats.org/officeDocument/2006/relationships/slide" Target="/ppt/slides/slide17.xml" Id="R525e7046c6204027" /><Relationship Type="http://schemas.openxmlformats.org/officeDocument/2006/relationships/slide" Target="/ppt/slides/slide18.xml" Id="R1c5c9cf652f046b5" /><Relationship Type="http://schemas.openxmlformats.org/officeDocument/2006/relationships/slide" Target="/ppt/slides/slide19.xml" Id="Rcbbbe1b1b00a40f1" /><Relationship Type="http://schemas.openxmlformats.org/officeDocument/2006/relationships/slide" Target="/ppt/slides/slide20.xml" Id="R29c53ab1fd2244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a04efb5835e4c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e2b887ab04478" /><Relationship Type="http://schemas.openxmlformats.org/officeDocument/2006/relationships/notesMaster" Target="/ppt/notesMasters/notesMaster1.xml" Id="Rf2c5e524a92040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ab7c504c4e4ad0" /><Relationship Type="http://schemas.openxmlformats.org/officeDocument/2006/relationships/notesMaster" Target="/ppt/notesMasters/notesMaster1.xml" Id="R2820a28694a143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cfedc3e0e24078" /><Relationship Type="http://schemas.openxmlformats.org/officeDocument/2006/relationships/notesMaster" Target="/ppt/notesMasters/notesMaster1.xml" Id="R903d7591490f41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013c0fbef34281" /><Relationship Type="http://schemas.openxmlformats.org/officeDocument/2006/relationships/notesMaster" Target="/ppt/notesMasters/notesMaster1.xml" Id="R347b8d14b74b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3f71e232ff42c0" /><Relationship Type="http://schemas.openxmlformats.org/officeDocument/2006/relationships/notesMaster" Target="/ppt/notesMasters/notesMaster1.xml" Id="R6a804f58ee4840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b912c783304d03" /><Relationship Type="http://schemas.openxmlformats.org/officeDocument/2006/relationships/notesMaster" Target="/ppt/notesMasters/notesMaster1.xml" Id="R30698d062b2d47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d7a1a96c4e40a4" /><Relationship Type="http://schemas.openxmlformats.org/officeDocument/2006/relationships/notesMaster" Target="/ppt/notesMasters/notesMaster1.xml" Id="Rd5d3bac870d748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ad6c605905481b" /><Relationship Type="http://schemas.openxmlformats.org/officeDocument/2006/relationships/notesMaster" Target="/ppt/notesMasters/notesMaster1.xml" Id="R63f2e6891df649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8ea1b8780540ec" /><Relationship Type="http://schemas.openxmlformats.org/officeDocument/2006/relationships/notesMaster" Target="/ppt/notesMasters/notesMaster1.xml" Id="R5f6aa5c404e540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ec24cfa36042f8" /><Relationship Type="http://schemas.openxmlformats.org/officeDocument/2006/relationships/notesMaster" Target="/ppt/notesMasters/notesMaster1.xml" Id="Rbd52826bded747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de26430eb3491a" /><Relationship Type="http://schemas.openxmlformats.org/officeDocument/2006/relationships/notesMaster" Target="/ppt/notesMasters/notesMaster1.xml" Id="R586b632c5f3a4d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9f34dbbb9f434e" /><Relationship Type="http://schemas.openxmlformats.org/officeDocument/2006/relationships/notesMaster" Target="/ppt/notesMasters/notesMaster1.xml" Id="Rbf894e112ae24e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9c3db4a54d4505" /><Relationship Type="http://schemas.openxmlformats.org/officeDocument/2006/relationships/notesMaster" Target="/ppt/notesMasters/notesMaster1.xml" Id="R2ee3451899f54a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dabb54d42e49de" /><Relationship Type="http://schemas.openxmlformats.org/officeDocument/2006/relationships/notesMaster" Target="/ppt/notesMasters/notesMaster1.xml" Id="R97939088661145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4bba632f06496f" /><Relationship Type="http://schemas.openxmlformats.org/officeDocument/2006/relationships/notesMaster" Target="/ppt/notesMasters/notesMaster1.xml" Id="R65677e495f2e4f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f940371da843cd" /><Relationship Type="http://schemas.openxmlformats.org/officeDocument/2006/relationships/notesMaster" Target="/ppt/notesMasters/notesMaster1.xml" Id="Rf8c0e056fec142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a1bf0f228e4dd2" /><Relationship Type="http://schemas.openxmlformats.org/officeDocument/2006/relationships/notesMaster" Target="/ppt/notesMasters/notesMaster1.xml" Id="Rb97018aaaded4a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4e260bc84841aa" /><Relationship Type="http://schemas.openxmlformats.org/officeDocument/2006/relationships/notesMaster" Target="/ppt/notesMasters/notesMaster1.xml" Id="R9fb644e2a83a48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4d7fa535144003" /><Relationship Type="http://schemas.openxmlformats.org/officeDocument/2006/relationships/notesMaster" Target="/ppt/notesMasters/notesMaster1.xml" Id="R0a6e0dd231084c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1a621399cb4bec" /><Relationship Type="http://schemas.openxmlformats.org/officeDocument/2006/relationships/notesMaster" Target="/ppt/notesMasters/notesMaster1.xml" Id="R10a9d8b42def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G=(V,E,X,T) es una descripción del dato. Un grafo dirigido distingue origen y destino. Un multigrafo conserva varias relaciones entre un par de nodos. Una wallet puede controlar varias direcciones y un contrato es una cuenta con código. Se evita atribuir identidad real sin evidencia externa.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Una transacción Bitcoin puede consumir múltiples inputs y crear varios outputs. Proyectarla como transferencias entre direcciones requiere una regla y no permite identificar de forma única cuánto pasó de cada input a cada output. Las heurísticas de clustering pueden fallar, por ejemplo en operaciones coordinadas. El grafo de Ethereum distingue valor nativo, eventos ERC-20 y trazas de ejecución.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Las métricas clásicas son un baseline y un puente conceptual. Clustering mide transitividad local y no equivale a comunidad. Una centralidad alta puede reflejar actividad técnica, intermediación o un sesgo de muestreo. Las métricas temporales se calculan en cada snapshot disponible, evitando utilizar una red futura.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En un grafo dirigido, elegir N(v) modifica la información accesible. Las funciones de agregación pueden incluir sumas, medias o atención. Al apilar capas aumenta el radio de información, con riesgos de mezcla excesiva. Los atributos de aristas se utilizan sólo si la arquitectura elegida los incorpora.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Fuentes y documentación: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Kipf y Welling (2017). Semi-Supervised Classification with GCN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https://arxiv.org/abs/1609.02907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Hamilton, Ying y Leskovec (2017). Inductive Representation Learning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https://arxiv.org/abs/1706.02216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Veličković et al. (2018). Graph Attention Networks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https://arxiv.org/abs/1710.10903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La regla ilustrativa no representa por sí sola una GCN completa. Es un cálculo sencillo de agregación y actualización. Se puede cambiar un vecino y observar el efecto. La media reduce una colección a un resumen y pierde parte de la información estructural. La identidad de los números carece de interpretación financiera.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Se presenta la GCN clásica de Kipf y Welling. La normalización es simétrica para la representación usada. En transacciones dirigidas no debe aplicarse sin explicar qué información conserva o pierde la transformación. La fórmula es una convolución de grafo y no una media aritmética simple en todos los casos.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Fuentes y documentación: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Kipf y Welling (2017). Semi-Supervised Classification with GCN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https://arxiv.org/abs/1609.02907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GraphSAGE aprende una función de representación en lugar de un embedding independiente para cada identificador. La variante concreta define agregador, normalización y muestreo. La generalización a nodos nuevos se evalúa con un protocolo inductivo, sin asumir que toda conexión futura ya se conoce.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Fuentes y documentación: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Hamilton, Ying y Leskovec (2017). Inductive Representation Learning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https://arxiv.org/abs/1706.02216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La fórmula simplifica la atención por cabeza. Los scores e se aprenden a partir de representaciones de nodos. Los self-loops pueden incluirse. Los pesos no garantizan una explicación causal de la predicción ni equivalen a probabilidad de ilicitud de un vecino.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Fuentes y documentación: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Veličković et al. (2018). Graph Attention Networks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https://arxiv.org/abs/1710.10903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Pesos sintéticos normalizados para enseñar una suma ponderada. No proceden de un GAT entrenado ni de transacciones reales. El resultado es 3. Cada cabeza puede usar transformaciones vectoriales y pesos diferentes. El mecanismo se interpreta junto con atributos, arquitectura y contexto.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La GNN se compara con modelos que utilizan atributos sin estructura, y con métricas clásicas de grafo cuando corresponde. Un método más complejo no tiene una superioridad universal. La evaluación mide si la topología disponible agrega información útil.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Fuentes y documentación: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Kipf y Welling (2017). Semi-Supervised Classification with GCN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https://arxiv.org/abs/1609.02907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Hamilton, Ying y Leskovec (2017). Inductive Representation Learning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https://arxiv.org/abs/1706.02216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Veličković et al. (2018). Graph Attention Networks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https://arxiv.org/abs/1710.10903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Datos del Elliptic original de Weber et al., distinto de otros datasets posteriores. Unknown indica ausencia de etiqueta lícita o ilícita y no una tercera clase semántica para esta tarea binaria. Las features agregadas incluyen información de vecinos anteriores y posteriores dentro del snapshot, por lo que se debe verificar disponibilidad para una aplicación online. Los pasos temporales tienen componentes separados sin enlaces entre pasos.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Fuentes y documentación: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Weber et al. (2019). Anti-Money Laundering in Bitcoin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https://arxiv.org/abs/1908.02591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El 90,2 % es una cuenta ilustrativa derivada de 42.019 / (42.019 + 4.545), no un resultado de entrenamiento. La prevalencia ilícita entre etiquetas conocidas es aproximadamente 9,76 %, distinta del porcentaje sobre el grafo completo. Los pesos de clase se calculan con el train de cada experimento. La precisión depende de prevalencia, selección de muestra y umbral. Un score de modelo requiere revisión y no establece identidad ni culpabilidad.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Fuentes y documentación: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Weber et al. (2019). Anti-Money Laundering in Bitcoin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https://arxiv.org/abs/1908.02591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/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Autoría: Material elaborado por el profesor Sergio Gevatschnaider.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construcción heterogénea utiliza tipos de nodos y de relaciones. Calls, transferencias nativas y eventos token no son intercambiables. Un evento mal interpretado puede crear un vínculo económico incorrecto. Se especifican protocolo, contrato, dirección del enlace y atributos como gas, fee, bloque y valor. La disponibilidad de trazas y decodificación depende 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Autoría: Material elaborado por el profesor Sergio Gevatschnaider.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representación global del snapshot puede agregarse por suma, media o un readout aprendido. Su escala depende del tamaño del grafo. Para seguir un nodo se requiere persistencia del identificador y una política para nodos ausentes. Un embedding global evita suponer que el número de nodos es constante, pero necesita estabilidad del encoder y de la agregación.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Autoría: Material elaborado por el profesor Sergio Gevatschnaider.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sólo las etiquetas no garantiza una evaluación prospectiva. Un protocolo transductivo offline puede permitir atributos y enlaces de nodos de evaluación sin sus etiquetas. Ese acceso debe explicitarse y no presentarse como equivalente a predicción online. Los embeddings y transformaciones aprendidos también respetan el corte del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Autoría: Material elaborado por el profesor Sergio Gevatschnaider.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anomalía describe distancia respecto de una referencia estadística. No equivale por sí sola a fraude. La predicción de enlaces puede sobreestimarse si negativos triviales o relaciones futuras contaminan el diseño. Se explicita si se evalúa sobre nodos nuevos, sobre nodos vistos con etiquetas ocultas o sobre grafos nuevos.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Autoría: Material elaborado por el profesor Sergio Gevatschnaider.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profundidad no es una mejora automática. Se comparan pocas capas y se estudia sensibilidad al vecindario. La escasez de etiquetas y las heurísticas de agrupación limitan la inferencia. Una clasificación puede generar falsos positivos y debe comunicarse con sus métricas y condiciones. La relación entre nodos no transmite automáticamente la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Autoría: Material elaborado por el profesor Sergio Gevatschnaider.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ruta conserva los contenidos del original: grafo, métricas, comunidades, GCN, GraphSAGE, GAT, desbalance y dinámica. Se puede comenzar con un grafo sintético explícito para estudiar agregación. La práctica con Elliptic utiliza sus etiquetas documentadas y distingue ese benchmark de una aplicación con datos actuales.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Autoría: Material elaborado por el profesor Sergio Gevatschnaider.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Lecturas para ampliar y contrastar el método. Los resultados de los artículos pertenecen al experimento de sus autores.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Kipf y Welling (2017). Semi-Supervised Classification with GCN</a:t>
            </a:r>
          </a:p>
          <a:p xmlns:a="http://schemas.openxmlformats.org/drawingml/2006/main">
            <a:r>
              <a:t>https://arxiv.org/abs/1609.02907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Hamilton, Ying y Leskovec (2017). Inductive Representation Learning</a:t>
            </a:r>
          </a:p>
          <a:p xmlns:a="http://schemas.openxmlformats.org/drawingml/2006/main">
            <a:r>
              <a:t>https://arxiv.org/abs/1706.02216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Veličković et al. (2018). Graph Attention Networks</a:t>
            </a:r>
          </a:p>
          <a:p xmlns:a="http://schemas.openxmlformats.org/drawingml/2006/main">
            <a:r>
              <a:t>https://arxiv.org/abs/1710.10903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Weber et al. (2019). Anti-Money Laundering in Bitcoin</a:t>
            </a:r>
          </a:p>
          <a:p xmlns:a="http://schemas.openxmlformats.org/drawingml/2006/main">
            <a:r>
              <a:t>https://arxiv.org/abs/1908.02591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Zheng, Zhou y Song (2025). Temporal-Aware Graph Attention Network</a:t>
            </a:r>
          </a:p>
          <a:p xmlns:a="http://schemas.openxmlformats.org/drawingml/2006/main">
            <a:r>
              <a:t>https://arxiv.org/abs/2506.21382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 elaborado por el profesor Sergio Gevatschnaider.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c63bf7422b44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74a908a84c41c6" /></Relationships>
</file>

<file path=ppt/slideLayouts/slideLayout1.xml><?xml version="1.0" encoding="utf-8"?>
<p:sldLayout xmlns:p="http://schemas.openxmlformats.org/presentationml/2006/main" type="blank" preserve="1">
  <p:cSld name="U8_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 preserve="1">
  <p:cSld name="U8_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2C7FCD4-A7C5-435B-B3A9-D7C1787C1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1D796A-D2ED-4AA9-B115-13E2044BD46E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07a1e0370470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9e89a3d58224dd6" /><Relationship Type="http://schemas.openxmlformats.org/officeDocument/2006/relationships/slideLayout" Target="/ppt/slideLayouts/slideLayout1.xml" Id="R33418891365f4eb0" /><Relationship Type="http://schemas.openxmlformats.org/officeDocument/2006/relationships/slideLayout" Target="/ppt/slideLayouts/slideLayout2.xml" Id="R65458aa5c5d94a6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AB8CA95-7F7B-4658-A559-AF091E04C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0EC1AEE-3D20-49D1-B62A-A17ADDAC372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3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0" r:id="R33418891365f4eb0"/>
    <p:sldLayoutId xmlns:r="http://schemas.openxmlformats.org/officeDocument/2006/relationships" id="2147483651" r:id="R65458aa5c5d94a63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f8b88e07a4586" /><Relationship Type="http://schemas.openxmlformats.org/officeDocument/2006/relationships/notesSlide" Target="/ppt/notesSlides/notesSlide1.xml" Id="Ra432f0dd97ad43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0d9a7f1824953" /><Relationship Type="http://schemas.openxmlformats.org/officeDocument/2006/relationships/notesSlide" Target="/ppt/notesSlides/notesSlide2.xml" Id="R7ac3594d0f7b42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d50b12298448d" /><Relationship Type="http://schemas.openxmlformats.org/officeDocument/2006/relationships/notesSlide" Target="/ppt/notesSlides/notesSlide3.xml" Id="Rab4f7ddf50d34b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c6a2152504661" /><Relationship Type="http://schemas.openxmlformats.org/officeDocument/2006/relationships/notesSlide" Target="/ppt/notesSlides/notesSlide4.xml" Id="Rd07b7aad2f5f46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0004c58ac41c3" /><Relationship Type="http://schemas.openxmlformats.org/officeDocument/2006/relationships/notesSlide" Target="/ppt/notesSlides/notesSlide5.xml" Id="R8f435144adb8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d85aaf82a466f" /><Relationship Type="http://schemas.openxmlformats.org/officeDocument/2006/relationships/notesSlide" Target="/ppt/notesSlides/notesSlide6.xml" Id="Rc504ce7cd8534d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c5490f855463f" /><Relationship Type="http://schemas.openxmlformats.org/officeDocument/2006/relationships/notesSlide" Target="/ppt/notesSlides/notesSlide7.xml" Id="R440f1b59cd7a4b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bcaccf49540bc" /><Relationship Type="http://schemas.openxmlformats.org/officeDocument/2006/relationships/notesSlide" Target="/ppt/notesSlides/notesSlide8.xml" Id="Rfead9d2fe1d446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7036183994208" /><Relationship Type="http://schemas.openxmlformats.org/officeDocument/2006/relationships/notesSlide" Target="/ppt/notesSlides/notesSlide9.xml" Id="Rd810c88a46974b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cb7f1c9354cb9" /><Relationship Type="http://schemas.openxmlformats.org/officeDocument/2006/relationships/notesSlide" Target="/ppt/notesSlides/notesSlide10.xml" Id="R3a78d45825b24c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dc7b577104cbb" /><Relationship Type="http://schemas.openxmlformats.org/officeDocument/2006/relationships/notesSlide" Target="/ppt/notesSlides/notesSlide11.xml" Id="R8c7d7d3d8fb746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64e020c4444b" /><Relationship Type="http://schemas.openxmlformats.org/officeDocument/2006/relationships/notesSlide" Target="/ppt/notesSlides/notesSlide12.xml" Id="R0a9a2875191944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5811cdc374bd9" /><Relationship Type="http://schemas.openxmlformats.org/officeDocument/2006/relationships/notesSlide" Target="/ppt/notesSlides/notesSlide13.xml" Id="R70c9d26e483346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1f7042bc84dbb" /><Relationship Type="http://schemas.openxmlformats.org/officeDocument/2006/relationships/notesSlide" Target="/ppt/notesSlides/notesSlide14.xml" Id="Rc27d5cebd5ed44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7e7d5c4e9403d" /><Relationship Type="http://schemas.openxmlformats.org/officeDocument/2006/relationships/notesSlide" Target="/ppt/notesSlides/notesSlide15.xml" Id="R33ff1587a6bc4a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cdb22607b494f" /><Relationship Type="http://schemas.openxmlformats.org/officeDocument/2006/relationships/notesSlide" Target="/ppt/notesSlides/notesSlide16.xml" Id="R70c4ba575b3d46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16d5e77b84eed" /><Relationship Type="http://schemas.openxmlformats.org/officeDocument/2006/relationships/notesSlide" Target="/ppt/notesSlides/notesSlide17.xml" Id="Rb953f36e6e5247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e3b8a702f4553" /><Relationship Type="http://schemas.openxmlformats.org/officeDocument/2006/relationships/notesSlide" Target="/ppt/notesSlides/notesSlide18.xml" Id="Rf5f7fecc38aa40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79945575343ab" /><Relationship Type="http://schemas.openxmlformats.org/officeDocument/2006/relationships/notesSlide" Target="/ppt/notesSlides/notesSlide19.xml" Id="R66e053d4f22942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95c2e326c4bfa" /><Relationship Type="http://schemas.openxmlformats.org/officeDocument/2006/relationships/hyperlink" Target="https://arxiv.org/abs/1609.02907" TargetMode="External" Id="R26d36d6991b9416b" /><Relationship Type="http://schemas.openxmlformats.org/officeDocument/2006/relationships/hyperlink" Target="https://arxiv.org/abs/1706.02216" TargetMode="External" Id="R61b299c1f11f4563" /><Relationship Type="http://schemas.openxmlformats.org/officeDocument/2006/relationships/hyperlink" Target="https://arxiv.org/abs/1710.10903" TargetMode="External" Id="R0736b1037c834017" /><Relationship Type="http://schemas.openxmlformats.org/officeDocument/2006/relationships/hyperlink" Target="https://arxiv.org/abs/1908.02591" TargetMode="External" Id="R6055e3434d964a11" /><Relationship Type="http://schemas.openxmlformats.org/officeDocument/2006/relationships/hyperlink" Target="https://arxiv.org/abs/2506.21382" TargetMode="External" Id="Rf4cbdf3b93624860" /><Relationship Type="http://schemas.openxmlformats.org/officeDocument/2006/relationships/notesSlide" Target="/ppt/notesSlides/notesSlide20.xml" Id="Rd7d1c6cca5b34a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BF32117F-6DEE-44C9-8B62-3923220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5ECD262-5BB5-4AFC-95B3-7520958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01 / 20</a:t>
            </a:r>
          </a:p>
        </p:txBody>
      </p:sp>
      <p:sp>
        <p:nvSpPr>
          <p:cNvPr id="3" name="cover-unit">
            <a:extLst xmlns:a="http://schemas.openxmlformats.org/drawingml/2006/main">
              <a:ext uri="{FF2B5EF4-FFF2-40B4-BE49-F238E27FC236}">
                <a16:creationId xmlns:a16="http://schemas.microsoft.com/office/drawing/2014/main" id="{E2B38E34-A685-4593-8DC1-46F6F497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DC9D929-A627-4FCB-9D3B-2F57F45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GNN aplicadas a blockchain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C4ED97A-E0CB-44FD-8DB5-3AD6DA2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BD5E1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CBD5E1"/>
                </a:solidFill>
                <a:latin typeface="DejaVu Sans"/>
                <a:ea typeface="DejaVu Sans"/>
                <a:cs typeface="DejaVu Sans"/>
              </a:rPr>
              <a:t>Representaciones de transacciones, vecindarios y evolución de la red</a:t>
            </a:r>
          </a:p>
        </p:txBody>
      </p:sp>
    </p:spTree>
    <p:extLst>
      <p:ext uri="{BB962C8B-B14F-4D97-AF65-F5344CB8AC3E}">
        <p14:creationId xmlns:p14="http://schemas.microsoft.com/office/powerpoint/2010/main" val="390937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">
            <a:extLst xmlns:a="http://schemas.openxmlformats.org/drawingml/2006/main">
              <a:ext uri="{FF2B5EF4-FFF2-40B4-BE49-F238E27FC236}">
                <a16:creationId xmlns:a16="http://schemas.microsoft.com/office/drawing/2014/main" id="{97E4F268-B9B2-472C-80BE-E5FB9DE5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067AF7-01EF-4EAF-8ED7-E8512770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Representación del grafo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03F3CE40-E298-4CAB-A3A4-9B80525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85AB7C0-8BD8-4AC3-AD25-5B877081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02 / 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Símbolo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Contenido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 de diseño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Conjunto de nodos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Transacción, dirección, contrato o entidad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Conjunto de aristas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Flujo, llamada o relación tipificada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Características de nodos y aristas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Valor, actividad, tipo y atributos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Timestamps o snapshots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Instante de observación y disponibilidad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849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">
            <a:extLst xmlns:a="http://schemas.openxmlformats.org/drawingml/2006/main">
              <a:ext uri="{FF2B5EF4-FFF2-40B4-BE49-F238E27FC236}">
                <a16:creationId xmlns:a16="http://schemas.microsoft.com/office/drawing/2014/main" id="{D2589091-1D84-4DB4-B9F4-B317D812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8FE5A9-DCD4-428B-B2A5-872049F3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Construcción del grafo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982EF02A-A133-4529-998C-70220D58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60FE7AA-A7F9-43C4-8BC5-197E1C76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03 / 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Representación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Arista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Aplicación y límite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Transacción a transacción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 output anterior financia un input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Bitcoin y flujo UTXO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Dirección a dirección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Transferencia según una regla declarada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Asignación ambigua con múltiples inputs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Cuenta o contrato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Llamada o evento tipificado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Ethereum y heterogeneidad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Entidad agregada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Relación entre clusters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Depende de heurísticas de agrupación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109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">
            <a:extLst xmlns:a="http://schemas.openxmlformats.org/drawingml/2006/main">
              <a:ext uri="{FF2B5EF4-FFF2-40B4-BE49-F238E27FC236}">
                <a16:creationId xmlns:a16="http://schemas.microsoft.com/office/drawing/2014/main" id="{E9C7EE9C-6A9E-4B9F-B963-0A891902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6F215C-90DC-4031-9356-DB334C0E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Métricas clásicas de red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B4D86DC2-1B55-455E-8079-9C68E7B0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FE4EC9F-292B-40CF-8928-C6EFA998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04 / 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Métrica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resume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 interpretativo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Grado y strength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Conexiones y peso acumulado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Separar entrada y salida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PageRank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Relevancia según flujos y enlaces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Dirección y ponderación del grafo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Betweenness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Participación en caminos mínimos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Dependencia de la definición de distancia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Clustering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Cierre local de triángulos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Diferente de detección de comunidades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Comunidades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Partición según un criterio estructural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Sensibilidad a resolución y algoritmo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376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nit">
            <a:extLst xmlns:a="http://schemas.openxmlformats.org/drawingml/2006/main">
              <a:ext uri="{FF2B5EF4-FFF2-40B4-BE49-F238E27FC236}">
                <a16:creationId xmlns:a16="http://schemas.microsoft.com/office/drawing/2014/main" id="{275FFBD0-BD81-4A06-AEE2-F658A5C8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C483DE-79B6-4899-B52D-73DE094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Message passing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AAA1A86B-0E6A-433D-BF85-3637EA0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2C7AA74-CE19-40F8-86F9-8ABC7E2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05 / 20</a:t>
            </a:r>
          </a:p>
        </p:txBody>
      </p:sp>
      <p:sp>
        <p:nvSpPr>
          <p:cNvPr id="5" name="equation-0">
            <a:extLst xmlns:a="http://schemas.openxmlformats.org/drawingml/2006/main">
              <a:ext uri="{FF2B5EF4-FFF2-40B4-BE49-F238E27FC236}">
                <a16:creationId xmlns:a16="http://schemas.microsoft.com/office/drawing/2014/main" id="{CAA4EE8D-54D8-4992-9725-D8AEB9A8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mᵥ = AGGREGATE({hᵤ : u ∈ N(v)})</a:t>
            </a:r>
          </a:p>
        </p:txBody>
      </p:sp>
      <p:sp>
        <p:nvSpPr>
          <p:cNvPr id="6" name="equation-1">
            <a:extLst xmlns:a="http://schemas.openxmlformats.org/drawingml/2006/main">
              <a:ext uri="{FF2B5EF4-FFF2-40B4-BE49-F238E27FC236}">
                <a16:creationId xmlns:a16="http://schemas.microsoft.com/office/drawing/2014/main" id="{69845323-3F89-46BB-B84D-3627A7E4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hᵥ nuevo = UPDATE(hᵥ, mᵥ)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F5640AFC-CB1A-470D-B0C3-5453402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Vecindario N(v)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DE836275-5C83-4454-A805-5AD4A100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Debe especificar si incluye entradas, salidas, ambas o relaciones de un tipo.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E1D6129A-75FE-4A84-9ACE-A70F2EEB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Agregación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7BC65FB7-84B2-4C34-B39F-AF2EDA7C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Combina mensajes de forma compatible con el orden irrelevante de los vecinos.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D0DEF09F-F816-41F5-9B78-42CEA497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Aprendizaje</a:t>
            </a:r>
          </a:p>
        </p:txBody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D4423AD5-1E31-4EF6-9191-31D4637D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El modelo ajusta cómo representar atributos propios e información relacional.</a:t>
            </a:r>
          </a:p>
        </p:txBody>
      </p:sp>
    </p:spTree>
    <p:extLst>
      <p:ext uri="{BB962C8B-B14F-4D97-AF65-F5344CB8AC3E}">
        <p14:creationId xmlns:p14="http://schemas.microsoft.com/office/powerpoint/2010/main" val="140818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nit">
            <a:extLst xmlns:a="http://schemas.openxmlformats.org/drawingml/2006/main">
              <a:ext uri="{FF2B5EF4-FFF2-40B4-BE49-F238E27FC236}">
                <a16:creationId xmlns:a16="http://schemas.microsoft.com/office/drawing/2014/main" id="{14FB0D48-87A9-4225-82B0-01BD3C4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100F48-9FC4-481B-925A-8452D93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Ejemplo de agregación por media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B7049EE4-EBD2-43D8-8133-C1AF6BBF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068B7D7-7CC5-45FE-A749-B1F48BE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06 / 20</a:t>
            </a:r>
          </a:p>
        </p:txBody>
      </p:sp>
      <p:sp>
        <p:nvSpPr>
          <p:cNvPr id="5" name="equation-0">
            <a:extLst xmlns:a="http://schemas.openxmlformats.org/drawingml/2006/main">
              <a:ext uri="{FF2B5EF4-FFF2-40B4-BE49-F238E27FC236}">
                <a16:creationId xmlns:a16="http://schemas.microsoft.com/office/drawing/2014/main" id="{97D185E7-DC0A-4F7D-A671-247DE229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hᵥ = 2       vecinos = {1, 3}       media = 2</a:t>
            </a:r>
          </a:p>
        </p:txBody>
      </p:sp>
      <p:sp>
        <p:nvSpPr>
          <p:cNvPr id="6" name="equation-1">
            <a:extLst xmlns:a="http://schemas.openxmlformats.org/drawingml/2006/main">
              <a:ext uri="{FF2B5EF4-FFF2-40B4-BE49-F238E27FC236}">
                <a16:creationId xmlns:a16="http://schemas.microsoft.com/office/drawing/2014/main" id="{433F9220-147E-4143-8324-29F7F1C6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hᵥ nuevo = ReLU(0,5 × 2 + 0,25 × 2) = 1,5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A7C58BFF-1D99-4999-84B7-9DB3C479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295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Qué se combina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73CDEF1A-9EC6-4162-8D4B-3DE05284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95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Un atributo propio y un resumen del vecindario con pesos dados para el ejemplo.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780901B8-E3DE-4642-9D24-B139C5C5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295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Alcance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EFAE9A81-EC38-445F-A793-C1C5219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5295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Ejemplo escalar sintético de message passing. Los pesos reales se aprenden con una tarea.</a:t>
            </a:r>
          </a:p>
        </p:txBody>
      </p:sp>
    </p:spTree>
    <p:extLst>
      <p:ext uri="{BB962C8B-B14F-4D97-AF65-F5344CB8AC3E}">
        <p14:creationId xmlns:p14="http://schemas.microsoft.com/office/powerpoint/2010/main" val="204694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nit">
            <a:extLst xmlns:a="http://schemas.openxmlformats.org/drawingml/2006/main">
              <a:ext uri="{FF2B5EF4-FFF2-40B4-BE49-F238E27FC236}">
                <a16:creationId xmlns:a16="http://schemas.microsoft.com/office/drawing/2014/main" id="{E6E88C5A-4BC4-46DF-BC4B-A09137A4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88BEF0-7170-4807-BC26-E335204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GCN y normalización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9C7C1676-D45B-4550-99AE-9CA3EBF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CA32076-B760-4CF9-B06B-DED9FCBB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07 / 20</a:t>
            </a:r>
          </a:p>
        </p:txBody>
      </p:sp>
      <p:sp>
        <p:nvSpPr>
          <p:cNvPr id="5" name="equation-0">
            <a:extLst xmlns:a="http://schemas.openxmlformats.org/drawingml/2006/main">
              <a:ext uri="{FF2B5EF4-FFF2-40B4-BE49-F238E27FC236}">
                <a16:creationId xmlns:a16="http://schemas.microsoft.com/office/drawing/2014/main" id="{6B77C7D3-81BB-45E7-BACE-B565B9D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Ã = A + I</a:t>
            </a:r>
          </a:p>
        </p:txBody>
      </p:sp>
      <p:sp>
        <p:nvSpPr>
          <p:cNvPr id="6" name="equation-1">
            <a:extLst xmlns:a="http://schemas.openxmlformats.org/drawingml/2006/main">
              <a:ext uri="{FF2B5EF4-FFF2-40B4-BE49-F238E27FC236}">
                <a16:creationId xmlns:a16="http://schemas.microsoft.com/office/drawing/2014/main" id="{549FDDB5-7C38-4B8A-AB65-5DD5692A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 nuevo = φ(D̃^(-1/2) Ã D̃^(-1/2) H W)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AFB957BF-8D0B-47D9-A9E5-C3503DF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A y self-loops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3D8A464B-B201-49D1-8EA8-FA42CC3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es la adyacencia. I incorpora información del propio nodo. D̃ contiene los grados de Ã.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D872FD65-9C53-4038-BC24-E09E3183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Normalización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419D4DA3-8CB7-4F42-BC60-DF97E69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Equilibra contribuciones según el grado. H reúne representaciones y W es aprendible.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F5E8AC89-FD14-421C-8DAE-4566B66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Grafos dirigidos</a:t>
            </a:r>
          </a:p>
        </p:txBody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DE7F4179-8B69-4B0F-9AC8-E6C7E378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La formulación clásica requiere declarar la adaptación o simetrización elegida.</a:t>
            </a:r>
          </a:p>
        </p:txBody>
      </p:sp>
    </p:spTree>
    <p:extLst>
      <p:ext uri="{BB962C8B-B14F-4D97-AF65-F5344CB8AC3E}">
        <p14:creationId xmlns:p14="http://schemas.microsoft.com/office/powerpoint/2010/main" val="1742722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nit">
            <a:extLst xmlns:a="http://schemas.openxmlformats.org/drawingml/2006/main">
              <a:ext uri="{FF2B5EF4-FFF2-40B4-BE49-F238E27FC236}">
                <a16:creationId xmlns:a16="http://schemas.microsoft.com/office/drawing/2014/main" id="{DE3F0C37-4A1E-4BA2-B2FC-6B1A7F9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BC0C1E-C355-4CF4-847D-DA25D1B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GraphSAGE: muestreo y agregación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F4B58DD0-DCA4-41CB-ACDA-CAE791C2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2B039F7-3B47-4C57-95FC-1CAB96B9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08 / 20</a:t>
            </a:r>
          </a:p>
        </p:txBody>
      </p:sp>
      <p:sp>
        <p:nvSpPr>
          <p:cNvPr id="5" name="equation-0">
            <a:extLst xmlns:a="http://schemas.openxmlformats.org/drawingml/2006/main">
              <a:ext uri="{FF2B5EF4-FFF2-40B4-BE49-F238E27FC236}">
                <a16:creationId xmlns:a16="http://schemas.microsoft.com/office/drawing/2014/main" id="{7C76E667-D1F2-4470-9F90-CAF41FE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mᵥ = AGGREGATE({hᵤ : u ∈ muestra de N(v)})</a:t>
            </a:r>
          </a:p>
        </p:txBody>
      </p:sp>
      <p:sp>
        <p:nvSpPr>
          <p:cNvPr id="6" name="equation-1">
            <a:extLst xmlns:a="http://schemas.openxmlformats.org/drawingml/2006/main">
              <a:ext uri="{FF2B5EF4-FFF2-40B4-BE49-F238E27FC236}">
                <a16:creationId xmlns:a16="http://schemas.microsoft.com/office/drawing/2014/main" id="{E735AC05-B1D0-4204-B5CF-344EED9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hᵥ nuevo = φ(W [hᵥ || mᵥ])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50507AE6-7A35-4BAE-AC7C-0572993C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Concatenación ||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D2156F43-DF64-4936-B307-CACD139A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Combina atributos propios y representación agregada del vecindario.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F23561D5-EA61-49D4-B576-C3E388B2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Escalabilidad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7A93015A-6796-4951-8980-6174CCC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Muestrear limita el costo del vecindario utilizado por capa.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D822E01F-FF11-4153-ADCF-948640B9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Inducción</a:t>
            </a:r>
          </a:p>
        </p:txBody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D375C9EA-3088-4E88-B1E6-9352A169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La función aprendida puede aplicarse a nuevos nodos con atributos disponibles.</a:t>
            </a:r>
          </a:p>
        </p:txBody>
      </p:sp>
    </p:spTree>
    <p:extLst>
      <p:ext uri="{BB962C8B-B14F-4D97-AF65-F5344CB8AC3E}">
        <p14:creationId xmlns:p14="http://schemas.microsoft.com/office/powerpoint/2010/main" val="1142195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nit">
            <a:extLst xmlns:a="http://schemas.openxmlformats.org/drawingml/2006/main">
              <a:ext uri="{FF2B5EF4-FFF2-40B4-BE49-F238E27FC236}">
                <a16:creationId xmlns:a16="http://schemas.microsoft.com/office/drawing/2014/main" id="{8B07B0DA-A038-48C8-B3E2-461D59D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1CF582-1812-4EE6-A048-20709878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GAT: atención en el vecindario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5EDCB715-E6FA-409F-ABE7-601E97FE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3EEC2F3-7E44-4FAE-9AAB-8AFEA655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09 / 20</a:t>
            </a:r>
          </a:p>
        </p:txBody>
      </p:sp>
      <p:sp>
        <p:nvSpPr>
          <p:cNvPr id="5" name="equation-0">
            <a:extLst xmlns:a="http://schemas.openxmlformats.org/drawingml/2006/main">
              <a:ext uri="{FF2B5EF4-FFF2-40B4-BE49-F238E27FC236}">
                <a16:creationId xmlns:a16="http://schemas.microsoft.com/office/drawing/2014/main" id="{0C70D603-A2E2-4BA3-9C08-266273AA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αᵥᵤ = exp(eᵥᵤ) / Σₖ∈N(v) exp(eᵥₖ)</a:t>
            </a:r>
          </a:p>
        </p:txBody>
      </p:sp>
      <p:sp>
        <p:nvSpPr>
          <p:cNvPr id="6" name="equation-1">
            <a:extLst xmlns:a="http://schemas.openxmlformats.org/drawingml/2006/main">
              <a:ext uri="{FF2B5EF4-FFF2-40B4-BE49-F238E27FC236}">
                <a16:creationId xmlns:a16="http://schemas.microsoft.com/office/drawing/2014/main" id="{A0F741DA-D166-48BD-B59C-4021DD32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hᵥ nuevo = φ(Σᵤ∈N(v) αᵥᵤ W hᵤ)</a:t>
            </a:r>
          </a:p>
        </p:txBody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B33080BA-9A46-4D68-B19D-6711BAA2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Coeficientes normalizados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51F4A059-FD76-4BEF-BC5B-ABEAD9D5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En el vecindario definido, los pesos de una cabeza suman 1.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DC344A1E-2C43-40DC-89DA-FCC9CF0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Varias cabezas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8194CAA5-A01D-4A37-9D97-38A2E17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Combinan representaciones de atención según la capa y la implementación.</a:t>
            </a:r>
          </a:p>
        </p:txBody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6BDCC3E7-ED7B-44B8-9803-C9BC64B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086100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Interpretación</a:t>
            </a:r>
          </a:p>
        </p:txBody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69C638A8-94BA-4507-B296-16FC002E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790950"/>
            <a:ext cx="3403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Un peso alto describe una operación del modelo. Su lectura depende del contexto.</a:t>
            </a:r>
          </a:p>
        </p:txBody>
      </p:sp>
    </p:spTree>
    <p:extLst>
      <p:ext uri="{BB962C8B-B14F-4D97-AF65-F5344CB8AC3E}">
        <p14:creationId xmlns:p14="http://schemas.microsoft.com/office/powerpoint/2010/main" val="1096671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nit">
            <a:extLst xmlns:a="http://schemas.openxmlformats.org/drawingml/2006/main">
              <a:ext uri="{FF2B5EF4-FFF2-40B4-BE49-F238E27FC236}">
                <a16:creationId xmlns:a16="http://schemas.microsoft.com/office/drawing/2014/main" id="{7659607E-C42D-4116-82E1-FE75C036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F6A371-B197-471D-82D9-968A27ED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Ejemplo de atención ponderada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595CCF25-09ED-4D8E-830C-1A6C3D2D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B974261-92B8-474D-B058-75F540D7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10 / 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Vecino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Atributo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Peso ilustrativo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u₁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0,10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u₂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0,20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u₃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0,30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u₄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0,40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E5C3A3A-F315-437A-8F76-22588465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Mensaje ponderado = 0,10 × 1 + 0,20 × 2 + 0,30 × 3 + 0,40 × 4 = 3,0</a:t>
            </a:r>
          </a:p>
        </p:txBody>
      </p:sp>
    </p:spTree>
    <p:extLst>
      <p:ext uri="{BB962C8B-B14F-4D97-AF65-F5344CB8AC3E}">
        <p14:creationId xmlns:p14="http://schemas.microsoft.com/office/powerpoint/2010/main" val="1197962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">
            <a:extLst xmlns:a="http://schemas.openxmlformats.org/drawingml/2006/main">
              <a:ext uri="{FF2B5EF4-FFF2-40B4-BE49-F238E27FC236}">
                <a16:creationId xmlns:a16="http://schemas.microsoft.com/office/drawing/2014/main" id="{FF845739-8DDB-4508-B1AD-25515E7A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CE8282-2BE5-4FF7-A601-0012B2D1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GCN, GraphSAGE y GAT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C52AA4FD-1E5D-41FA-8071-CD401B7B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F25EDF6-3A11-4A68-BEAA-E093EE81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11 / 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Arquitectura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Mecanismo distintivo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Decisión experimental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GCN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Normalización de la adyacencia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Dirección, self-loops y profundidad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GraphSAGE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Muestreo y agregación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Fan-out y protocolo inductivo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GAT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Atención aprendida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Cabezas, vecindario y regularización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Comparación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Mismos datos y etiquetas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 tabular, costo y validación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937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">
            <a:extLst xmlns:a="http://schemas.openxmlformats.org/drawingml/2006/main">
              <a:ext uri="{FF2B5EF4-FFF2-40B4-BE49-F238E27FC236}">
                <a16:creationId xmlns:a16="http://schemas.microsoft.com/office/drawing/2014/main" id="{D7F00E8C-3DEE-4E68-A724-CB3598C9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98FB8A-111D-4E92-84DC-3328824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Bitcoin: el dataset Elliptic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95FEBB6A-1E9B-4836-877F-04201305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7BF7AFF-8B9E-443F-BED5-5F1BE63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12 / 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Componente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Cantidad o definición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Transacciones y flujos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203.769 nodos y 234.355 aristas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Grafo dirigido de transacciones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Características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166 por nodo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94 locales y 72 agregadas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Etiquetas conocidas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4.545 ilícitas y 42.019 lícitas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Entrenamiento y evaluación supervisada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etiqueta conocida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157.205 transacciones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Máscara fuera de la pérdida supervisada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Tiempo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49 pasos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Evaluación cronológica declarada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3040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nit">
            <a:extLst xmlns:a="http://schemas.openxmlformats.org/drawingml/2006/main">
              <a:ext uri="{FF2B5EF4-FFF2-40B4-BE49-F238E27FC236}">
                <a16:creationId xmlns:a16="http://schemas.microsoft.com/office/drawing/2014/main" id="{D5FAE51A-28A3-4AF8-950A-A3790428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EEF597-080C-42C5-8224-F63F92AE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Etiquetas y clase minoritaria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1987A7FD-8D02-45DD-804B-ABB7BE6D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6DF1601-0C12-410F-A6C6-F9F0416B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13 / 20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41758B7A-4FA6-422C-864A-D24069D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Máscaras supervisadas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1C81603A-A895-4D90-90DF-E442AB32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Entrenar y evaluar con etiquetas conocidas y particiones explícitas. Los nodos sin etiqueta pueden participar si el protocolo lo permite.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173B9977-588A-4446-AEF8-5B5A4360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Métricas relevantes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6304FC89-06BF-4B6B-8671-011387B8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Reportar precision, recall, F1 y PR-AUC de la clase ilícita, con umbral elegido en validación.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85FCA347-5BE3-4029-A571-7FF66D08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Referencia mínima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5EEB9D39-21A0-4D68-80A0-0225F9A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Predecir siempre la clase lícita da aproximadamente 90,2 % de accuracy en los nodos etiquetados.</a:t>
            </a:r>
          </a:p>
        </p:txBody>
      </p:sp>
    </p:spTree>
    <p:extLst>
      <p:ext uri="{BB962C8B-B14F-4D97-AF65-F5344CB8AC3E}">
        <p14:creationId xmlns:p14="http://schemas.microsoft.com/office/powerpoint/2010/main" val="13625730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">
            <a:extLst xmlns:a="http://schemas.openxmlformats.org/drawingml/2006/main">
              <a:ext uri="{FF2B5EF4-FFF2-40B4-BE49-F238E27FC236}">
                <a16:creationId xmlns:a16="http://schemas.microsoft.com/office/drawing/2014/main" id="{21BFCD3C-BE18-48E2-8D97-DE1823FE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A91970-14ED-498B-B79A-55A2BAC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Ethereum: relaciones heterogéneas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8DB5813F-6E59-4628-A9EC-6D268BEC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77DD466-B009-47FE-90F7-E98C2C2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14 / 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Objeto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Observación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EOA y contratos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Cuentas y código ejecutable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Identificador y tipo al instante analizado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 nativo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Transferencias de ETH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Diferenciar transacción y trazas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Tokens y protocolos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Eventos, swaps y operaciones DeFi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Contrato, token y decodificación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420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 y llamadas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Autorización o interacción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 aprobación no es un flujo transferido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4881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unit">
            <a:extLst xmlns:a="http://schemas.openxmlformats.org/drawingml/2006/main">
              <a:ext uri="{FF2B5EF4-FFF2-40B4-BE49-F238E27FC236}">
                <a16:creationId xmlns:a16="http://schemas.microsoft.com/office/drawing/2014/main" id="{ECBC0D53-2F7B-4A4B-AD79-A67E2E9B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B0A2CB-0075-4491-BF79-5300C2DA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Snapshots y evolución temporal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430A3210-A5A1-4BCE-BBA9-6FC8A06F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A966B83-D80B-4C63-8389-B425232D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15 / 20</a:t>
            </a:r>
          </a:p>
        </p:txBody>
      </p:sp>
      <p:sp>
        <p:nvSpPr>
          <p:cNvPr id="5" name="equation-0">
            <a:extLst xmlns:a="http://schemas.openxmlformats.org/drawingml/2006/main">
              <a:ext uri="{FF2B5EF4-FFF2-40B4-BE49-F238E27FC236}">
                <a16:creationId xmlns:a16="http://schemas.microsoft.com/office/drawing/2014/main" id="{0C543148-5376-44B0-81D1-9DA3CB64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G₁, G₂, ..., Gₜ       zₜ = READOUT(GNN(Gₜ))</a:t>
            </a:r>
          </a:p>
        </p:txBody>
      </p:sp>
      <p:sp>
        <p:nvSpPr>
          <p:cNvPr id="6" name="label-0">
            <a:extLst xmlns:a="http://schemas.openxmlformats.org/drawingml/2006/main">
              <a:ext uri="{FF2B5EF4-FFF2-40B4-BE49-F238E27FC236}">
                <a16:creationId xmlns:a16="http://schemas.microsoft.com/office/drawing/2014/main" id="{0F48D88A-3078-4A06-BFD5-ADFB655F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Corte temporal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0EA0DFF6-FBA3-4328-A64C-CF53D943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4036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Cada snapshot incluye nodos, enlaces y atributos disponibles en su período.</a:t>
            </a:r>
          </a:p>
        </p:txBody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DC9B155F-CE23-4264-9EFA-8EAC1FD7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58127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Resumen de la red</a:t>
            </a:r>
          </a:p>
        </p:txBody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AC902E46-2FD7-4C70-B3AF-F6AD749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286125"/>
            <a:ext cx="34036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Readout agrega representaciones de nodos para obtener un vector por snapshot.</a:t>
            </a:r>
          </a:p>
        </p:txBody>
      </p:sp>
      <p:sp>
        <p:nvSpPr>
          <p:cNvPr id="10" name="label-2">
            <a:extLst xmlns:a="http://schemas.openxmlformats.org/drawingml/2006/main">
              <a:ext uri="{FF2B5EF4-FFF2-40B4-BE49-F238E27FC236}">
                <a16:creationId xmlns:a16="http://schemas.microsoft.com/office/drawing/2014/main" id="{F3CA6B47-268A-4140-997A-F5BCC173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58127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Seguimiento</a:t>
            </a:r>
          </a:p>
        </p:txBody>
      </p:sp>
      <p:sp>
        <p:nvSpPr>
          <p:cNvPr id="11" name="body-2">
            <a:extLst xmlns:a="http://schemas.openxmlformats.org/drawingml/2006/main">
              <a:ext uri="{FF2B5EF4-FFF2-40B4-BE49-F238E27FC236}">
                <a16:creationId xmlns:a16="http://schemas.microsoft.com/office/drawing/2014/main" id="{EB5AFD45-FE7D-4D31-8F8B-A4719623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3286125"/>
            <a:ext cx="34036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Las métricas o embeddings se pueden comparar en el tiempo y utilizar en un modelo temporal.</a:t>
            </a:r>
          </a:p>
        </p:txBody>
      </p:sp>
    </p:spTree>
    <p:extLst>
      <p:ext uri="{BB962C8B-B14F-4D97-AF65-F5344CB8AC3E}">
        <p14:creationId xmlns:p14="http://schemas.microsoft.com/office/powerpoint/2010/main" val="1528299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nit">
            <a:extLst xmlns:a="http://schemas.openxmlformats.org/drawingml/2006/main">
              <a:ext uri="{FF2B5EF4-FFF2-40B4-BE49-F238E27FC236}">
                <a16:creationId xmlns:a16="http://schemas.microsoft.com/office/drawing/2014/main" id="{E120F707-C1A2-40C4-9BC8-8B99AB60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C57EB0-62AE-4CF1-911B-B3AEB15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Fuga temporal en grafos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33A1E922-A311-47EB-AD80-8AD7C49F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4C98059-55BD-496B-BE1D-D5CBAE0A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16 / 20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26D333C5-B934-49C6-8183-759F87DC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Estructura futura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ECD1E160-9D3D-4840-A522-991A959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Un enlace posterior al momento de decisión puede revelar actividad que aún no existía.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6E668CD3-04D0-42D0-A279-99DE8411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Atributos agregados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F619EC50-7BC1-4B46-913C-E304B27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Una centralidad calculada sobre el grafo completo o vecinos futuros puede contaminar entradas.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2C99A6F6-246E-4586-A57C-9567853A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Etiquetas y splits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122C1691-149A-40B8-A261-6099E0B2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Declarar qué nodos, atributos, enlaces y etiquetas conoce cada fold y cada etapa de inferencia.</a:t>
            </a:r>
          </a:p>
        </p:txBody>
      </p:sp>
    </p:spTree>
    <p:extLst>
      <p:ext uri="{BB962C8B-B14F-4D97-AF65-F5344CB8AC3E}">
        <p14:creationId xmlns:p14="http://schemas.microsoft.com/office/powerpoint/2010/main" val="11476594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nit">
            <a:extLst xmlns:a="http://schemas.openxmlformats.org/drawingml/2006/main">
              <a:ext uri="{FF2B5EF4-FFF2-40B4-BE49-F238E27FC236}">
                <a16:creationId xmlns:a16="http://schemas.microsoft.com/office/drawing/2014/main" id="{3A8F5C24-EECA-4CB6-AFA1-CC6B86A1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E70FEE-87B5-4585-AFBF-9D4A71DF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Tareas y protocolos de evaluación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618876F8-5FAA-4A8A-AE93-6CC0768D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F22E47B-B06F-460E-8EE5-21AD862A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17 / 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04661"/>
                <a:gridCol w="3578087"/>
                <a:gridCol w="4890052"/>
              </a:tblGrid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Tarea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Objetivo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</a:t>
                      </a:r>
                    </a:p>
                  </a:txBody>
                  <a:tcPr marL="114300" marR="114300" marT="76200" marB="76200" anchor="ctr">
                    <a:solidFill>
                      <a:srgbClr val="0B1020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Clasificación de nodos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Etiqueta de transacción o cuenta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Máscaras y desbalance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Predicción de enlaces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Interacción en un período futuro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Muestreo de negativos y corte temporal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Detección de anomalías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Rareza según una referencia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Umbral, revisión y tasa de alertas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Resumen de grafo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Vector o métrica por período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Readout causal y estabilidad</a:t>
                      </a:r>
                    </a:p>
                  </a:txBody>
                  <a:tcPr marL="114300" marR="114300" marT="76200" marB="76200" anchor="ctr">
                    <a:solidFill>
                      <a:srgbClr val="EEF2F7"/>
                    </a:solidFill>
                  </a:tcPr>
                </a:tc>
              </a:tr>
              <a:tr h="7016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Inductivo o transductivo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Nodos nuevos o grafo parcialmente conocido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Acceso a estructura declarado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2043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nit">
            <a:extLst xmlns:a="http://schemas.openxmlformats.org/drawingml/2006/main">
              <a:ext uri="{FF2B5EF4-FFF2-40B4-BE49-F238E27FC236}">
                <a16:creationId xmlns:a16="http://schemas.microsoft.com/office/drawing/2014/main" id="{397F2FF2-7FBD-4C5E-A6F2-74607D20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59E6CA-026B-4CBE-8B70-EE30829C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Profundidad, heterofilia y límites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DE46E643-9958-49C9-B86A-255A6ECF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D8F2B76-65D6-4753-AB35-BB706160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18 / 20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967BE390-273C-4A95-92A0-6DCCC2A6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Oversmoothing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AF3CFFFD-14F5-4496-B3A5-3F5486BD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Con muchas capas, representaciones de nodos pueden volverse demasiado similares.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DED01755-9926-498A-B7B7-B7B24429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Heterofilia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99D3A0B9-9EA9-48F2-B1DB-AAF173E8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Vecinos pueden pertenecer a clases distintas. La mezcla de información necesita evaluación.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F74802C9-9CE7-4A30-88AC-EB683CEB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Interpretación responsable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9A675D1E-9A20-4893-93F0-2CC478CF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Centralidad, atención y anomalía son señales del análisis. Las etiquetas y la identidad exigen evidencia.</a:t>
            </a:r>
          </a:p>
        </p:txBody>
      </p:sp>
    </p:spTree>
    <p:extLst>
      <p:ext uri="{BB962C8B-B14F-4D97-AF65-F5344CB8AC3E}">
        <p14:creationId xmlns:p14="http://schemas.microsoft.com/office/powerpoint/2010/main" val="19516436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nit">
            <a:extLst xmlns:a="http://schemas.openxmlformats.org/drawingml/2006/main">
              <a:ext uri="{FF2B5EF4-FFF2-40B4-BE49-F238E27FC236}">
                <a16:creationId xmlns:a16="http://schemas.microsoft.com/office/drawing/2014/main" id="{C0746E73-9EBD-4530-9D9E-53AA3683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AC76BB-9FFB-4AE4-A44F-BD5F1163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Actividad de GNN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07185AA5-7848-4695-9FF0-3569A6DE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E7895F7-1BF2-4435-B4DE-372C98A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19 / 20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7A867A81-F396-41F4-B56B-736F96EE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Construcción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EC815963-B591-4873-8FE4-357A1D95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Crear un grafo pequeño, documentar tipos de nodo, aristas, atributos y timestamps.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3FDDCB9E-C600-4DE8-BCC5-E670F8FE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Modelos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8846C9E8-6EBA-43EC-9F74-3CB8B668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Comparar métricas clásicas, un baseline tabular y una GNN con configuración declarada.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1E96AC41-3A4D-4F4E-9FDD-0432D0DC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52625"/>
            <a:ext cx="340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Evidencia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6B26FFDB-96DB-4142-85BC-21E27AD2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657475"/>
            <a:ext cx="34036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Entregar máscaras, corte temporal, métricas de la clase relevante y análisis de errores.</a:t>
            </a:r>
          </a:p>
        </p:txBody>
      </p:sp>
    </p:spTree>
    <p:extLst>
      <p:ext uri="{BB962C8B-B14F-4D97-AF65-F5344CB8AC3E}">
        <p14:creationId xmlns:p14="http://schemas.microsoft.com/office/powerpoint/2010/main" val="16747640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unit">
            <a:extLst xmlns:a="http://schemas.openxmlformats.org/drawingml/2006/main">
              <a:ext uri="{FF2B5EF4-FFF2-40B4-BE49-F238E27FC236}">
                <a16:creationId xmlns:a16="http://schemas.microsoft.com/office/drawing/2014/main" id="{12E23009-5AB4-4E4E-B63D-4270AE0C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47857"/>
                </a:solidFill>
                <a:latin typeface="DejaVu Sans"/>
                <a:ea typeface="DejaVu Sans"/>
                <a:cs typeface="DejaVu Sans"/>
              </a:rPr>
              <a:t>UNIDAD 8   GNN y blockchain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775EB7-6056-4CEA-AAC2-878EEC3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Bibliografía y documentación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D14168C0-862F-4E6C-9F38-E36BC22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Material elaborado por el profesor Sergio Gevatschnaider.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5DDC53C-AD78-48A5-A16D-EC42FF1B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20 / 20</a:t>
            </a:r>
          </a:p>
        </p:txBody>
      </p:sp>
      <p:sp>
        <p:nvSpPr>
          <p:cNvPr id="5" name="reference-0">
            <a:extLst xmlns:a="http://schemas.openxmlformats.org/drawingml/2006/main">
              <a:ext uri="{FF2B5EF4-FFF2-40B4-BE49-F238E27FC236}">
                <a16:creationId xmlns:a16="http://schemas.microsoft.com/office/drawing/2014/main" id="{01709A94-E166-4693-906F-E243FEDC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Kipf y Welling (2017). Semi-Supervised Classification with GCN</a:t>
            </a:r>
          </a:p>
        </p:txBody>
      </p:sp>
      <p:sp>
        <p:nvSpPr>
          <p:cNvPr id="6" name="reference-url-0">
            <a:extLst xmlns:a="http://schemas.openxmlformats.org/drawingml/2006/main">
              <a:ext uri="{FF2B5EF4-FFF2-40B4-BE49-F238E27FC236}">
                <a16:creationId xmlns:a16="http://schemas.microsoft.com/office/drawing/2014/main" id="{10D50195-DA65-4517-A9CF-DED4A7AB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6d36d6991b9416b"/>
              </a:rPr>
              <a:t>https://arxiv.org/abs/1609.02907</a:t>
            </a:r>
          </a:p>
        </p:txBody>
      </p:sp>
      <p:sp>
        <p:nvSpPr>
          <p:cNvPr id="7" name="reference-1">
            <a:extLst xmlns:a="http://schemas.openxmlformats.org/drawingml/2006/main">
              <a:ext uri="{FF2B5EF4-FFF2-40B4-BE49-F238E27FC236}">
                <a16:creationId xmlns:a16="http://schemas.microsoft.com/office/drawing/2014/main" id="{2BBC4AB7-0563-4825-8305-0EF2A37E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Hamilton, Ying y Leskovec (2017). Inductive Representation Learning</a:t>
            </a:r>
          </a:p>
        </p:txBody>
      </p:sp>
      <p:sp>
        <p:nvSpPr>
          <p:cNvPr id="8" name="reference-url-1">
            <a:extLst xmlns:a="http://schemas.openxmlformats.org/drawingml/2006/main">
              <a:ext uri="{FF2B5EF4-FFF2-40B4-BE49-F238E27FC236}">
                <a16:creationId xmlns:a16="http://schemas.microsoft.com/office/drawing/2014/main" id="{625EEE89-9D7C-4B17-9B4D-FB75EA2A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1b299c1f11f4563"/>
              </a:rPr>
              <a:t>https://arxiv.org/abs/1706.02216</a:t>
            </a:r>
          </a:p>
        </p:txBody>
      </p:sp>
      <p:sp>
        <p:nvSpPr>
          <p:cNvPr id="9" name="reference-2">
            <a:extLst xmlns:a="http://schemas.openxmlformats.org/drawingml/2006/main">
              <a:ext uri="{FF2B5EF4-FFF2-40B4-BE49-F238E27FC236}">
                <a16:creationId xmlns:a16="http://schemas.microsoft.com/office/drawing/2014/main" id="{2C623618-91C7-4914-B8DC-25DAAFFB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Veličković et al. (2018). Graph Attention Networks</a:t>
            </a:r>
          </a:p>
        </p:txBody>
      </p:sp>
      <p:sp>
        <p:nvSpPr>
          <p:cNvPr id="10" name="reference-url-2">
            <a:extLst xmlns:a="http://schemas.openxmlformats.org/drawingml/2006/main">
              <a:ext uri="{FF2B5EF4-FFF2-40B4-BE49-F238E27FC236}">
                <a16:creationId xmlns:a16="http://schemas.microsoft.com/office/drawing/2014/main" id="{99562D30-D136-46DA-9C95-90A04E1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736b1037c834017"/>
              </a:rPr>
              <a:t>https://arxiv.org/abs/1710.10903</a:t>
            </a:r>
          </a:p>
        </p:txBody>
      </p:sp>
      <p:sp>
        <p:nvSpPr>
          <p:cNvPr id="11" name="reference-3">
            <a:extLst xmlns:a="http://schemas.openxmlformats.org/drawingml/2006/main">
              <a:ext uri="{FF2B5EF4-FFF2-40B4-BE49-F238E27FC236}">
                <a16:creationId xmlns:a16="http://schemas.microsoft.com/office/drawing/2014/main" id="{AE670F0D-E344-4EED-870F-33E80DC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Weber et al. (2019). Anti-Money Laundering in Bitcoin</a:t>
            </a:r>
          </a:p>
        </p:txBody>
      </p:sp>
      <p:sp>
        <p:nvSpPr>
          <p:cNvPr id="12" name="reference-url-3">
            <a:extLst xmlns:a="http://schemas.openxmlformats.org/drawingml/2006/main">
              <a:ext uri="{FF2B5EF4-FFF2-40B4-BE49-F238E27FC236}">
                <a16:creationId xmlns:a16="http://schemas.microsoft.com/office/drawing/2014/main" id="{BE36954C-D785-48DD-B37B-174E978D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055e3434d964a11"/>
              </a:rPr>
              <a:t>https://arxiv.org/abs/1908.02591</a:t>
            </a:r>
          </a:p>
        </p:txBody>
      </p:sp>
      <p:sp>
        <p:nvSpPr>
          <p:cNvPr id="13" name="reference-4">
            <a:extLst xmlns:a="http://schemas.openxmlformats.org/drawingml/2006/main">
              <a:ext uri="{FF2B5EF4-FFF2-40B4-BE49-F238E27FC236}">
                <a16:creationId xmlns:a16="http://schemas.microsoft.com/office/drawing/2014/main" id="{F8A909B4-F12A-4B67-997B-08359546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Zheng, Zhou y Song (2025). Temporal-Aware Graph Attention Network</a:t>
            </a:r>
          </a:p>
        </p:txBody>
      </p:sp>
      <p:sp>
        <p:nvSpPr>
          <p:cNvPr id="14" name="reference-url-4">
            <a:extLst xmlns:a="http://schemas.openxmlformats.org/drawingml/2006/main">
              <a:ext uri="{FF2B5EF4-FFF2-40B4-BE49-F238E27FC236}">
                <a16:creationId xmlns:a16="http://schemas.microsoft.com/office/drawing/2014/main" id="{18E7BBAA-6045-48D2-BEDF-B717C054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047857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4cbdf3b93624860"/>
              </a:rPr>
              <a:t>https://arxiv.org/abs/2506.21382</a:t>
            </a:r>
          </a:p>
        </p:txBody>
      </p:sp>
    </p:spTree>
    <p:extLst>
      <p:ext uri="{BB962C8B-B14F-4D97-AF65-F5344CB8AC3E}">
        <p14:creationId xmlns:p14="http://schemas.microsoft.com/office/powerpoint/2010/main" val="9661771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2026-10-02T13:02:14.5250000Z</dcterms:created>
  <dcterms:modified xsi:type="dcterms:W3CDTF">2026-10-02T13:02:14.5250000Z</dcterms:modified>
</coreProperties>
</file>