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dbdb9481df04d2c" /><Relationship Type="http://schemas.openxmlformats.org/officeDocument/2006/relationships/extended-properties" Target="/docProps/app.xml" Id="R078d3aba5f22426a" /><Relationship Type="http://schemas.openxmlformats.org/officeDocument/2006/relationships/officeDocument" Target="/ppt/presentation.xml" Id="R19ca102e761c4ac0" /></Relationships>
</file>

<file path=ppt/presentation.xml><?xml version="1.0" encoding="utf-8"?>
<p:presentation xmlns:p="http://schemas.openxmlformats.org/presentationml/2006/main">
  <p:sldMasterIdLst>
    <p:sldMasterId xmlns:r="http://schemas.openxmlformats.org/officeDocument/2006/relationships" id="2147483648" r:id="Rd28b089a5f464a8f"/>
    <p:sldMasterId xmlns:r="http://schemas.openxmlformats.org/officeDocument/2006/relationships" id="2147483649" r:id="R96505a7c4e444cf4"/>
  </p:sldMasterIdLst>
  <p:notesMasterIdLst>
    <p:notesMasterId xmlns:r="http://schemas.openxmlformats.org/officeDocument/2006/relationships" r:id="R4c1351aac1474e58"/>
  </p:notesMasterIdLst>
  <p:sldIdLst>
    <p:sldId xmlns:r="http://schemas.openxmlformats.org/officeDocument/2006/relationships" id="256" r:id="R23938e78f74b4a94"/>
    <p:sldId xmlns:r="http://schemas.openxmlformats.org/officeDocument/2006/relationships" id="257" r:id="R0bf87203c09b446a"/>
    <p:sldId xmlns:r="http://schemas.openxmlformats.org/officeDocument/2006/relationships" id="258" r:id="Re7de9d423d09432d"/>
    <p:sldId xmlns:r="http://schemas.openxmlformats.org/officeDocument/2006/relationships" id="259" r:id="Rdacac9847f904ac8"/>
    <p:sldId xmlns:r="http://schemas.openxmlformats.org/officeDocument/2006/relationships" id="260" r:id="R3bffc39319104b49"/>
    <p:sldId xmlns:r="http://schemas.openxmlformats.org/officeDocument/2006/relationships" id="261" r:id="R467a8917cc5d47ee"/>
    <p:sldId xmlns:r="http://schemas.openxmlformats.org/officeDocument/2006/relationships" id="262" r:id="Rece37612263d4559"/>
    <p:sldId xmlns:r="http://schemas.openxmlformats.org/officeDocument/2006/relationships" id="263" r:id="R1db39c2b566c4cf1"/>
    <p:sldId xmlns:r="http://schemas.openxmlformats.org/officeDocument/2006/relationships" id="264" r:id="R0964a0e0732b4ee1"/>
    <p:sldId xmlns:r="http://schemas.openxmlformats.org/officeDocument/2006/relationships" id="265" r:id="R3ec3493304ad4d01"/>
    <p:sldId xmlns:r="http://schemas.openxmlformats.org/officeDocument/2006/relationships" id="266" r:id="Rae396c4560ff4d15"/>
    <p:sldId xmlns:r="http://schemas.openxmlformats.org/officeDocument/2006/relationships" id="267" r:id="R7ae9a380629d434c"/>
    <p:sldId xmlns:r="http://schemas.openxmlformats.org/officeDocument/2006/relationships" id="268" r:id="R8552da1943df4d8f"/>
    <p:sldId xmlns:r="http://schemas.openxmlformats.org/officeDocument/2006/relationships" id="269" r:id="R1e14b5680d154dc0"/>
    <p:sldId xmlns:r="http://schemas.openxmlformats.org/officeDocument/2006/relationships" id="270" r:id="R6c952e47f5a84f58"/>
    <p:sldId xmlns:r="http://schemas.openxmlformats.org/officeDocument/2006/relationships" id="271" r:id="R21b8e4fe1a524f13"/>
    <p:sldId xmlns:r="http://schemas.openxmlformats.org/officeDocument/2006/relationships" id="272" r:id="Rac4fe157b7c0458c"/>
    <p:sldId xmlns:r="http://schemas.openxmlformats.org/officeDocument/2006/relationships" id="273" r:id="R4a3edff064504503"/>
    <p:sldId xmlns:r="http://schemas.openxmlformats.org/officeDocument/2006/relationships" id="274" r:id="R7467f957dd2048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0a279f5283b4361" /><Relationship Type="http://schemas.openxmlformats.org/officeDocument/2006/relationships/slideMaster" Target="/ppt/slideMasters/slideMaster1.xml" Id="Rd28b089a5f464a8f" /><Relationship Type="http://schemas.openxmlformats.org/officeDocument/2006/relationships/slideMaster" Target="/ppt/slideMasters/slideMaster2.xml" Id="R96505a7c4e444cf4" /><Relationship Type="http://schemas.openxmlformats.org/officeDocument/2006/relationships/notesMaster" Target="/ppt/notesMasters/notesMaster1.xml" Id="R4c1351aac1474e58" /><Relationship Type="http://schemas.openxmlformats.org/officeDocument/2006/relationships/presProps" Target="/ppt/presProps.xml" Id="Rbe353955244c4af7" /><Relationship Type="http://schemas.openxmlformats.org/officeDocument/2006/relationships/tableStyles" Target="/ppt/tableStyles.xml" Id="Re058bfbe1ddd4843" /><Relationship Type="http://schemas.openxmlformats.org/officeDocument/2006/relationships/slide" Target="/ppt/slides/slide1.xml" Id="R23938e78f74b4a94" /><Relationship Type="http://schemas.openxmlformats.org/officeDocument/2006/relationships/slide" Target="/ppt/slides/slide2.xml" Id="R0bf87203c09b446a" /><Relationship Type="http://schemas.openxmlformats.org/officeDocument/2006/relationships/slide" Target="/ppt/slides/slide3.xml" Id="Re7de9d423d09432d" /><Relationship Type="http://schemas.openxmlformats.org/officeDocument/2006/relationships/slide" Target="/ppt/slides/slide4.xml" Id="Rdacac9847f904ac8" /><Relationship Type="http://schemas.openxmlformats.org/officeDocument/2006/relationships/slide" Target="/ppt/slides/slide5.xml" Id="R3bffc39319104b49" /><Relationship Type="http://schemas.openxmlformats.org/officeDocument/2006/relationships/slide" Target="/ppt/slides/slide6.xml" Id="R467a8917cc5d47ee" /><Relationship Type="http://schemas.openxmlformats.org/officeDocument/2006/relationships/slide" Target="/ppt/slides/slide7.xml" Id="Rece37612263d4559" /><Relationship Type="http://schemas.openxmlformats.org/officeDocument/2006/relationships/slide" Target="/ppt/slides/slide8.xml" Id="R1db39c2b566c4cf1" /><Relationship Type="http://schemas.openxmlformats.org/officeDocument/2006/relationships/slide" Target="/ppt/slides/slide9.xml" Id="R0964a0e0732b4ee1" /><Relationship Type="http://schemas.openxmlformats.org/officeDocument/2006/relationships/slide" Target="/ppt/slides/slide10.xml" Id="R3ec3493304ad4d01" /><Relationship Type="http://schemas.openxmlformats.org/officeDocument/2006/relationships/slide" Target="/ppt/slides/slide11.xml" Id="Rae396c4560ff4d15" /><Relationship Type="http://schemas.openxmlformats.org/officeDocument/2006/relationships/slide" Target="/ppt/slides/slide12.xml" Id="R7ae9a380629d434c" /><Relationship Type="http://schemas.openxmlformats.org/officeDocument/2006/relationships/slide" Target="/ppt/slides/slide13.xml" Id="R8552da1943df4d8f" /><Relationship Type="http://schemas.openxmlformats.org/officeDocument/2006/relationships/slide" Target="/ppt/slides/slide14.xml" Id="R1e14b5680d154dc0" /><Relationship Type="http://schemas.openxmlformats.org/officeDocument/2006/relationships/slide" Target="/ppt/slides/slide15.xml" Id="R6c952e47f5a84f58" /><Relationship Type="http://schemas.openxmlformats.org/officeDocument/2006/relationships/slide" Target="/ppt/slides/slide16.xml" Id="R21b8e4fe1a524f13" /><Relationship Type="http://schemas.openxmlformats.org/officeDocument/2006/relationships/slide" Target="/ppt/slides/slide17.xml" Id="Rac4fe157b7c0458c" /><Relationship Type="http://schemas.openxmlformats.org/officeDocument/2006/relationships/slide" Target="/ppt/slides/slide18.xml" Id="R4a3edff064504503" /><Relationship Type="http://schemas.openxmlformats.org/officeDocument/2006/relationships/slide" Target="/ppt/slides/slide19.xml" Id="R7467f957dd2048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789e6b80e54140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eb46e3ccc74d2c" /><Relationship Type="http://schemas.openxmlformats.org/officeDocument/2006/relationships/notesMaster" Target="/ppt/notesMasters/notesMaster1.xml" Id="R6b9289ff027f41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345de1caa047cf" /><Relationship Type="http://schemas.openxmlformats.org/officeDocument/2006/relationships/notesMaster" Target="/ppt/notesMasters/notesMaster1.xml" Id="R2199eaa6371f47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4c8fbd50864324" /><Relationship Type="http://schemas.openxmlformats.org/officeDocument/2006/relationships/notesMaster" Target="/ppt/notesMasters/notesMaster1.xml" Id="R8c825e222e0948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bfd4b1ebf94338" /><Relationship Type="http://schemas.openxmlformats.org/officeDocument/2006/relationships/notesMaster" Target="/ppt/notesMasters/notesMaster1.xml" Id="Rc451e87c592548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1b9b5830744f9c" /><Relationship Type="http://schemas.openxmlformats.org/officeDocument/2006/relationships/notesMaster" Target="/ppt/notesMasters/notesMaster1.xml" Id="R18c7790040a945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65c86aac034081" /><Relationship Type="http://schemas.openxmlformats.org/officeDocument/2006/relationships/notesMaster" Target="/ppt/notesMasters/notesMaster1.xml" Id="R6a5c462cfe0544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97d0c3d7124b31" /><Relationship Type="http://schemas.openxmlformats.org/officeDocument/2006/relationships/notesMaster" Target="/ppt/notesMasters/notesMaster1.xml" Id="Rf4ebfbc02e544a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2a3df033754ff9" /><Relationship Type="http://schemas.openxmlformats.org/officeDocument/2006/relationships/notesMaster" Target="/ppt/notesMasters/notesMaster1.xml" Id="R6519007705c741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2b0c1323f34823" /><Relationship Type="http://schemas.openxmlformats.org/officeDocument/2006/relationships/notesMaster" Target="/ppt/notesMasters/notesMaster1.xml" Id="Raa254506a6404f0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811f5784d146af" /><Relationship Type="http://schemas.openxmlformats.org/officeDocument/2006/relationships/notesMaster" Target="/ppt/notesMasters/notesMaster1.xml" Id="R950ddfea4fe344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b62a73289c41a0" /><Relationship Type="http://schemas.openxmlformats.org/officeDocument/2006/relationships/notesMaster" Target="/ppt/notesMasters/notesMaster1.xml" Id="Re8b9d586132343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0892d3d5ea416d" /><Relationship Type="http://schemas.openxmlformats.org/officeDocument/2006/relationships/notesMaster" Target="/ppt/notesMasters/notesMaster1.xml" Id="R632d6bd532414f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6d46363acc41f0" /><Relationship Type="http://schemas.openxmlformats.org/officeDocument/2006/relationships/notesMaster" Target="/ppt/notesMasters/notesMaster1.xml" Id="R2d867dedc55546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a9035e85864e1d" /><Relationship Type="http://schemas.openxmlformats.org/officeDocument/2006/relationships/notesMaster" Target="/ppt/notesMasters/notesMaster1.xml" Id="Rc5108c20248d48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d90dad7cf34873" /><Relationship Type="http://schemas.openxmlformats.org/officeDocument/2006/relationships/notesMaster" Target="/ppt/notesMasters/notesMaster1.xml" Id="Rbb5c577efd2549b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06951deda14bed" /><Relationship Type="http://schemas.openxmlformats.org/officeDocument/2006/relationships/notesMaster" Target="/ppt/notesMasters/notesMaster1.xml" Id="Rd6fb8c56e0c943b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081066d26f84ab1" /><Relationship Type="http://schemas.openxmlformats.org/officeDocument/2006/relationships/notesMaster" Target="/ppt/notesMasters/notesMaster1.xml" Id="R0fad1bb0b85c4f8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6f5d3d30254414" /><Relationship Type="http://schemas.openxmlformats.org/officeDocument/2006/relationships/notesMaster" Target="/ppt/notesMasters/notesMaster1.xml" Id="R4461884fbd2545c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86051ca9dc443ca" /><Relationship Type="http://schemas.openxmlformats.org/officeDocument/2006/relationships/notesMaster" Target="/ppt/notesMasters/notesMaster1.xml" Id="R5a49883ff4c345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Con batch_first=True, PyTorch utiliza el orden batch, secuencia, características. Es una convención de implementación, no una propiedad matemática de LSTM. Si H representa un retorno acumulado, la etiqueta incluye todos los retornos del intervalo. Si representa un valor puntual, se toma el objetivo del instante t+H. El origen de la decisión debe quedar explicitado.</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PyTorch. LSTM: ecuaciones, estados y dimensiones</a:t>
            </a:r>
            <a:endParaRPr sz="1800" b="0" u="none" strike="noStrike">
              <a:solidFill>
                <a:srgbClr val="000000"/>
              </a:solidFill>
              <a:latin typeface="Arial"/>
              <a:ea typeface="Arial"/>
              <a:cs typeface="Arial"/>
            </a:endParaRPr>
          </a:p>
          <a:p xmlns:a="http://schemas.openxmlformats.org/drawingml/2006/main">
            <a:pPr indent="0">
              <a:buNone/>
            </a:pPr>
            <a:r>
              <a:t>https://docs.pytorch.org/docs/stable/generated/torch.nn.LSTM.html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ventana tiene L=3 y F=3. Se almacenan 9 valores de entrada y un objetivo. Al mover el origen un paso se obtiene otro ejemplo. Se puede usar historia anterior al corte para crear la primera ventana del test. Las características on-chain deben estar realmente publicadas al instante t.</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Corrección conceptual del material de partida: una MLP puede capturar relaciones entre retardos. La recurrencia aporta un sesgo inductivo diferente y reutiliza una transformación a través del tiempo. La afirmación de que una red feed-forward no puede usar secuencias sería demasiado fuerte. Se compara con mismas ventanas, variables y protocolos.</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El estado oculto es un vector aprendido. No se interpreta como una memoria literal ni como una variable económica específica. El problema de gradientes depende de las derivadas y de la dinámica de la red. LSTM fue diseñada para facilitar el aprendizaje de dependencias largas, sin garantizar recuperación de cualquier patrón.</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Hochreiter y Schmidhuber (1997). Long Short-Term Memory</a:t>
            </a:r>
            <a:endParaRPr sz="1800" b="0" u="none" strike="noStrike">
              <a:solidFill>
                <a:srgbClr val="000000"/>
              </a:solidFill>
              <a:latin typeface="Arial"/>
              <a:ea typeface="Arial"/>
              <a:cs typeface="Arial"/>
            </a:endParaRPr>
          </a:p>
          <a:p xmlns:a="http://schemas.openxmlformats.org/drawingml/2006/main">
            <a:pPr indent="0">
              <a:buNone/>
            </a:pPr>
            <a:r>
              <a:t>https://www.bioinf.jku.at/publications/older/2604.pdf</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notación concatena el estado oculto previo y la entrada. PyTorch separa las matrices de entrada y de recurrencia, pero la combinación afín es equivalente. g es el candidato, no una cuarta compuerta sigmoide. Las operaciones se aplican por componente del vector.</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PyTorch. LSTM: ecuaciones, estados y dimensiones</a:t>
            </a:r>
            <a:endParaRPr sz="1800" b="0" u="none" strike="noStrike">
              <a:solidFill>
                <a:srgbClr val="000000"/>
              </a:solidFill>
              <a:latin typeface="Arial"/>
              <a:ea typeface="Arial"/>
              <a:cs typeface="Arial"/>
            </a:endParaRPr>
          </a:p>
          <a:p xmlns:a="http://schemas.openxmlformats.org/drawingml/2006/main">
            <a:pPr indent="0">
              <a:buNone/>
            </a:pPr>
            <a:r>
              <a:t>https://docs.pytorch.org/docs/stable/generated/torch.nn.LSTM.html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celda mantiene dos estados, c y h. El estado de celda tiene una trayectoria aditiva modulada por las compuertas. La red aprende el comportamiento de cada componente. Los coeficientes no representan automáticamente importancia causal de variables económicas.</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PyTorch. LSTM: ecuaciones, estados y dimensiones</a:t>
            </a:r>
            <a:endParaRPr sz="1800" b="0" u="none" strike="noStrike">
              <a:solidFill>
                <a:srgbClr val="000000"/>
              </a:solidFill>
              <a:latin typeface="Arial"/>
              <a:ea typeface="Arial"/>
              <a:cs typeface="Arial"/>
            </a:endParaRPr>
          </a:p>
          <a:p xmlns:a="http://schemas.openxmlformats.org/drawingml/2006/main">
            <a:pPr indent="0">
              <a:buNone/>
            </a:pPr>
            <a:r>
              <a:t>https://docs.pytorch.org/docs/stable/generated/torch.nn.LSTM.html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Se proporcionan compuertas como datos del ejemplo para estudiar la actualización. No se simula un modelo entrenado en mercados. c puede tener valores distintos del rango de tanh. h queda limitado por la salida y por tanh. El resultado redondeado es aproximadamente 0,25385.</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Distintas implementaciones y textos utilizan convenciones diferentes para el candidato y para el peso z. Se debe cotejar la ecuación con la librería usada. Con esta convención, z próximo a 1 conserva el estado anterior. Con igual entrada y hidden size, una GRU estándar tiene menos parámetros recurrentes que una LSTM estándar.</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PyTorch. GRU: convención de actualización y candidato</a:t>
            </a:r>
            <a:endParaRPr sz="1800" b="0" u="none" strike="noStrike">
              <a:solidFill>
                <a:srgbClr val="000000"/>
              </a:solidFill>
              <a:latin typeface="Arial"/>
              <a:ea typeface="Arial"/>
              <a:cs typeface="Arial"/>
            </a:endParaRPr>
          </a:p>
          <a:p xmlns:a="http://schemas.openxmlformats.org/drawingml/2006/main">
            <a:pPr indent="0">
              <a:buNone/>
            </a:pPr>
            <a:r>
              <a:t>https://docs.pytorch.org/docs/stable/generated/torch.nn.GRU.html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Cho et al. (2014). Learning Phrase Representations using RNN Encoder-Decoder</a:t>
            </a:r>
            <a:endParaRPr sz="1800" b="0" u="none" strike="noStrike">
              <a:solidFill>
                <a:srgbClr val="000000"/>
              </a:solidFill>
              <a:latin typeface="Arial"/>
              <a:ea typeface="Arial"/>
              <a:cs typeface="Arial"/>
            </a:endParaRPr>
          </a:p>
          <a:p xmlns:a="http://schemas.openxmlformats.org/drawingml/2006/main">
            <a:pPr indent="0">
              <a:buNone/>
            </a:pPr>
            <a:r>
              <a:t>https://arxiv.org/abs/1406.1078</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tabla no fija un ganador. Los costos dependen de dimensión, capas, longitud y mecanismo de atención. Una arquitectura bidireccional sobre una ventana completamente histórica puede ser válida para pronosticar después de su final. La fuga aparece si se incluyen pasos posteriores al instante de decisión. Transformer necesita una definición explícita del acceso al contexto.</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Vaswani et al. (2017). Attention Is All You Need</a:t>
            </a:r>
            <a:endParaRPr sz="1800" b="0" u="none" strike="noStrike">
              <a:solidFill>
                <a:srgbClr val="000000"/>
              </a:solidFill>
              <a:latin typeface="Arial"/>
              <a:ea typeface="Arial"/>
              <a:cs typeface="Arial"/>
            </a:endParaRPr>
          </a:p>
          <a:p xmlns:a="http://schemas.openxmlformats.org/drawingml/2006/main">
            <a:pPr indent="0">
              <a:buNone/>
            </a:pPr>
            <a:r>
              <a:t>https://arxiv.org/abs/1706.03762</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Un modelo univariado puede constituir una investigación válida si responde una pregunta precisa. Agregar variables no garantiza mejorar. Los indicadores técnicos son transformaciones de precios y volumen, por lo que se debe estudiar redundancia. Las variables macro y sentimiento se incorporan sólo con fuentes, timestamp de publicación y cobertura definidos.</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La definición del objetivo condiciona pérdidas, métricas y maduración de etiquetas. Una clasificación de régimen retrospectiva puede usar datos futuros para describir un período. Ese régimen no se puede usar como entrada contemporánea en una simulación prospectiva sin un método causal que lo estime.</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t>Si la transformación opera por característica, se calculan sus estadísticas a partir de pasos que pertenecen al período de entrenamiento. Debe documentarse cómo se tratan ventanas superpuestas. La salida escalada se invierte antes de reportar métricas en unidades originales. Los valores fuera del rango del train son posibles y no deben reescalarse usando el test.</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Fuentes y documentación:</a:t>
            </a:r>
            <a:endParaRPr sz="1800" b="0" u="none" strike="noStrike">
              <a:solidFill>
                <a:srgbClr val="000000"/>
              </a:solidFill>
              <a:latin typeface="Arial"/>
              <a:ea typeface="Arial"/>
              <a:cs typeface="Arial"/>
            </a:endParaRPr>
          </a:p>
          <a:p xmlns:a="http://schemas.openxmlformats.org/drawingml/2006/main">
            <a:pPr indent="0">
              <a:buNone/>
            </a:pPr>
            <a:r>
              <a:t>scikit-learn. Common pitfalls and recommended practices</a:t>
            </a:r>
            <a:endParaRPr sz="1800" b="0" u="none" strike="noStrike">
              <a:solidFill>
                <a:srgbClr val="000000"/>
              </a:solidFill>
              <a:latin typeface="Arial"/>
              <a:ea typeface="Arial"/>
              <a:cs typeface="Arial"/>
            </a:endParaRPr>
          </a:p>
          <a:p xmlns:a="http://schemas.openxmlformats.org/drawingml/2006/main">
            <a:pPr indent="0">
              <a:buNone/>
            </a:pPr>
            <a:r>
              <a:t>https://scikit-learn.org/stable/common_pitfalls.html</a:t>
            </a:r>
            <a:endParaRPr sz="1800" b="0" u="none" strike="noStrike">
              <a:solidFill>
                <a:srgbClr val="000000"/>
              </a:solidFill>
              <a:latin typeface="Arial"/>
              <a:ea typeface="Arial"/>
              <a:cs typeface="Arial"/>
            </a:endParaRPr>
          </a:p>
          <a:p xmlns:a="http://schemas.openxmlformats.org/drawingml/2006/main">
            <a:pPr indent="0">
              <a:buNone/>
            </a:pPr>
            <a:r>
              <a:t/>
            </a:r>
            <a:endParaRPr sz="1800" b="0" u="none" strike="noStrike">
              <a:solidFill>
                <a:srgbClr val="000000"/>
              </a:solidFill>
              <a:latin typeface="Arial"/>
              <a:ea typeface="Arial"/>
              <a:cs typeface="Arial"/>
            </a:endParaRPr>
          </a:p>
          <a:p xmlns:a="http://schemas.openxmlformats.org/drawingml/2006/main">
            <a:pPr indent="0">
              <a:buNone/>
            </a:pPr>
            <a:r>
              <a:t>Autoría: Material elaborado por el profesor Sergio Gevatschnaider.</a:t>
            </a:r>
            <a:endParaRPr sz="1800" b="0" u="none" strike="noStrik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pseudocódigo omite los detalles de dimensiones y de la API concreta. Cada modelo se inicializa en el fold, salvo que se defina un protocolo explícito de actualización. La validación está antes del test. Early stopping usa validación. El conjunto de entrenamiento sólo contiene etiquetas observadas al corte. La selección de hiperparámetros no mira el test del fold.</a:t>
            </a:r>
          </a:p>
          <a:p xmlns:a="http://schemas.openxmlformats.org/drawingml/2006/main">
            <a:r>
              <a:t/>
            </a:r>
          </a:p>
          <a:p xmlns:a="http://schemas.openxmlformats.org/drawingml/2006/main">
            <a:r>
              <a:t>Fuentes y documentación:</a:t>
            </a:r>
          </a:p>
          <a:p xmlns:a="http://schemas.openxmlformats.org/drawingml/2006/main">
            <a:r>
              <a:t>scikit-learn. TimeSeriesSplit</a:t>
            </a:r>
          </a:p>
          <a:p xmlns:a="http://schemas.openxmlformats.org/drawingml/2006/main">
            <a:r>
              <a:t>https://scikit-learn.org/stable/modules/generated/sklearn.model_selection.TimeSeriesSplit.html</a:t>
            </a:r>
          </a:p>
          <a:p xmlns:a="http://schemas.openxmlformats.org/drawingml/2006/main">
            <a:r>
              <a:t/>
            </a:r>
          </a:p>
          <a:p xmlns:a="http://schemas.openxmlformats.org/drawingml/2006/main">
            <a:r>
              <a:t>scikit-learn. Common pitfalls and recommended practices</a:t>
            </a:r>
          </a:p>
          <a:p xmlns:a="http://schemas.openxmlformats.org/drawingml/2006/main">
            <a:r>
              <a:t>https://scikit-learn.org/stable/common_pitfalls.html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presupuesto de selección también forma parte de la comparación. Probar miles de configuraciones de una red frente a un único baseline aumenta el riesgo de selección. Se registra tiempo de entrenamiento, parámetros y variación. Los cambios de régimen pueden modificar el desempeño incluso con un entrenamiento estable.</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gráfico de precios puede parecer preciso por la persistencia del nivel. La capacidad predictiva se verifica contra el naive y con métricas del objetivo real. SHAP y pesos de atención describen aspectos del modelo sin establecer causalidad. Un buen resultado en un período no basta para generalizar a otro activo o régimen.</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actividad conserva la secuencia original: dataset, ventanas, baseline, LSTM, GRU, walk-forward, comparación y errores. El alumno explica cómo se obtuvieron los resultados y puede sostener una conclusión de ausencia de mejora. Los datos de ejemplo deben marcarse como sintéticos o identificarse con su fuente real.</a:t>
            </a:r>
          </a:p>
          <a:p xmlns:a="http://schemas.openxmlformats.org/drawingml/2006/main">
            <a:r>
              <a:t/>
            </a:r>
          </a:p>
          <a:p xmlns:a="http://schemas.openxmlformats.org/drawingml/2006/main">
            <a:r>
              <a:t>Autoría: 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Lecturas para ampliar y contrastar el método. Los resultados de los artículos pertenecen al experimento de sus autores.</a:t>
            </a:r>
          </a:p>
          <a:p xmlns:a="http://schemas.openxmlformats.org/drawingml/2006/main">
            <a:r>
              <a:t/>
            </a:r>
          </a:p>
          <a:p xmlns:a="http://schemas.openxmlformats.org/drawingml/2006/main">
            <a:r>
              <a:t>Hochreiter y Schmidhuber (1997). Long Short-Term Memory</a:t>
            </a:r>
          </a:p>
          <a:p xmlns:a="http://schemas.openxmlformats.org/drawingml/2006/main">
            <a:r>
              <a:t>https://www.bioinf.jku.at/publications/older/2604.pdf</a:t>
            </a:r>
          </a:p>
          <a:p xmlns:a="http://schemas.openxmlformats.org/drawingml/2006/main">
            <a:r>
              <a:t/>
            </a:r>
          </a:p>
          <a:p xmlns:a="http://schemas.openxmlformats.org/drawingml/2006/main">
            <a:r>
              <a:t>PyTorch. LSTM: ecuaciones, estados y dimensiones</a:t>
            </a:r>
          </a:p>
          <a:p xmlns:a="http://schemas.openxmlformats.org/drawingml/2006/main">
            <a:r>
              <a:t>https://docs.pytorch.org/docs/stable/generated/torch.nn.LSTM.html</a:t>
            </a:r>
          </a:p>
          <a:p xmlns:a="http://schemas.openxmlformats.org/drawingml/2006/main">
            <a:r>
              <a:t/>
            </a:r>
          </a:p>
          <a:p xmlns:a="http://schemas.openxmlformats.org/drawingml/2006/main">
            <a:r>
              <a:t>Cho et al. (2014). Learning Phrase Representations using RNN Encoder-Decoder</a:t>
            </a:r>
          </a:p>
          <a:p xmlns:a="http://schemas.openxmlformats.org/drawingml/2006/main">
            <a:r>
              <a:t>https://arxiv.org/abs/1406.1078</a:t>
            </a:r>
          </a:p>
          <a:p xmlns:a="http://schemas.openxmlformats.org/drawingml/2006/main">
            <a:r>
              <a:t/>
            </a:r>
          </a:p>
          <a:p xmlns:a="http://schemas.openxmlformats.org/drawingml/2006/main">
            <a:r>
              <a:t>PyTorch. GRU: convención de actualización y candidato</a:t>
            </a:r>
          </a:p>
          <a:p xmlns:a="http://schemas.openxmlformats.org/drawingml/2006/main">
            <a:r>
              <a:t>https://docs.pytorch.org/docs/stable/generated/torch.nn.GRU.html</a:t>
            </a:r>
          </a:p>
          <a:p xmlns:a="http://schemas.openxmlformats.org/drawingml/2006/main">
            <a:r>
              <a:t/>
            </a:r>
          </a:p>
          <a:p xmlns:a="http://schemas.openxmlformats.org/drawingml/2006/main">
            <a:r>
              <a:t>Vaswani et al. (2017). Attention Is All You Need</a:t>
            </a:r>
          </a:p>
          <a:p xmlns:a="http://schemas.openxmlformats.org/drawingml/2006/main">
            <a:r>
              <a:t>https://arxiv.org/abs/1706.03762</a:t>
            </a:r>
          </a:p>
          <a:p xmlns:a="http://schemas.openxmlformats.org/drawingml/2006/main">
            <a:r>
              <a:t/>
            </a:r>
          </a:p>
          <a:p xmlns:a="http://schemas.openxmlformats.org/drawingml/2006/main">
            <a:r>
              <a:t>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lecturas aplicadas describen resultados de sus autores, sujetos al dataset y diseño que utilizaron. Antes de extrapolar se revisan período, target, escala, benchmark, selección de hiperparámetros y disponibilidad de variables. Las cifras de un paper no constituyen resultados del laboratorio de esta unidad.</a:t>
            </a:r>
          </a:p>
          <a:p xmlns:a="http://schemas.openxmlformats.org/drawingml/2006/main">
            <a:r>
              <a:t/>
            </a:r>
          </a:p>
          <a:p xmlns:a="http://schemas.openxmlformats.org/drawingml/2006/main">
            <a:r>
              <a:t>Kaur et al. (2025). Cryptocurrency prediction with GRU and LSTM</a:t>
            </a:r>
          </a:p>
          <a:p xmlns:a="http://schemas.openxmlformats.org/drawingml/2006/main">
            <a:r>
              <a:t>https://pmc.ncbi.nlm.nih.gov/articles/PMC11935774/</a:t>
            </a:r>
          </a:p>
          <a:p xmlns:a="http://schemas.openxmlformats.org/drawingml/2006/main">
            <a:r>
              <a:t/>
            </a:r>
          </a:p>
          <a:p xmlns:a="http://schemas.openxmlformats.org/drawingml/2006/main">
            <a:r>
              <a:t>Moiz y Raza (2026). Deep learning and GARCH family models</a:t>
            </a:r>
          </a:p>
          <a:p xmlns:a="http://schemas.openxmlformats.org/drawingml/2006/main">
            <a:r>
              <a:t>https://mf-journal.com/article/view/370</a:t>
            </a:r>
          </a:p>
          <a:p xmlns:a="http://schemas.openxmlformats.org/drawingml/2006/main">
            <a:r>
              <a:t/>
            </a:r>
          </a:p>
          <a:p xmlns:a="http://schemas.openxmlformats.org/drawingml/2006/main">
            <a:r>
              <a:t>scikit-learn. TimeSeriesSplit</a:t>
            </a:r>
          </a:p>
          <a:p xmlns:a="http://schemas.openxmlformats.org/drawingml/2006/main">
            <a:r>
              <a:t>https://scikit-learn.org/stable/modules/generated/sklearn.model_selection.TimeSeriesSplit.html</a:t>
            </a:r>
          </a:p>
          <a:p xmlns:a="http://schemas.openxmlformats.org/drawingml/2006/main">
            <a:r>
              <a:t/>
            </a:r>
          </a:p>
          <a:p xmlns:a="http://schemas.openxmlformats.org/drawingml/2006/main">
            <a:r>
              <a:t>scikit-learn. Common pitfalls and recommended practices</a:t>
            </a:r>
          </a:p>
          <a:p xmlns:a="http://schemas.openxmlformats.org/drawingml/2006/main">
            <a:r>
              <a:t>https://scikit-learn.org/stable/common_pitfalls.html</a:t>
            </a:r>
          </a:p>
          <a:p xmlns:a="http://schemas.openxmlformats.org/drawingml/2006/main">
            <a:r>
              <a:t/>
            </a:r>
          </a:p>
          <a:p xmlns:a="http://schemas.openxmlformats.org/drawingml/2006/main">
            <a:r>
              <a:t>Material elaborado por el profesor Sergio Gevatschnaider.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2.xml" Id="R54c95cff00634ab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8e4004bf1399455c" /></Relationships>
</file>

<file path=ppt/slideLayouts/slideLayout1.xml><?xml version="1.0" encoding="utf-8"?>
<p:sldLayout xmlns:p="http://schemas.openxmlformats.org/presentationml/2006/main" type="blank" preserve="1">
  <p:cSld name="U8_MASTER">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type="title" preserve="1">
  <p:cSld name="U8_MASTER">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7B6F7C6C-B737-40F9-994F-4EA6B83245F9}"/>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buNone/>
            </a:pPr>
            <a:endParaRPr sz="1800" b="0" u="none" strike="noStrike">
              <a:solidFill>
                <a:schemeClr val="dk1"/>
              </a:solidFill>
              <a:latin typeface="Aptos"/>
              <a:ea typeface="Aptos"/>
              <a:cs typeface="Aptos"/>
            </a:endParaRPr>
          </a:p>
        </p:txBody>
      </p:sp>
      <p:sp>
        <p:nvSpPr>
          <p:cNvPr id="3" name="PlaceHolder 2">
            <a:extLst xmlns:a="http://schemas.openxmlformats.org/drawingml/2006/main">
              <a:ext uri="{FF2B5EF4-FFF2-40B4-BE49-F238E27FC236}">
                <a16:creationId xmlns:a16="http://schemas.microsoft.com/office/drawing/2014/main" id="{E5F773B3-B655-4A25-8637-123DB08943A3}"/>
              </a:ext>
            </a:extLst>
          </p:cNvPr>
          <p:cNvSpPr>
            <a:spLocks xmlns:a="http://schemas.openxmlformats.org/drawingml/2006/main" noGrp="1"/>
          </p:cNvSpPr>
          <p:nvPr>
            <p:ph type="subTitle"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strike="noStrik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eafeef619e4f7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6dd6972dabcb474e" /><Relationship Type="http://schemas.openxmlformats.org/officeDocument/2006/relationships/slideLayout" Target="/ppt/slideLayouts/slideLayout1.xml" Id="R117a2367376d4003" /><Relationship Type="http://schemas.openxmlformats.org/officeDocument/2006/relationships/slideLayout" Target="/ppt/slideLayouts/slideLayout2.xml" Id="R6832dc2d49b84efb"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3D99F8D3-9F18-485D-9A68-A5F540B74064}"/>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Aptos"/>
                <a:ea typeface="Aptos"/>
                <a:cs typeface="Aptos"/>
              </a:rPr>
              <a:t>Click to edit the title text format</a:t>
            </a:r>
            <a:endParaRPr sz="1800" b="0" u="none" strike="noStrike">
              <a:solidFill>
                <a:schemeClr val="dk1"/>
              </a:solidFill>
              <a:latin typeface="Aptos"/>
              <a:ea typeface="Aptos"/>
              <a:cs typeface="Aptos"/>
            </a:endParaRPr>
          </a:p>
        </p:txBody>
      </p:sp>
      <p:sp>
        <p:nvSpPr>
          <p:cNvPr id="4" name="PlaceHolder 2">
            <a:extLst xmlns:a="http://schemas.openxmlformats.org/drawingml/2006/main">
              <a:ext uri="{FF2B5EF4-FFF2-40B4-BE49-F238E27FC236}">
                <a16:creationId xmlns:a16="http://schemas.microsoft.com/office/drawing/2014/main" id="{55FDDAF7-8AFB-432D-B6EA-25881A55DAF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spcBef>
                <a:spcPts val="1417"/>
              </a:spcBef>
              <a:buClr>
                <a:srgbClr val="000000"/>
              </a:buClr>
              <a:buSzPct val="45000"/>
              <a:buFont typeface="Wingdings"/>
              <a:buChar char=""/>
            </a:pPr>
            <a:r>
              <a:rPr sz="3200" b="0" u="none" strike="noStrike">
                <a:solidFill>
                  <a:schemeClr val="dk1"/>
                </a:solidFill>
                <a:latin typeface="Aptos"/>
                <a:ea typeface="Aptos"/>
                <a:cs typeface="Aptos"/>
              </a:rPr>
              <a:t>Click to edit the outline text format</a:t>
            </a:r>
            <a:endParaRPr sz="3200" b="0" u="none" strike="noStrike">
              <a:solidFill>
                <a:schemeClr val="dk1"/>
              </a:solidFill>
              <a:latin typeface="Aptos"/>
              <a:ea typeface="Aptos"/>
              <a:cs typeface="Aptos"/>
            </a:endParaRPr>
          </a:p>
          <a:p xmlns:a="http://schemas.openxmlformats.org/drawingml/2006/main">
            <a:pPr marL="864000" lvl="1" indent="-324000">
              <a:spcBef>
                <a:spcPts val="1134"/>
              </a:spcBef>
              <a:buClr>
                <a:srgbClr val="000000"/>
              </a:buClr>
              <a:buSzPct val="75000"/>
              <a:buFont typeface="Symbol"/>
              <a:buChar char=""/>
            </a:pPr>
            <a:r>
              <a:rPr sz="2400" b="0" u="none" strike="noStrike">
                <a:solidFill>
                  <a:schemeClr val="dk1"/>
                </a:solidFill>
                <a:latin typeface="Aptos"/>
                <a:ea typeface="Aptos"/>
                <a:cs typeface="Aptos"/>
              </a:rPr>
              <a:t>Second Outline Level</a:t>
            </a:r>
            <a:endParaRPr sz="2400" b="0" u="none" strike="noStrike">
              <a:solidFill>
                <a:schemeClr val="dk1"/>
              </a:solidFill>
              <a:latin typeface="Aptos"/>
              <a:ea typeface="Aptos"/>
              <a:cs typeface="Aptos"/>
            </a:endParaRPr>
          </a:p>
          <a:p xmlns:a="http://schemas.openxmlformats.org/drawingml/2006/main">
            <a:pPr marL="1296000" lvl="2" indent="-288000">
              <a:spcBef>
                <a:spcPts val="850"/>
              </a:spcBef>
              <a:buClr>
                <a:srgbClr val="000000"/>
              </a:buClr>
              <a:buSzPct val="45000"/>
              <a:buFont typeface="Wingdings"/>
              <a:buChar char=""/>
            </a:pPr>
            <a:r>
              <a:rPr sz="2000" b="0" u="none" strike="noStrike">
                <a:solidFill>
                  <a:schemeClr val="dk1"/>
                </a:solidFill>
                <a:latin typeface="Aptos"/>
                <a:ea typeface="Aptos"/>
                <a:cs typeface="Aptos"/>
              </a:rPr>
              <a:t>Third Outline Level</a:t>
            </a:r>
            <a:endParaRPr sz="2000" b="0" u="none" strike="noStrike">
              <a:solidFill>
                <a:schemeClr val="dk1"/>
              </a:solidFill>
              <a:latin typeface="Aptos"/>
              <a:ea typeface="Aptos"/>
              <a:cs typeface="Aptos"/>
            </a:endParaRPr>
          </a:p>
          <a:p xmlns:a="http://schemas.openxmlformats.org/drawingml/2006/main">
            <a:pPr marL="1728000" lvl="3" indent="-216000">
              <a:spcBef>
                <a:spcPts val="567"/>
              </a:spcBef>
              <a:buClr>
                <a:srgbClr val="000000"/>
              </a:buClr>
              <a:buSzPct val="75000"/>
              <a:buFont typeface="Symbol"/>
              <a:buChar char=""/>
            </a:pPr>
            <a:r>
              <a:rPr sz="2000" b="0" u="none" strike="noStrike">
                <a:solidFill>
                  <a:schemeClr val="dk1"/>
                </a:solidFill>
                <a:latin typeface="Aptos"/>
                <a:ea typeface="Aptos"/>
                <a:cs typeface="Aptos"/>
              </a:rPr>
              <a:t>Fourth Outline Level</a:t>
            </a:r>
            <a:endParaRPr sz="2000" b="0" u="none" strike="noStrike">
              <a:solidFill>
                <a:schemeClr val="dk1"/>
              </a:solidFill>
              <a:latin typeface="Aptos"/>
              <a:ea typeface="Aptos"/>
              <a:cs typeface="Aptos"/>
            </a:endParaRPr>
          </a:p>
          <a:p xmlns:a="http://schemas.openxmlformats.org/drawingml/2006/main">
            <a:pPr marL="2160000" lvl="4"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Fifth Outline Level</a:t>
            </a:r>
            <a:endParaRPr sz="2000" b="0" u="none" strike="noStrike">
              <a:solidFill>
                <a:schemeClr val="dk1"/>
              </a:solidFill>
              <a:latin typeface="Aptos"/>
              <a:ea typeface="Aptos"/>
              <a:cs typeface="Aptos"/>
            </a:endParaRPr>
          </a:p>
          <a:p xmlns:a="http://schemas.openxmlformats.org/drawingml/2006/main">
            <a:pPr marL="2592000" lvl="5"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Sixth Outline Level</a:t>
            </a:r>
            <a:endParaRPr sz="2000" b="0" u="none" strike="noStrike">
              <a:solidFill>
                <a:schemeClr val="dk1"/>
              </a:solidFill>
              <a:latin typeface="Aptos"/>
              <a:ea typeface="Aptos"/>
              <a:cs typeface="Aptos"/>
            </a:endParaRPr>
          </a:p>
          <a:p xmlns:a="http://schemas.openxmlformats.org/drawingml/2006/main">
            <a:pPr marL="3024000" lvl="6" indent="-216000">
              <a:spcBef>
                <a:spcPts val="283"/>
              </a:spcBef>
              <a:buClr>
                <a:srgbClr val="000000"/>
              </a:buClr>
              <a:buSzPct val="45000"/>
              <a:buFont typeface="Wingdings"/>
              <a:buChar char=""/>
            </a:pPr>
            <a:r>
              <a:rPr sz="2000" b="0" u="none" strike="noStrike">
                <a:solidFill>
                  <a:schemeClr val="dk1"/>
                </a:solidFill>
                <a:latin typeface="Aptos"/>
                <a:ea typeface="Aptos"/>
                <a:cs typeface="Aptos"/>
              </a:rPr>
              <a:t>Seventh Outline Level</a:t>
            </a:r>
            <a:endParaRPr sz="2000" b="0" u="none" strike="noStrike">
              <a:solidFill>
                <a:schemeClr val="dk1"/>
              </a:solidFill>
              <a:latin typeface="Aptos"/>
              <a:ea typeface="Aptos"/>
              <a:cs typeface="Aptos"/>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50" r:id="R117a2367376d4003"/>
    <p:sldLayoutId xmlns:r="http://schemas.openxmlformats.org/officeDocument/2006/relationships" id="2147483651" r:id="R6832dc2d49b84efb"/>
  </p:sldLayoutIdLst>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9eb75bc96da46c3" /><Relationship Type="http://schemas.openxmlformats.org/officeDocument/2006/relationships/notesSlide" Target="/ppt/notesSlides/notesSlide1.xml" Id="R1297c520963844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5412e3ea5bf4276" /><Relationship Type="http://schemas.openxmlformats.org/officeDocument/2006/relationships/notesSlide" Target="/ppt/notesSlides/notesSlide2.xml" Id="R1e6514eb1cbf48f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bcaf47305444359" /><Relationship Type="http://schemas.openxmlformats.org/officeDocument/2006/relationships/notesSlide" Target="/ppt/notesSlides/notesSlide3.xml" Id="Rdb3c5d32681142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1884b1b1f6401a" /><Relationship Type="http://schemas.openxmlformats.org/officeDocument/2006/relationships/notesSlide" Target="/ppt/notesSlides/notesSlide4.xml" Id="R6d91c071c07343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6f41a7163f4c15" /><Relationship Type="http://schemas.openxmlformats.org/officeDocument/2006/relationships/notesSlide" Target="/ppt/notesSlides/notesSlide5.xml" Id="Rbc22b882249a48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50a5107b414d49" /><Relationship Type="http://schemas.openxmlformats.org/officeDocument/2006/relationships/notesSlide" Target="/ppt/notesSlides/notesSlide6.xml" Id="Rbaef57dfbb954a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af5635f66a4066" /><Relationship Type="http://schemas.openxmlformats.org/officeDocument/2006/relationships/notesSlide" Target="/ppt/notesSlides/notesSlide7.xml" Id="Rb60c98c59dcb475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1a69962bac407d" /><Relationship Type="http://schemas.openxmlformats.org/officeDocument/2006/relationships/notesSlide" Target="/ppt/notesSlides/notesSlide8.xml" Id="R9ef7584486d84b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648230666e4ed3" /><Relationship Type="http://schemas.openxmlformats.org/officeDocument/2006/relationships/notesSlide" Target="/ppt/notesSlides/notesSlide9.xml" Id="R3f2022fcde924a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656587103254260" /><Relationship Type="http://schemas.openxmlformats.org/officeDocument/2006/relationships/notesSlide" Target="/ppt/notesSlides/notesSlide10.xml" Id="R35b63ef98fce4ce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bf2c8f225fe4a5b" /><Relationship Type="http://schemas.openxmlformats.org/officeDocument/2006/relationships/notesSlide" Target="/ppt/notesSlides/notesSlide11.xml" Id="R456cb335460f4e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d73a45353f44c7" /><Relationship Type="http://schemas.openxmlformats.org/officeDocument/2006/relationships/notesSlide" Target="/ppt/notesSlides/notesSlide12.xml" Id="Rdbb8a52f56da41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f4dd2ec1db548e7" /><Relationship Type="http://schemas.openxmlformats.org/officeDocument/2006/relationships/notesSlide" Target="/ppt/notesSlides/notesSlide13.xml" Id="R97f3458b05b246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6d1a0fa85884ff8" /><Relationship Type="http://schemas.openxmlformats.org/officeDocument/2006/relationships/notesSlide" Target="/ppt/notesSlides/notesSlide14.xml" Id="R2271207486cb41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bd6b164629242c2" /><Relationship Type="http://schemas.openxmlformats.org/officeDocument/2006/relationships/notesSlide" Target="/ppt/notesSlides/notesSlide15.xml" Id="Rf5bbe66ad4fa402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91f67aedee4ffe" /><Relationship Type="http://schemas.openxmlformats.org/officeDocument/2006/relationships/notesSlide" Target="/ppt/notesSlides/notesSlide16.xml" Id="R3638af34526a4fa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1588ffe8a342cf" /><Relationship Type="http://schemas.openxmlformats.org/officeDocument/2006/relationships/notesSlide" Target="/ppt/notesSlides/notesSlide17.xml" Id="Rb753211d2e4e463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8ca243c37a4242" /><Relationship Type="http://schemas.openxmlformats.org/officeDocument/2006/relationships/hyperlink" Target="https://www.bioinf.jku.at/publications/older/2604.pdf" TargetMode="External" Id="Rdb7e0917ee524911" /><Relationship Type="http://schemas.openxmlformats.org/officeDocument/2006/relationships/hyperlink" Target="https://docs.pytorch.org/docs/stable/generated/torch.nn.LSTM.html" TargetMode="External" Id="R3c1bfe894f714c8d" /><Relationship Type="http://schemas.openxmlformats.org/officeDocument/2006/relationships/hyperlink" Target="https://arxiv.org/abs/1406.1078" TargetMode="External" Id="Rae5d92e829d44d0c" /><Relationship Type="http://schemas.openxmlformats.org/officeDocument/2006/relationships/hyperlink" Target="https://docs.pytorch.org/docs/stable/generated/torch.nn.GRU.html" TargetMode="External" Id="Rbebc51826e124dcc" /><Relationship Type="http://schemas.openxmlformats.org/officeDocument/2006/relationships/hyperlink" Target="https://arxiv.org/abs/1706.03762" TargetMode="External" Id="R69b6b80dd7974b61" /><Relationship Type="http://schemas.openxmlformats.org/officeDocument/2006/relationships/notesSlide" Target="/ppt/notesSlides/notesSlide18.xml" Id="R45043fb92a2a4c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81139f65d744830" /><Relationship Type="http://schemas.openxmlformats.org/officeDocument/2006/relationships/hyperlink" Target="https://pmc.ncbi.nlm.nih.gov/articles/PMC11935774/" TargetMode="External" Id="R0cff8e7bc8e3472c" /><Relationship Type="http://schemas.openxmlformats.org/officeDocument/2006/relationships/hyperlink" Target="https://mf-journal.com/article/view/370" TargetMode="External" Id="R7d11d32255c741c6" /><Relationship Type="http://schemas.openxmlformats.org/officeDocument/2006/relationships/hyperlink" Target="https://scikit-learn.org/stable/modules/generated/sklearn.model_selection.TimeSeriesSplit.html" TargetMode="External" Id="Rd3a1e4e306034233" /><Relationship Type="http://schemas.openxmlformats.org/officeDocument/2006/relationships/hyperlink" Target="https://scikit-learn.org/stable/common_pitfalls.html" TargetMode="External" Id="Rc38b2a9d39c8491f" /><Relationship Type="http://schemas.openxmlformats.org/officeDocument/2006/relationships/notesSlide" Target="/ppt/notesSlides/notesSlide19.xml" Id="Raadde0d1f2254c99"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6" name="author">
            <a:extLst xmlns:a="http://schemas.openxmlformats.org/drawingml/2006/main">
              <a:ext uri="{FF2B5EF4-FFF2-40B4-BE49-F238E27FC236}">
                <a16:creationId xmlns:a16="http://schemas.microsoft.com/office/drawing/2014/main" id="{825DF78B-CB8A-46E8-9E29-C1467B5974EB}"/>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Material elaborado por el profesor Sergio Gevatschnaider.</a:t>
            </a:r>
          </a:p>
        </p:txBody>
      </p:sp>
      <p:sp>
        <p:nvSpPr>
          <p:cNvPr id="2" name="page">
            <a:extLst xmlns:a="http://schemas.openxmlformats.org/drawingml/2006/main">
              <a:ext uri="{FF2B5EF4-FFF2-40B4-BE49-F238E27FC236}">
                <a16:creationId xmlns:a16="http://schemas.microsoft.com/office/drawing/2014/main" id="{6B29595E-31F2-401D-9E7B-BD99486BEE0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CBD5E1"/>
                </a:solidFill>
                <a:latin typeface="DejaVu Sans"/>
                <a:ea typeface="DejaVu Sans"/>
                <a:cs typeface="DejaVu Sans"/>
              </a:defRPr>
            </a:pPr>
            <a:r>
              <a:rPr sz="1350" b="0">
                <a:solidFill>
                  <a:srgbClr val="CBD5E1"/>
                </a:solidFill>
                <a:latin typeface="DejaVu Sans"/>
                <a:ea typeface="DejaVu Sans"/>
                <a:cs typeface="DejaVu Sans"/>
              </a:rPr>
              <a:t>01 / 19</a:t>
            </a:r>
          </a:p>
        </p:txBody>
      </p:sp>
      <p:sp>
        <p:nvSpPr>
          <p:cNvPr id="3" name="cover-unit">
            <a:extLst xmlns:a="http://schemas.openxmlformats.org/drawingml/2006/main">
              <a:ext uri="{FF2B5EF4-FFF2-40B4-BE49-F238E27FC236}">
                <a16:creationId xmlns:a16="http://schemas.microsoft.com/office/drawing/2014/main" id="{D369A74C-4C2F-4194-B009-8062FDE67807}"/>
              </a:ext>
            </a:extLst>
          </p:cNvPr>
          <p:cNvSpPr>
            <a:spLocks xmlns:a="http://schemas.openxmlformats.org/drawingml/2006/main" noGrp="1"/>
          </p:cNvSpPr>
          <p:nvPr/>
        </p:nvSpPr>
        <p:spPr>
          <a:xfrm xmlns:a="http://schemas.openxmlformats.org/drawingml/2006/main">
            <a:off x="609600" y="10096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7C3AED"/>
                </a:solidFill>
                <a:latin typeface="DejaVu Sans"/>
                <a:ea typeface="DejaVu Sans"/>
                <a:cs typeface="DejaVu Sans"/>
              </a:defRPr>
            </a:pPr>
            <a:r>
              <a:rPr sz="1875" b="1">
                <a:solidFill>
                  <a:srgbClr val="7C3AED"/>
                </a:solidFill>
                <a:latin typeface="DejaVu Sans"/>
                <a:ea typeface="DejaVu Sans"/>
                <a:cs typeface="DejaVu Sans"/>
              </a:rPr>
              <a:t>UNIDAD 8</a:t>
            </a:r>
          </a:p>
        </p:txBody>
      </p:sp>
      <p:sp>
        <p:nvSpPr>
          <p:cNvPr id="4" name="cover-title">
            <a:extLst xmlns:a="http://schemas.openxmlformats.org/drawingml/2006/main">
              <a:ext uri="{FF2B5EF4-FFF2-40B4-BE49-F238E27FC236}">
                <a16:creationId xmlns:a16="http://schemas.microsoft.com/office/drawing/2014/main" id="{B571DF46-B1ED-45E2-83B3-20B1F190DE2E}"/>
              </a:ext>
            </a:extLst>
          </p:cNvPr>
          <p:cNvSpPr>
            <a:spLocks xmlns:a="http://schemas.openxmlformats.org/drawingml/2006/main" noGrp="1"/>
          </p:cNvSpPr>
          <p:nvPr/>
        </p:nvSpPr>
        <p:spPr>
          <a:xfrm xmlns:a="http://schemas.openxmlformats.org/drawingml/2006/main">
            <a:off x="609600" y="2143125"/>
            <a:ext cx="10934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b="1">
                <a:solidFill>
                  <a:srgbClr val="FFFFFF"/>
                </a:solidFill>
                <a:latin typeface="DejaVu Sans"/>
                <a:ea typeface="DejaVu Sans"/>
                <a:cs typeface="DejaVu Sans"/>
              </a:defRPr>
            </a:pPr>
            <a:r>
              <a:rPr sz="4500" b="1">
                <a:solidFill>
                  <a:srgbClr val="FFFFFF"/>
                </a:solidFill>
                <a:latin typeface="DejaVu Sans"/>
                <a:ea typeface="DejaVu Sans"/>
                <a:cs typeface="DejaVu Sans"/>
              </a:rPr>
              <a:t>LSTM y GRU para BTC/ETH</a:t>
            </a:r>
          </a:p>
        </p:txBody>
      </p:sp>
      <p:sp>
        <p:nvSpPr>
          <p:cNvPr id="5" name="cover-subtitle">
            <a:extLst xmlns:a="http://schemas.openxmlformats.org/drawingml/2006/main">
              <a:ext uri="{FF2B5EF4-FFF2-40B4-BE49-F238E27FC236}">
                <a16:creationId xmlns:a16="http://schemas.microsoft.com/office/drawing/2014/main" id="{224ECA03-A7AF-4704-A6B9-2B369EA0807A}"/>
              </a:ext>
            </a:extLst>
          </p:cNvPr>
          <p:cNvSpPr>
            <a:spLocks xmlns:a="http://schemas.openxmlformats.org/drawingml/2006/main" noGrp="1"/>
          </p:cNvSpPr>
          <p:nvPr/>
        </p:nvSpPr>
        <p:spPr>
          <a:xfrm xmlns:a="http://schemas.openxmlformats.org/drawingml/2006/main">
            <a:off x="609600" y="42481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CBD5E1"/>
                </a:solidFill>
                <a:latin typeface="DejaVu Sans"/>
                <a:ea typeface="DejaVu Sans"/>
                <a:cs typeface="DejaVu Sans"/>
              </a:defRPr>
            </a:pPr>
            <a:r>
              <a:rPr sz="2175" b="0">
                <a:solidFill>
                  <a:srgbClr val="CBD5E1"/>
                </a:solidFill>
                <a:latin typeface="DejaVu Sans"/>
                <a:ea typeface="DejaVu Sans"/>
                <a:cs typeface="DejaVu Sans"/>
              </a:rPr>
              <a:t>Memoria temporal, construcción de ventanas y evaluación fuera de muestra</a:t>
            </a:r>
          </a:p>
        </p:txBody>
      </p:sp>
    </p:spTree>
    <p:extLst>
      <p:ext uri="{BB962C8B-B14F-4D97-AF65-F5344CB8AC3E}">
        <p14:creationId xmlns:p14="http://schemas.microsoft.com/office/powerpoint/2010/main" val="372678970"/>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77C8B065-08CC-45A8-9253-BE13A2C110C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E599860B-A908-49F7-83AF-1C495A75333E}"/>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Secuencia de entrada y horizonte</a:t>
            </a:r>
          </a:p>
        </p:txBody>
      </p:sp>
      <p:sp>
        <p:nvSpPr>
          <p:cNvPr id="3" name="author">
            <a:extLst xmlns:a="http://schemas.openxmlformats.org/drawingml/2006/main">
              <a:ext uri="{FF2B5EF4-FFF2-40B4-BE49-F238E27FC236}">
                <a16:creationId xmlns:a16="http://schemas.microsoft.com/office/drawing/2014/main" id="{F1BC8CDF-F662-437F-9051-9830E6DD3E4E}"/>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29A6A59-A10B-4C0A-A40F-B91A2F66B33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02 / 19</a:t>
            </a:r>
          </a:p>
        </p:txBody>
      </p:sp>
      <p:sp>
        <p:nvSpPr>
          <p:cNvPr id="5" name="equation-0">
            <a:extLst xmlns:a="http://schemas.openxmlformats.org/drawingml/2006/main">
              <a:ext uri="{FF2B5EF4-FFF2-40B4-BE49-F238E27FC236}">
                <a16:creationId xmlns:a16="http://schemas.microsoft.com/office/drawing/2014/main" id="{6E8355DB-7565-42E3-9C22-7B0A3158E5DE}"/>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X[t] = [x[t-L+1], ..., x[t]]       objetivo: y[t+H]</a:t>
            </a:r>
          </a:p>
        </p:txBody>
      </p:sp>
      <p:sp>
        <p:nvSpPr>
          <p:cNvPr id="6" name="equation-1">
            <a:extLst xmlns:a="http://schemas.openxmlformats.org/drawingml/2006/main">
              <a:ext uri="{FF2B5EF4-FFF2-40B4-BE49-F238E27FC236}">
                <a16:creationId xmlns:a16="http://schemas.microsoft.com/office/drawing/2014/main" id="{98F8FBE6-7894-44C1-BB45-99CFF3B78887}"/>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Lote de entrada: B × L × F</a:t>
            </a:r>
          </a:p>
        </p:txBody>
      </p:sp>
      <p:sp>
        <p:nvSpPr>
          <p:cNvPr id="7" name="label-0">
            <a:extLst xmlns:a="http://schemas.openxmlformats.org/drawingml/2006/main">
              <a:ext uri="{FF2B5EF4-FFF2-40B4-BE49-F238E27FC236}">
                <a16:creationId xmlns:a16="http://schemas.microsoft.com/office/drawing/2014/main" id="{820FD432-405E-4CD8-9308-6815E91BE568}"/>
              </a:ext>
            </a:extLst>
          </p:cNvPr>
          <p:cNvSpPr>
            <a:spLocks xmlns:a="http://schemas.openxmlformats.org/drawingml/2006/main" noGrp="1"/>
          </p:cNvSpPr>
          <p:nvPr/>
        </p:nvSpPr>
        <p:spPr>
          <a:xfrm xmlns:a="http://schemas.openxmlformats.org/drawingml/2006/main">
            <a:off x="6096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L, H y F</a:t>
            </a:r>
          </a:p>
        </p:txBody>
      </p:sp>
      <p:sp>
        <p:nvSpPr>
          <p:cNvPr id="8" name="body-0">
            <a:extLst xmlns:a="http://schemas.openxmlformats.org/drawingml/2006/main">
              <a:ext uri="{FF2B5EF4-FFF2-40B4-BE49-F238E27FC236}">
                <a16:creationId xmlns:a16="http://schemas.microsoft.com/office/drawing/2014/main" id="{4E9EA400-29F5-49FB-8197-1B6D75AB90B5}"/>
              </a:ext>
            </a:extLst>
          </p:cNvPr>
          <p:cNvSpPr>
            <a:spLocks xmlns:a="http://schemas.openxmlformats.org/drawingml/2006/main" noGrp="1"/>
          </p:cNvSpPr>
          <p:nvPr/>
        </p:nvSpPr>
        <p:spPr>
          <a:xfrm xmlns:a="http://schemas.openxmlformats.org/drawingml/2006/main">
            <a:off x="6096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 es la longitud de la ventana. H es el horizonte. F es el número de características por instante.</a:t>
            </a:r>
          </a:p>
        </p:txBody>
      </p:sp>
      <p:sp>
        <p:nvSpPr>
          <p:cNvPr id="9" name="label-1">
            <a:extLst xmlns:a="http://schemas.openxmlformats.org/drawingml/2006/main">
              <a:ext uri="{FF2B5EF4-FFF2-40B4-BE49-F238E27FC236}">
                <a16:creationId xmlns:a16="http://schemas.microsoft.com/office/drawing/2014/main" id="{80F66AFC-9C94-495D-A6E8-5A182C2F31D5}"/>
              </a:ext>
            </a:extLst>
          </p:cNvPr>
          <p:cNvSpPr>
            <a:spLocks xmlns:a="http://schemas.openxmlformats.org/drawingml/2006/main" noGrp="1"/>
          </p:cNvSpPr>
          <p:nvPr/>
        </p:nvSpPr>
        <p:spPr>
          <a:xfrm xmlns:a="http://schemas.openxmlformats.org/drawingml/2006/main">
            <a:off x="6286500" y="308610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B y causalidad</a:t>
            </a:r>
          </a:p>
        </p:txBody>
      </p:sp>
      <p:sp>
        <p:nvSpPr>
          <p:cNvPr id="10" name="body-1">
            <a:extLst xmlns:a="http://schemas.openxmlformats.org/drawingml/2006/main">
              <a:ext uri="{FF2B5EF4-FFF2-40B4-BE49-F238E27FC236}">
                <a16:creationId xmlns:a16="http://schemas.microsoft.com/office/drawing/2014/main" id="{E55EE164-969C-4992-BCDB-3620B52CED50}"/>
              </a:ext>
            </a:extLst>
          </p:cNvPr>
          <p:cNvSpPr>
            <a:spLocks xmlns:a="http://schemas.openxmlformats.org/drawingml/2006/main" noGrp="1"/>
          </p:cNvSpPr>
          <p:nvPr/>
        </p:nvSpPr>
        <p:spPr>
          <a:xfrm xmlns:a="http://schemas.openxmlformats.org/drawingml/2006/main">
            <a:off x="6286500" y="3790950"/>
            <a:ext cx="52959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B es la cantidad de ejemplos del lote. Cada ventana termina en el momento de decisión.</a:t>
            </a:r>
          </a:p>
        </p:txBody>
      </p:sp>
    </p:spTree>
    <p:extLst>
      <p:ext uri="{BB962C8B-B14F-4D97-AF65-F5344CB8AC3E}">
        <p14:creationId xmlns:p14="http://schemas.microsoft.com/office/powerpoint/2010/main" val="829850629"/>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48E1612A-0A12-4366-8E6E-529E35289BF3}"/>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67062637-800C-4D66-9660-9C7A8BD81159}"/>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Ejemplo de ventana causal</a:t>
            </a:r>
          </a:p>
        </p:txBody>
      </p:sp>
      <p:sp>
        <p:nvSpPr>
          <p:cNvPr id="3" name="author">
            <a:extLst xmlns:a="http://schemas.openxmlformats.org/drawingml/2006/main">
              <a:ext uri="{FF2B5EF4-FFF2-40B4-BE49-F238E27FC236}">
                <a16:creationId xmlns:a16="http://schemas.microsoft.com/office/drawing/2014/main" id="{66EB2E8F-E3AC-4D2D-B67E-0B1E3354E590}"/>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9A317D54-6A9B-4862-BE4B-2C415307AEF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03 / 19</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Instante</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Variables observadas</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Uso</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t-2</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Retorno, volumen y gas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Primer paso de la ventana</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t-1</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Retorno, volumen y gas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Segundo paso de la ventana</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t</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Retorno, volumen y gas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Último paso disponible</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t+1</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Retorno futuro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Etiqueta del ejemplo, disponible después</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556010764"/>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27A515BC-8E63-4E5F-913A-FB23D50D9A1A}"/>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7DCB1E5B-868D-4790-8CF2-7B6D3B83901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MLP y recurrencia</a:t>
            </a:r>
          </a:p>
        </p:txBody>
      </p:sp>
      <p:sp>
        <p:nvSpPr>
          <p:cNvPr id="3" name="author">
            <a:extLst xmlns:a="http://schemas.openxmlformats.org/drawingml/2006/main">
              <a:ext uri="{FF2B5EF4-FFF2-40B4-BE49-F238E27FC236}">
                <a16:creationId xmlns:a16="http://schemas.microsoft.com/office/drawing/2014/main" id="{6E8C3913-33A6-49ED-9E4F-BC792B9A54A7}"/>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8432A72-0243-443E-9DA6-5F7DB9D6ADA2}"/>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04 / 19</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Aspecto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MLP con retardos</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RNN o LSTM</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Representación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Ventana aplanada como vector</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Secuencia de vectores</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Información temporal</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Orden codificado en las columnas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Estado actualizado en cada paso</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Parámetros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Dependientes del tamaño de la entrada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Compartidos entre pasos temporales</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Comparación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Baseline temporal válido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Aporte de recurrencia por demostrar</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544267872"/>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9173FD0D-7499-4B41-9224-A90326A99997}"/>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CB702737-62E9-4E58-AB28-75C7D2E75AD4}"/>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RNN y gradientes temporales</a:t>
            </a:r>
          </a:p>
        </p:txBody>
      </p:sp>
      <p:sp>
        <p:nvSpPr>
          <p:cNvPr id="3" name="author">
            <a:extLst xmlns:a="http://schemas.openxmlformats.org/drawingml/2006/main">
              <a:ext uri="{FF2B5EF4-FFF2-40B4-BE49-F238E27FC236}">
                <a16:creationId xmlns:a16="http://schemas.microsoft.com/office/drawing/2014/main" id="{E0C6AB7D-619D-40D5-A79B-BBDD35979447}"/>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66DDFB06-A9B0-4952-827F-99034117B23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05 / 19</a:t>
            </a:r>
          </a:p>
        </p:txBody>
      </p:sp>
      <p:sp>
        <p:nvSpPr>
          <p:cNvPr id="5" name="equation-0">
            <a:extLst xmlns:a="http://schemas.openxmlformats.org/drawingml/2006/main">
              <a:ext uri="{FF2B5EF4-FFF2-40B4-BE49-F238E27FC236}">
                <a16:creationId xmlns:a16="http://schemas.microsoft.com/office/drawing/2014/main" id="{22883974-3A0D-41AD-9A61-212260A2275F}"/>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hₜ = tanh(Wxₜ + Uhₜ₋₁ + b)</a:t>
            </a:r>
          </a:p>
        </p:txBody>
      </p:sp>
      <p:sp>
        <p:nvSpPr>
          <p:cNvPr id="6" name="label-0">
            <a:extLst xmlns:a="http://schemas.openxmlformats.org/drawingml/2006/main">
              <a:ext uri="{FF2B5EF4-FFF2-40B4-BE49-F238E27FC236}">
                <a16:creationId xmlns:a16="http://schemas.microsoft.com/office/drawing/2014/main" id="{B3B32605-E25C-4C06-812A-80F47E797E5C}"/>
              </a:ext>
            </a:extLst>
          </p:cNvPr>
          <p:cNvSpPr>
            <a:spLocks xmlns:a="http://schemas.openxmlformats.org/drawingml/2006/main" noGrp="1"/>
          </p:cNvSpPr>
          <p:nvPr/>
        </p:nvSpPr>
        <p:spPr>
          <a:xfrm xmlns:a="http://schemas.openxmlformats.org/drawingml/2006/main">
            <a:off x="609600" y="258127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Estado recurrente</a:t>
            </a:r>
          </a:p>
        </p:txBody>
      </p:sp>
      <p:sp>
        <p:nvSpPr>
          <p:cNvPr id="7" name="body-0">
            <a:extLst xmlns:a="http://schemas.openxmlformats.org/drawingml/2006/main">
              <a:ext uri="{FF2B5EF4-FFF2-40B4-BE49-F238E27FC236}">
                <a16:creationId xmlns:a16="http://schemas.microsoft.com/office/drawing/2014/main" id="{97A30447-0B00-4EAC-A070-B8D53F279029}"/>
              </a:ext>
            </a:extLst>
          </p:cNvPr>
          <p:cNvSpPr>
            <a:spLocks xmlns:a="http://schemas.openxmlformats.org/drawingml/2006/main" noGrp="1"/>
          </p:cNvSpPr>
          <p:nvPr/>
        </p:nvSpPr>
        <p:spPr>
          <a:xfrm xmlns:a="http://schemas.openxmlformats.org/drawingml/2006/main">
            <a:off x="609600" y="3286125"/>
            <a:ext cx="34036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hₜ resume información de la secuencia procesada mediante parámetros compartidos.</a:t>
            </a:r>
          </a:p>
        </p:txBody>
      </p:sp>
      <p:sp>
        <p:nvSpPr>
          <p:cNvPr id="8" name="label-1">
            <a:extLst xmlns:a="http://schemas.openxmlformats.org/drawingml/2006/main">
              <a:ext uri="{FF2B5EF4-FFF2-40B4-BE49-F238E27FC236}">
                <a16:creationId xmlns:a16="http://schemas.microsoft.com/office/drawing/2014/main" id="{988CE5CE-783C-47AF-84D0-9CCDDFDD1FBA}"/>
              </a:ext>
            </a:extLst>
          </p:cNvPr>
          <p:cNvSpPr>
            <a:spLocks xmlns:a="http://schemas.openxmlformats.org/drawingml/2006/main" noGrp="1"/>
          </p:cNvSpPr>
          <p:nvPr/>
        </p:nvSpPr>
        <p:spPr>
          <a:xfrm xmlns:a="http://schemas.openxmlformats.org/drawingml/2006/main">
            <a:off x="4394200" y="258127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Entrenamiento</a:t>
            </a:r>
          </a:p>
        </p:txBody>
      </p:sp>
      <p:sp>
        <p:nvSpPr>
          <p:cNvPr id="9" name="body-1">
            <a:extLst xmlns:a="http://schemas.openxmlformats.org/drawingml/2006/main">
              <a:ext uri="{FF2B5EF4-FFF2-40B4-BE49-F238E27FC236}">
                <a16:creationId xmlns:a16="http://schemas.microsoft.com/office/drawing/2014/main" id="{0DD858F6-F6A4-4C3F-A24B-C79077B7E563}"/>
              </a:ext>
            </a:extLst>
          </p:cNvPr>
          <p:cNvSpPr>
            <a:spLocks xmlns:a="http://schemas.openxmlformats.org/drawingml/2006/main" noGrp="1"/>
          </p:cNvSpPr>
          <p:nvPr/>
        </p:nvSpPr>
        <p:spPr>
          <a:xfrm xmlns:a="http://schemas.openxmlformats.org/drawingml/2006/main">
            <a:off x="4394200" y="3286125"/>
            <a:ext cx="34036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 retropropagación en el tiempo puede producir gradientes que disminuyen o crecen mucho.</a:t>
            </a:r>
          </a:p>
        </p:txBody>
      </p:sp>
      <p:sp>
        <p:nvSpPr>
          <p:cNvPr id="10" name="label-2">
            <a:extLst xmlns:a="http://schemas.openxmlformats.org/drawingml/2006/main">
              <a:ext uri="{FF2B5EF4-FFF2-40B4-BE49-F238E27FC236}">
                <a16:creationId xmlns:a16="http://schemas.microsoft.com/office/drawing/2014/main" id="{7AF2B8AB-52ED-4F14-9FB4-E1CA1D2588F5}"/>
              </a:ext>
            </a:extLst>
          </p:cNvPr>
          <p:cNvSpPr>
            <a:spLocks xmlns:a="http://schemas.openxmlformats.org/drawingml/2006/main" noGrp="1"/>
          </p:cNvSpPr>
          <p:nvPr/>
        </p:nvSpPr>
        <p:spPr>
          <a:xfrm xmlns:a="http://schemas.openxmlformats.org/drawingml/2006/main">
            <a:off x="8178800" y="258127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Controles</a:t>
            </a:r>
          </a:p>
        </p:txBody>
      </p:sp>
      <p:sp>
        <p:nvSpPr>
          <p:cNvPr id="11" name="body-2">
            <a:extLst xmlns:a="http://schemas.openxmlformats.org/drawingml/2006/main">
              <a:ext uri="{FF2B5EF4-FFF2-40B4-BE49-F238E27FC236}">
                <a16:creationId xmlns:a16="http://schemas.microsoft.com/office/drawing/2014/main" id="{E8108121-AD9C-4539-951D-3E66BA503D91}"/>
              </a:ext>
            </a:extLst>
          </p:cNvPr>
          <p:cNvSpPr>
            <a:spLocks xmlns:a="http://schemas.openxmlformats.org/drawingml/2006/main" noGrp="1"/>
          </p:cNvSpPr>
          <p:nvPr/>
        </p:nvSpPr>
        <p:spPr>
          <a:xfrm xmlns:a="http://schemas.openxmlformats.org/drawingml/2006/main">
            <a:off x="8178800" y="3286125"/>
            <a:ext cx="34036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Las compuertas de LSTM y GRU, el clipping y la longitud de secuencia modifican el comportamiento.</a:t>
            </a:r>
          </a:p>
        </p:txBody>
      </p:sp>
    </p:spTree>
    <p:extLst>
      <p:ext uri="{BB962C8B-B14F-4D97-AF65-F5344CB8AC3E}">
        <p14:creationId xmlns:p14="http://schemas.microsoft.com/office/powerpoint/2010/main" val="888635242"/>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3EB9DDE5-8AFF-4B12-AAF0-B62700F0FBBD}"/>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9FAE7C83-F3E5-4C22-BE41-0F93793B4B4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LSTM: compuertas y candidato</a:t>
            </a:r>
          </a:p>
        </p:txBody>
      </p:sp>
      <p:sp>
        <p:nvSpPr>
          <p:cNvPr id="3" name="author">
            <a:extLst xmlns:a="http://schemas.openxmlformats.org/drawingml/2006/main">
              <a:ext uri="{FF2B5EF4-FFF2-40B4-BE49-F238E27FC236}">
                <a16:creationId xmlns:a16="http://schemas.microsoft.com/office/drawing/2014/main" id="{C5545037-D2DB-4DC9-B785-2FC8F5535D43}"/>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92C76BBA-B899-4F25-83B8-7A666F33831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06 / 19</a:t>
            </a:r>
          </a:p>
        </p:txBody>
      </p:sp>
      <p:sp>
        <p:nvSpPr>
          <p:cNvPr id="5" name="equation-0">
            <a:extLst xmlns:a="http://schemas.openxmlformats.org/drawingml/2006/main">
              <a:ext uri="{FF2B5EF4-FFF2-40B4-BE49-F238E27FC236}">
                <a16:creationId xmlns:a16="http://schemas.microsoft.com/office/drawing/2014/main" id="{F0E8D46C-6E20-4ACF-AAE6-9F0B37AEF3A7}"/>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qₜ = [hₜ₋₁, xₜ]</a:t>
            </a:r>
          </a:p>
        </p:txBody>
      </p:sp>
      <p:sp>
        <p:nvSpPr>
          <p:cNvPr id="6" name="equation-1">
            <a:extLst xmlns:a="http://schemas.openxmlformats.org/drawingml/2006/main">
              <a:ext uri="{FF2B5EF4-FFF2-40B4-BE49-F238E27FC236}">
                <a16:creationId xmlns:a16="http://schemas.microsoft.com/office/drawing/2014/main" id="{A84675FE-1311-4BD9-8EB8-0374913F3E4E}"/>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fₜ = sigmoid(Wf qₜ + bf)       iₜ = sigmoid(Wi qₜ + bi)</a:t>
            </a:r>
          </a:p>
        </p:txBody>
      </p:sp>
      <p:sp>
        <p:nvSpPr>
          <p:cNvPr id="7" name="equation-2">
            <a:extLst xmlns:a="http://schemas.openxmlformats.org/drawingml/2006/main">
              <a:ext uri="{FF2B5EF4-FFF2-40B4-BE49-F238E27FC236}">
                <a16:creationId xmlns:a16="http://schemas.microsoft.com/office/drawing/2014/main" id="{9B74AC11-7BEC-4C07-9FD7-54D74F09519A}"/>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gₜ = tanh(Wg qₜ + bg)       oₜ = sigmoid(Wo qₜ + bo)</a:t>
            </a:r>
          </a:p>
        </p:txBody>
      </p:sp>
      <p:sp>
        <p:nvSpPr>
          <p:cNvPr id="8" name="label-0">
            <a:extLst xmlns:a="http://schemas.openxmlformats.org/drawingml/2006/main">
              <a:ext uri="{FF2B5EF4-FFF2-40B4-BE49-F238E27FC236}">
                <a16:creationId xmlns:a16="http://schemas.microsoft.com/office/drawing/2014/main" id="{5DEDD1A7-53A3-4D02-A39A-132E68E8F884}"/>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f, i y o</a:t>
            </a:r>
          </a:p>
        </p:txBody>
      </p:sp>
      <p:sp>
        <p:nvSpPr>
          <p:cNvPr id="9" name="body-0">
            <a:extLst xmlns:a="http://schemas.openxmlformats.org/drawingml/2006/main">
              <a:ext uri="{FF2B5EF4-FFF2-40B4-BE49-F238E27FC236}">
                <a16:creationId xmlns:a16="http://schemas.microsoft.com/office/drawing/2014/main" id="{0F0D5A0B-4191-46F5-A851-223401FB305E}"/>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Son las compuertas de olvido, entrada y salida. Toman valores entre 0 y 1.</a:t>
            </a:r>
          </a:p>
        </p:txBody>
      </p:sp>
      <p:sp>
        <p:nvSpPr>
          <p:cNvPr id="10" name="label-1">
            <a:extLst xmlns:a="http://schemas.openxmlformats.org/drawingml/2006/main">
              <a:ext uri="{FF2B5EF4-FFF2-40B4-BE49-F238E27FC236}">
                <a16:creationId xmlns:a16="http://schemas.microsoft.com/office/drawing/2014/main" id="{02970BD3-8520-42E1-B9FC-A71DB8134AE5}"/>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Candidato g</a:t>
            </a:r>
          </a:p>
        </p:txBody>
      </p:sp>
      <p:sp>
        <p:nvSpPr>
          <p:cNvPr id="11" name="body-1">
            <a:extLst xmlns:a="http://schemas.openxmlformats.org/drawingml/2006/main">
              <a:ext uri="{FF2B5EF4-FFF2-40B4-BE49-F238E27FC236}">
                <a16:creationId xmlns:a16="http://schemas.microsoft.com/office/drawing/2014/main" id="{2E8C83A0-D5ED-4F1F-8B5D-7EEE45D78E2B}"/>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Propone nueva información para el estado de celda. Su rango es de -1 a 1.</a:t>
            </a:r>
          </a:p>
        </p:txBody>
      </p:sp>
    </p:spTree>
    <p:extLst>
      <p:ext uri="{BB962C8B-B14F-4D97-AF65-F5344CB8AC3E}">
        <p14:creationId xmlns:p14="http://schemas.microsoft.com/office/powerpoint/2010/main" val="176473659"/>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3" name="unit">
            <a:extLst xmlns:a="http://schemas.openxmlformats.org/drawingml/2006/main">
              <a:ext uri="{FF2B5EF4-FFF2-40B4-BE49-F238E27FC236}">
                <a16:creationId xmlns:a16="http://schemas.microsoft.com/office/drawing/2014/main" id="{2482D3E4-94A9-4340-AC2F-BBB1508CEE8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1D518F74-6CA6-483D-891D-4B668CF4F61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LSTM: estado de celda y salida</a:t>
            </a:r>
          </a:p>
        </p:txBody>
      </p:sp>
      <p:sp>
        <p:nvSpPr>
          <p:cNvPr id="3" name="author">
            <a:extLst xmlns:a="http://schemas.openxmlformats.org/drawingml/2006/main">
              <a:ext uri="{FF2B5EF4-FFF2-40B4-BE49-F238E27FC236}">
                <a16:creationId xmlns:a16="http://schemas.microsoft.com/office/drawing/2014/main" id="{CC38DDB8-D8AA-4664-95BB-A4E860B175A7}"/>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32233224-ED74-41F5-8501-F2A509603164}"/>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07 / 19</a:t>
            </a:r>
          </a:p>
        </p:txBody>
      </p:sp>
      <p:sp>
        <p:nvSpPr>
          <p:cNvPr id="5" name="equation-0">
            <a:extLst xmlns:a="http://schemas.openxmlformats.org/drawingml/2006/main">
              <a:ext uri="{FF2B5EF4-FFF2-40B4-BE49-F238E27FC236}">
                <a16:creationId xmlns:a16="http://schemas.microsoft.com/office/drawing/2014/main" id="{AB4D5D78-F06B-4E25-8B15-A59A0D06A4C1}"/>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cₜ = fₜ ⊙ cₜ₋₁ + iₜ ⊙ gₜ</a:t>
            </a:r>
          </a:p>
        </p:txBody>
      </p:sp>
      <p:sp>
        <p:nvSpPr>
          <p:cNvPr id="6" name="equation-1">
            <a:extLst xmlns:a="http://schemas.openxmlformats.org/drawingml/2006/main">
              <a:ext uri="{FF2B5EF4-FFF2-40B4-BE49-F238E27FC236}">
                <a16:creationId xmlns:a16="http://schemas.microsoft.com/office/drawing/2014/main" id="{D05686A1-5BC7-4EF5-900A-5D989AC7FCD1}"/>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hₜ = oₜ ⊙ tanh(cₜ)</a:t>
            </a:r>
          </a:p>
        </p:txBody>
      </p:sp>
      <p:sp>
        <p:nvSpPr>
          <p:cNvPr id="7" name="label-0">
            <a:extLst xmlns:a="http://schemas.openxmlformats.org/drawingml/2006/main">
              <a:ext uri="{FF2B5EF4-FFF2-40B4-BE49-F238E27FC236}">
                <a16:creationId xmlns:a16="http://schemas.microsoft.com/office/drawing/2014/main" id="{2843AF78-A49D-439D-A3FA-53FAAEC55D73}"/>
              </a:ext>
            </a:extLst>
          </p:cNvPr>
          <p:cNvSpPr>
            <a:spLocks xmlns:a="http://schemas.openxmlformats.org/drawingml/2006/main" noGrp="1"/>
          </p:cNvSpPr>
          <p:nvPr/>
        </p:nvSpPr>
        <p:spPr>
          <a:xfrm xmlns:a="http://schemas.openxmlformats.org/drawingml/2006/main">
            <a:off x="6096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Estado de celda c</a:t>
            </a:r>
          </a:p>
        </p:txBody>
      </p:sp>
      <p:sp>
        <p:nvSpPr>
          <p:cNvPr id="8" name="body-0">
            <a:extLst xmlns:a="http://schemas.openxmlformats.org/drawingml/2006/main">
              <a:ext uri="{FF2B5EF4-FFF2-40B4-BE49-F238E27FC236}">
                <a16:creationId xmlns:a16="http://schemas.microsoft.com/office/drawing/2014/main" id="{49311956-6B33-466C-A2E7-D3F48C7214B1}"/>
              </a:ext>
            </a:extLst>
          </p:cNvPr>
          <p:cNvSpPr>
            <a:spLocks xmlns:a="http://schemas.openxmlformats.org/drawingml/2006/main" noGrp="1"/>
          </p:cNvSpPr>
          <p:nvPr/>
        </p:nvSpPr>
        <p:spPr>
          <a:xfrm xmlns:a="http://schemas.openxmlformats.org/drawingml/2006/main">
            <a:off x="6096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Combina memoria previa y nueva información. Se transmite al siguiente paso.</a:t>
            </a:r>
          </a:p>
        </p:txBody>
      </p:sp>
      <p:sp>
        <p:nvSpPr>
          <p:cNvPr id="9" name="label-1">
            <a:extLst xmlns:a="http://schemas.openxmlformats.org/drawingml/2006/main">
              <a:ext uri="{FF2B5EF4-FFF2-40B4-BE49-F238E27FC236}">
                <a16:creationId xmlns:a16="http://schemas.microsoft.com/office/drawing/2014/main" id="{D36A98F6-81D4-4EE6-BF9A-155548D190E6}"/>
              </a:ext>
            </a:extLst>
          </p:cNvPr>
          <p:cNvSpPr>
            <a:spLocks xmlns:a="http://schemas.openxmlformats.org/drawingml/2006/main" noGrp="1"/>
          </p:cNvSpPr>
          <p:nvPr/>
        </p:nvSpPr>
        <p:spPr>
          <a:xfrm xmlns:a="http://schemas.openxmlformats.org/drawingml/2006/main">
            <a:off x="43942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Estado oculto h</a:t>
            </a:r>
          </a:p>
        </p:txBody>
      </p:sp>
      <p:sp>
        <p:nvSpPr>
          <p:cNvPr id="10" name="body-1">
            <a:extLst xmlns:a="http://schemas.openxmlformats.org/drawingml/2006/main">
              <a:ext uri="{FF2B5EF4-FFF2-40B4-BE49-F238E27FC236}">
                <a16:creationId xmlns:a16="http://schemas.microsoft.com/office/drawing/2014/main" id="{FBD6FB38-26E8-4567-A31C-505C78EC75DF}"/>
              </a:ext>
            </a:extLst>
          </p:cNvPr>
          <p:cNvSpPr>
            <a:spLocks xmlns:a="http://schemas.openxmlformats.org/drawingml/2006/main" noGrp="1"/>
          </p:cNvSpPr>
          <p:nvPr/>
        </p:nvSpPr>
        <p:spPr>
          <a:xfrm xmlns:a="http://schemas.openxmlformats.org/drawingml/2006/main">
            <a:off x="43942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Es la salida recurrente controlada por o. Se utiliza en el siguiente paso y en la predicción.</a:t>
            </a:r>
          </a:p>
        </p:txBody>
      </p:sp>
      <p:sp>
        <p:nvSpPr>
          <p:cNvPr id="11" name="label-2">
            <a:extLst xmlns:a="http://schemas.openxmlformats.org/drawingml/2006/main">
              <a:ext uri="{FF2B5EF4-FFF2-40B4-BE49-F238E27FC236}">
                <a16:creationId xmlns:a16="http://schemas.microsoft.com/office/drawing/2014/main" id="{E23E8BE1-FED7-4A71-8456-97C31811869D}"/>
              </a:ext>
            </a:extLst>
          </p:cNvPr>
          <p:cNvSpPr>
            <a:spLocks xmlns:a="http://schemas.openxmlformats.org/drawingml/2006/main" noGrp="1"/>
          </p:cNvSpPr>
          <p:nvPr/>
        </p:nvSpPr>
        <p:spPr>
          <a:xfrm xmlns:a="http://schemas.openxmlformats.org/drawingml/2006/main">
            <a:off x="8178800" y="3086100"/>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Símbolo ⊙</a:t>
            </a:r>
          </a:p>
        </p:txBody>
      </p:sp>
      <p:sp>
        <p:nvSpPr>
          <p:cNvPr id="12" name="body-2">
            <a:extLst xmlns:a="http://schemas.openxmlformats.org/drawingml/2006/main">
              <a:ext uri="{FF2B5EF4-FFF2-40B4-BE49-F238E27FC236}">
                <a16:creationId xmlns:a16="http://schemas.microsoft.com/office/drawing/2014/main" id="{6C5B22CF-88C3-4832-8FC8-C0C96B0B2436}"/>
              </a:ext>
            </a:extLst>
          </p:cNvPr>
          <p:cNvSpPr>
            <a:spLocks xmlns:a="http://schemas.openxmlformats.org/drawingml/2006/main" noGrp="1"/>
          </p:cNvSpPr>
          <p:nvPr/>
        </p:nvSpPr>
        <p:spPr>
          <a:xfrm xmlns:a="http://schemas.openxmlformats.org/drawingml/2006/main">
            <a:off x="8178800" y="3790950"/>
            <a:ext cx="3403600"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Indica multiplicación elemento a elemento, diferente del producto matricial.</a:t>
            </a:r>
          </a:p>
        </p:txBody>
      </p:sp>
    </p:spTree>
    <p:extLst>
      <p:ext uri="{BB962C8B-B14F-4D97-AF65-F5344CB8AC3E}">
        <p14:creationId xmlns:p14="http://schemas.microsoft.com/office/powerpoint/2010/main" val="66258042"/>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2" name="unit">
            <a:extLst xmlns:a="http://schemas.openxmlformats.org/drawingml/2006/main">
              <a:ext uri="{FF2B5EF4-FFF2-40B4-BE49-F238E27FC236}">
                <a16:creationId xmlns:a16="http://schemas.microsoft.com/office/drawing/2014/main" id="{64096A02-5D2C-4220-BAAE-4811AD04547A}"/>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77CA068F-C192-4409-8C84-D1BB9AB040AC}"/>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Ejemplo numérico de memoria LSTM</a:t>
            </a:r>
          </a:p>
        </p:txBody>
      </p:sp>
      <p:sp>
        <p:nvSpPr>
          <p:cNvPr id="3" name="author">
            <a:extLst xmlns:a="http://schemas.openxmlformats.org/drawingml/2006/main">
              <a:ext uri="{FF2B5EF4-FFF2-40B4-BE49-F238E27FC236}">
                <a16:creationId xmlns:a16="http://schemas.microsoft.com/office/drawing/2014/main" id="{B1A5BF9E-569D-4ED5-918A-6C1D7772C9BF}"/>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091C0D06-8EEB-457E-8978-8A4AFF4726E5}"/>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08 / 19</a:t>
            </a:r>
          </a:p>
        </p:txBody>
      </p:sp>
      <p:sp>
        <p:nvSpPr>
          <p:cNvPr id="5" name="equation-0">
            <a:extLst xmlns:a="http://schemas.openxmlformats.org/drawingml/2006/main">
              <a:ext uri="{FF2B5EF4-FFF2-40B4-BE49-F238E27FC236}">
                <a16:creationId xmlns:a16="http://schemas.microsoft.com/office/drawing/2014/main" id="{6223C95E-2471-488B-8E13-E889A0BFD78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c anterior = 0,6       f = 0,8       i = 0,25       g = -0,4</a:t>
            </a:r>
          </a:p>
        </p:txBody>
      </p:sp>
      <p:sp>
        <p:nvSpPr>
          <p:cNvPr id="6" name="equation-1">
            <a:extLst xmlns:a="http://schemas.openxmlformats.org/drawingml/2006/main">
              <a:ext uri="{FF2B5EF4-FFF2-40B4-BE49-F238E27FC236}">
                <a16:creationId xmlns:a16="http://schemas.microsoft.com/office/drawing/2014/main" id="{509283A9-C221-4F88-A113-A182BA119788}"/>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c nuevo = 0,8 × 0,6 + 0,25 × (-0,4) = 0,38</a:t>
            </a:r>
          </a:p>
        </p:txBody>
      </p:sp>
      <p:sp>
        <p:nvSpPr>
          <p:cNvPr id="7" name="equation-2">
            <a:extLst xmlns:a="http://schemas.openxmlformats.org/drawingml/2006/main">
              <a:ext uri="{FF2B5EF4-FFF2-40B4-BE49-F238E27FC236}">
                <a16:creationId xmlns:a16="http://schemas.microsoft.com/office/drawing/2014/main" id="{98D3EAAE-D6B8-4FAA-9625-C083BE3876DD}"/>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2033"/>
                </a:solidFill>
                <a:latin typeface="DejaVu Sans"/>
                <a:ea typeface="DejaVu Sans"/>
                <a:cs typeface="DejaVu Sans"/>
              </a:defRPr>
            </a:pPr>
            <a:r>
              <a:rPr sz="2250" b="1">
                <a:solidFill>
                  <a:srgbClr val="172033"/>
                </a:solidFill>
                <a:latin typeface="DejaVu Sans"/>
                <a:ea typeface="DejaVu Sans"/>
                <a:cs typeface="DejaVu Sans"/>
              </a:rPr>
              <a:t>o = 0,7       h nuevo = 0,7 × tanh(0,38) ≈ 0,254</a:t>
            </a:r>
          </a:p>
        </p:txBody>
      </p:sp>
      <p:sp>
        <p:nvSpPr>
          <p:cNvPr id="8" name="label-0">
            <a:extLst xmlns:a="http://schemas.openxmlformats.org/drawingml/2006/main">
              <a:ext uri="{FF2B5EF4-FFF2-40B4-BE49-F238E27FC236}">
                <a16:creationId xmlns:a16="http://schemas.microsoft.com/office/drawing/2014/main" id="{D5C668F1-9D7C-4DF3-92AD-D85151C7CC46}"/>
              </a:ext>
            </a:extLst>
          </p:cNvPr>
          <p:cNvSpPr>
            <a:spLocks xmlns:a="http://schemas.openxmlformats.org/drawingml/2006/main" noGrp="1"/>
          </p:cNvSpPr>
          <p:nvPr/>
        </p:nvSpPr>
        <p:spPr>
          <a:xfrm xmlns:a="http://schemas.openxmlformats.org/drawingml/2006/main">
            <a:off x="6096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Lectura</a:t>
            </a:r>
          </a:p>
        </p:txBody>
      </p:sp>
      <p:sp>
        <p:nvSpPr>
          <p:cNvPr id="9" name="body-0">
            <a:extLst xmlns:a="http://schemas.openxmlformats.org/drawingml/2006/main">
              <a:ext uri="{FF2B5EF4-FFF2-40B4-BE49-F238E27FC236}">
                <a16:creationId xmlns:a16="http://schemas.microsoft.com/office/drawing/2014/main" id="{CC90C164-17C0-487B-AD59-B94F05315659}"/>
              </a:ext>
            </a:extLst>
          </p:cNvPr>
          <p:cNvSpPr>
            <a:spLocks xmlns:a="http://schemas.openxmlformats.org/drawingml/2006/main" noGrp="1"/>
          </p:cNvSpPr>
          <p:nvPr/>
        </p:nvSpPr>
        <p:spPr>
          <a:xfrm xmlns:a="http://schemas.openxmlformats.org/drawingml/2006/main">
            <a:off x="6096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 celda conserva 0,48 de la memoria y añade -0,10 de información candidata.</a:t>
            </a:r>
          </a:p>
        </p:txBody>
      </p:sp>
      <p:sp>
        <p:nvSpPr>
          <p:cNvPr id="10" name="label-1">
            <a:extLst xmlns:a="http://schemas.openxmlformats.org/drawingml/2006/main">
              <a:ext uri="{FF2B5EF4-FFF2-40B4-BE49-F238E27FC236}">
                <a16:creationId xmlns:a16="http://schemas.microsoft.com/office/drawing/2014/main" id="{47535392-5912-444E-873B-24D3C47D38C5}"/>
              </a:ext>
            </a:extLst>
          </p:cNvPr>
          <p:cNvSpPr>
            <a:spLocks xmlns:a="http://schemas.openxmlformats.org/drawingml/2006/main" noGrp="1"/>
          </p:cNvSpPr>
          <p:nvPr/>
        </p:nvSpPr>
        <p:spPr>
          <a:xfrm xmlns:a="http://schemas.openxmlformats.org/drawingml/2006/main">
            <a:off x="6286500" y="3590925"/>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Alcance</a:t>
            </a:r>
          </a:p>
        </p:txBody>
      </p:sp>
      <p:sp>
        <p:nvSpPr>
          <p:cNvPr id="11" name="body-1">
            <a:extLst xmlns:a="http://schemas.openxmlformats.org/drawingml/2006/main">
              <a:ext uri="{FF2B5EF4-FFF2-40B4-BE49-F238E27FC236}">
                <a16:creationId xmlns:a16="http://schemas.microsoft.com/office/drawing/2014/main" id="{FDB443C5-C72E-4597-958F-3BC9241E8DC8}"/>
              </a:ext>
            </a:extLst>
          </p:cNvPr>
          <p:cNvSpPr>
            <a:spLocks xmlns:a="http://schemas.openxmlformats.org/drawingml/2006/main" noGrp="1"/>
          </p:cNvSpPr>
          <p:nvPr/>
        </p:nvSpPr>
        <p:spPr>
          <a:xfrm xmlns:a="http://schemas.openxmlformats.org/drawingml/2006/main">
            <a:off x="6286500" y="4295775"/>
            <a:ext cx="52959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Un componente escalar ilustrativo. Las compuertas se aprenden durante el entrenamiento.</a:t>
            </a:r>
          </a:p>
        </p:txBody>
      </p:sp>
    </p:spTree>
    <p:extLst>
      <p:ext uri="{BB962C8B-B14F-4D97-AF65-F5344CB8AC3E}">
        <p14:creationId xmlns:p14="http://schemas.microsoft.com/office/powerpoint/2010/main" val="77608475"/>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3" name="unit">
            <a:extLst xmlns:a="http://schemas.openxmlformats.org/drawingml/2006/main">
              <a:ext uri="{FF2B5EF4-FFF2-40B4-BE49-F238E27FC236}">
                <a16:creationId xmlns:a16="http://schemas.microsoft.com/office/drawing/2014/main" id="{66271E72-28DD-4BDA-8F99-27AB01FB19A0}"/>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3A2EF99F-167F-4C47-9B92-979F46D9341B}"/>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GRU: reinicio y actualización</a:t>
            </a:r>
          </a:p>
        </p:txBody>
      </p:sp>
      <p:sp>
        <p:nvSpPr>
          <p:cNvPr id="3" name="author">
            <a:extLst xmlns:a="http://schemas.openxmlformats.org/drawingml/2006/main">
              <a:ext uri="{FF2B5EF4-FFF2-40B4-BE49-F238E27FC236}">
                <a16:creationId xmlns:a16="http://schemas.microsoft.com/office/drawing/2014/main" id="{A525626C-1C7E-4118-B575-BD9CAEADBC0E}"/>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BFDC6F99-7BD3-4C64-B08B-36E64A387DE7}"/>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09 / 19</a:t>
            </a:r>
          </a:p>
        </p:txBody>
      </p:sp>
      <p:sp>
        <p:nvSpPr>
          <p:cNvPr id="5" name="equation-0">
            <a:extLst xmlns:a="http://schemas.openxmlformats.org/drawingml/2006/main">
              <a:ext uri="{FF2B5EF4-FFF2-40B4-BE49-F238E27FC236}">
                <a16:creationId xmlns:a16="http://schemas.microsoft.com/office/drawing/2014/main" id="{E86CFA74-096B-4059-9802-A4585E2EAE18}"/>
              </a:ext>
            </a:extLst>
          </p:cNvPr>
          <p:cNvSpPr>
            <a:spLocks xmlns:a="http://schemas.openxmlformats.org/drawingml/2006/main" noGrp="1"/>
          </p:cNvSpPr>
          <p:nvPr/>
        </p:nvSpPr>
        <p:spPr>
          <a:xfrm xmlns:a="http://schemas.openxmlformats.org/drawingml/2006/main">
            <a:off x="685800" y="184785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033"/>
                </a:solidFill>
                <a:latin typeface="DejaVu Sans"/>
                <a:ea typeface="DejaVu Sans"/>
                <a:cs typeface="DejaVu Sans"/>
              </a:defRPr>
            </a:pPr>
            <a:r>
              <a:rPr sz="2100" b="1">
                <a:solidFill>
                  <a:srgbClr val="172033"/>
                </a:solidFill>
                <a:latin typeface="DejaVu Sans"/>
                <a:ea typeface="DejaVu Sans"/>
                <a:cs typeface="DejaVu Sans"/>
              </a:rPr>
              <a:t>rₜ = sigmoid(Wr xₜ + Ur hₜ₋₁ + br)</a:t>
            </a:r>
          </a:p>
        </p:txBody>
      </p:sp>
      <p:sp>
        <p:nvSpPr>
          <p:cNvPr id="6" name="equation-1">
            <a:extLst xmlns:a="http://schemas.openxmlformats.org/drawingml/2006/main">
              <a:ext uri="{FF2B5EF4-FFF2-40B4-BE49-F238E27FC236}">
                <a16:creationId xmlns:a16="http://schemas.microsoft.com/office/drawing/2014/main" id="{49677C60-8D3E-482A-9B57-2683B763DD82}"/>
              </a:ext>
            </a:extLst>
          </p:cNvPr>
          <p:cNvSpPr>
            <a:spLocks xmlns:a="http://schemas.openxmlformats.org/drawingml/2006/main" noGrp="1"/>
          </p:cNvSpPr>
          <p:nvPr/>
        </p:nvSpPr>
        <p:spPr>
          <a:xfrm xmlns:a="http://schemas.openxmlformats.org/drawingml/2006/main">
            <a:off x="685800" y="235267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033"/>
                </a:solidFill>
                <a:latin typeface="DejaVu Sans"/>
                <a:ea typeface="DejaVu Sans"/>
                <a:cs typeface="DejaVu Sans"/>
              </a:defRPr>
            </a:pPr>
            <a:r>
              <a:rPr sz="2100" b="1">
                <a:solidFill>
                  <a:srgbClr val="172033"/>
                </a:solidFill>
                <a:latin typeface="DejaVu Sans"/>
                <a:ea typeface="DejaVu Sans"/>
                <a:cs typeface="DejaVu Sans"/>
              </a:rPr>
              <a:t>zₜ = sigmoid(Wz xₜ + Uz hₜ₋₁ + bz)</a:t>
            </a:r>
          </a:p>
        </p:txBody>
      </p:sp>
      <p:sp>
        <p:nvSpPr>
          <p:cNvPr id="7" name="equation-2">
            <a:extLst xmlns:a="http://schemas.openxmlformats.org/drawingml/2006/main">
              <a:ext uri="{FF2B5EF4-FFF2-40B4-BE49-F238E27FC236}">
                <a16:creationId xmlns:a16="http://schemas.microsoft.com/office/drawing/2014/main" id="{DBD5EEFA-179D-4AD9-B6DB-E76F24C3D7BF}"/>
              </a:ext>
            </a:extLst>
          </p:cNvPr>
          <p:cNvSpPr>
            <a:spLocks xmlns:a="http://schemas.openxmlformats.org/drawingml/2006/main" noGrp="1"/>
          </p:cNvSpPr>
          <p:nvPr/>
        </p:nvSpPr>
        <p:spPr>
          <a:xfrm xmlns:a="http://schemas.openxmlformats.org/drawingml/2006/main">
            <a:off x="685800" y="2857500"/>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033"/>
                </a:solidFill>
                <a:latin typeface="DejaVu Sans"/>
                <a:ea typeface="DejaVu Sans"/>
                <a:cs typeface="DejaVu Sans"/>
              </a:defRPr>
            </a:pPr>
            <a:r>
              <a:rPr sz="2100" b="1">
                <a:solidFill>
                  <a:srgbClr val="172033"/>
                </a:solidFill>
                <a:latin typeface="DejaVu Sans"/>
                <a:ea typeface="DejaVu Sans"/>
                <a:cs typeface="DejaVu Sans"/>
              </a:rPr>
              <a:t>nₜ = tanh(Wn xₜ + bn + rₜ ⊙ (Un hₜ₋₁ + bhn))</a:t>
            </a:r>
          </a:p>
        </p:txBody>
      </p:sp>
      <p:sp>
        <p:nvSpPr>
          <p:cNvPr id="8" name="equation-3">
            <a:extLst xmlns:a="http://schemas.openxmlformats.org/drawingml/2006/main">
              <a:ext uri="{FF2B5EF4-FFF2-40B4-BE49-F238E27FC236}">
                <a16:creationId xmlns:a16="http://schemas.microsoft.com/office/drawing/2014/main" id="{38C62FC0-309F-4BF0-8309-997B187CE6EA}"/>
              </a:ext>
            </a:extLst>
          </p:cNvPr>
          <p:cNvSpPr>
            <a:spLocks xmlns:a="http://schemas.openxmlformats.org/drawingml/2006/main" noGrp="1"/>
          </p:cNvSpPr>
          <p:nvPr/>
        </p:nvSpPr>
        <p:spPr>
          <a:xfrm xmlns:a="http://schemas.openxmlformats.org/drawingml/2006/main">
            <a:off x="685800" y="33623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2033"/>
                </a:solidFill>
                <a:latin typeface="DejaVu Sans"/>
                <a:ea typeface="DejaVu Sans"/>
                <a:cs typeface="DejaVu Sans"/>
              </a:defRPr>
            </a:pPr>
            <a:r>
              <a:rPr sz="2100" b="1">
                <a:solidFill>
                  <a:srgbClr val="172033"/>
                </a:solidFill>
                <a:latin typeface="DejaVu Sans"/>
                <a:ea typeface="DejaVu Sans"/>
                <a:cs typeface="DejaVu Sans"/>
              </a:rPr>
              <a:t>hₜ = (1 - zₜ) ⊙ nₜ + zₜ ⊙ hₜ₋₁</a:t>
            </a:r>
          </a:p>
        </p:txBody>
      </p:sp>
      <p:sp>
        <p:nvSpPr>
          <p:cNvPr id="9" name="label-0">
            <a:extLst xmlns:a="http://schemas.openxmlformats.org/drawingml/2006/main">
              <a:ext uri="{FF2B5EF4-FFF2-40B4-BE49-F238E27FC236}">
                <a16:creationId xmlns:a16="http://schemas.microsoft.com/office/drawing/2014/main" id="{E4074ACF-C3B5-4682-9904-9EBE9B4FF901}"/>
              </a:ext>
            </a:extLst>
          </p:cNvPr>
          <p:cNvSpPr>
            <a:spLocks xmlns:a="http://schemas.openxmlformats.org/drawingml/2006/main" noGrp="1"/>
          </p:cNvSpPr>
          <p:nvPr/>
        </p:nvSpPr>
        <p:spPr>
          <a:xfrm xmlns:a="http://schemas.openxmlformats.org/drawingml/2006/main">
            <a:off x="609600" y="409575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Convención utilizada</a:t>
            </a:r>
          </a:p>
        </p:txBody>
      </p:sp>
      <p:sp>
        <p:nvSpPr>
          <p:cNvPr id="10" name="body-0">
            <a:extLst xmlns:a="http://schemas.openxmlformats.org/drawingml/2006/main">
              <a:ext uri="{FF2B5EF4-FFF2-40B4-BE49-F238E27FC236}">
                <a16:creationId xmlns:a16="http://schemas.microsoft.com/office/drawing/2014/main" id="{D664F7C5-86A8-4631-96FD-C82EF9C4D7C2}"/>
              </a:ext>
            </a:extLst>
          </p:cNvPr>
          <p:cNvSpPr>
            <a:spLocks xmlns:a="http://schemas.openxmlformats.org/drawingml/2006/main" noGrp="1"/>
          </p:cNvSpPr>
          <p:nvPr/>
        </p:nvSpPr>
        <p:spPr>
          <a:xfrm xmlns:a="http://schemas.openxmlformats.org/drawingml/2006/main">
            <a:off x="609600" y="4800600"/>
            <a:ext cx="52959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La notación sigue la ubicación del reset y de los sesgos del candidato en PyTorch.</a:t>
            </a:r>
          </a:p>
        </p:txBody>
      </p:sp>
      <p:sp>
        <p:nvSpPr>
          <p:cNvPr id="11" name="label-1">
            <a:extLst xmlns:a="http://schemas.openxmlformats.org/drawingml/2006/main">
              <a:ext uri="{FF2B5EF4-FFF2-40B4-BE49-F238E27FC236}">
                <a16:creationId xmlns:a16="http://schemas.microsoft.com/office/drawing/2014/main" id="{FDC0AA03-D6B0-47E3-9209-DA6F0CEB64C6}"/>
              </a:ext>
            </a:extLst>
          </p:cNvPr>
          <p:cNvSpPr>
            <a:spLocks xmlns:a="http://schemas.openxmlformats.org/drawingml/2006/main" noGrp="1"/>
          </p:cNvSpPr>
          <p:nvPr/>
        </p:nvSpPr>
        <p:spPr>
          <a:xfrm xmlns:a="http://schemas.openxmlformats.org/drawingml/2006/main">
            <a:off x="6286500" y="4095750"/>
            <a:ext cx="52959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Memoria</a:t>
            </a:r>
          </a:p>
        </p:txBody>
      </p:sp>
      <p:sp>
        <p:nvSpPr>
          <p:cNvPr id="12" name="body-1">
            <a:extLst xmlns:a="http://schemas.openxmlformats.org/drawingml/2006/main">
              <a:ext uri="{FF2B5EF4-FFF2-40B4-BE49-F238E27FC236}">
                <a16:creationId xmlns:a16="http://schemas.microsoft.com/office/drawing/2014/main" id="{3808FD9D-7A8C-401D-8E28-64EA6BD78978}"/>
              </a:ext>
            </a:extLst>
          </p:cNvPr>
          <p:cNvSpPr>
            <a:spLocks xmlns:a="http://schemas.openxmlformats.org/drawingml/2006/main" noGrp="1"/>
          </p:cNvSpPr>
          <p:nvPr/>
        </p:nvSpPr>
        <p:spPr>
          <a:xfrm xmlns:a="http://schemas.openxmlformats.org/drawingml/2006/main">
            <a:off x="6286500" y="4800600"/>
            <a:ext cx="529590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2033"/>
                </a:solidFill>
                <a:latin typeface="DejaVu Sans"/>
                <a:ea typeface="DejaVu Sans"/>
                <a:cs typeface="DejaVu Sans"/>
              </a:defRPr>
            </a:pPr>
            <a:r>
              <a:rPr sz="1725" b="0">
                <a:solidFill>
                  <a:srgbClr val="172033"/>
                </a:solidFill>
                <a:latin typeface="DejaVu Sans"/>
                <a:ea typeface="DejaVu Sans"/>
                <a:cs typeface="DejaVu Sans"/>
              </a:rPr>
              <a:t>GRU mantiene un estado recurrente y no un estado de celda separado como LSTM.</a:t>
            </a:r>
          </a:p>
        </p:txBody>
      </p:sp>
    </p:spTree>
    <p:extLst>
      <p:ext uri="{BB962C8B-B14F-4D97-AF65-F5344CB8AC3E}">
        <p14:creationId xmlns:p14="http://schemas.microsoft.com/office/powerpoint/2010/main" val="2037250043"/>
      </p:ext>
    </p:extLst>
  </p:cSld>
</p:sld>
</file>

<file path=ppt/slides/slide10.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E659404A-F1B6-4445-A305-D9560B60A27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942EF469-F162-49DE-830B-6BC708F9CA97}"/>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LSTM, GRU y Transformer</a:t>
            </a:r>
          </a:p>
        </p:txBody>
      </p:sp>
      <p:sp>
        <p:nvSpPr>
          <p:cNvPr id="3" name="author">
            <a:extLst xmlns:a="http://schemas.openxmlformats.org/drawingml/2006/main">
              <a:ext uri="{FF2B5EF4-FFF2-40B4-BE49-F238E27FC236}">
                <a16:creationId xmlns:a16="http://schemas.microsoft.com/office/drawing/2014/main" id="{12FA65CB-1061-4DE5-B13D-57E35538866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4C2FD475-B3A3-4949-BDA2-E3D43BF9EB1E}"/>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10 / 19</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Arquitectura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Mecanismo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Aspecto a evaluar</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LSTM</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Celda y tres compuertas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Capacidad temporal y costo de estados</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GRU</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Dos compuertas y un estado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Compacidad con igual hidden size</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Transformer</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Atención entre posiciones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Máscara causal, contexto y costo</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Todas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Patrones aprendidos del dato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Resultados fuera de muestra y estabilidad</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76722158"/>
      </p:ext>
    </p:extLst>
  </p:cSld>
</p:sld>
</file>

<file path=ppt/slides/slide1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ED7499EB-2B14-472C-8D63-E2E5700843B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F79256F0-38EB-45A1-9B4C-0799314191E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Familias de variables y ablación</a:t>
            </a:r>
          </a:p>
        </p:txBody>
      </p:sp>
      <p:sp>
        <p:nvSpPr>
          <p:cNvPr id="3" name="author">
            <a:extLst xmlns:a="http://schemas.openxmlformats.org/drawingml/2006/main">
              <a:ext uri="{FF2B5EF4-FFF2-40B4-BE49-F238E27FC236}">
                <a16:creationId xmlns:a16="http://schemas.microsoft.com/office/drawing/2014/main" id="{6563FC93-F068-46A6-8AAC-431C6C12E31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8C81C39-F728-4D24-BFDB-BB599D396EF8}"/>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11 / 19</a:t>
            </a:r>
          </a:p>
        </p:txBody>
      </p:sp>
      <p:sp>
        <p:nvSpPr>
          <p:cNvPr id="5" name="label-0">
            <a:extLst xmlns:a="http://schemas.openxmlformats.org/drawingml/2006/main">
              <a:ext uri="{FF2B5EF4-FFF2-40B4-BE49-F238E27FC236}">
                <a16:creationId xmlns:a16="http://schemas.microsoft.com/office/drawing/2014/main" id="{F9B76D15-09B3-4B87-AE72-54AF59D3B0FF}"/>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Univariado</a:t>
            </a:r>
          </a:p>
        </p:txBody>
      </p:sp>
      <p:sp>
        <p:nvSpPr>
          <p:cNvPr id="6" name="body-0">
            <a:extLst xmlns:a="http://schemas.openxmlformats.org/drawingml/2006/main">
              <a:ext uri="{FF2B5EF4-FFF2-40B4-BE49-F238E27FC236}">
                <a16:creationId xmlns:a16="http://schemas.microsoft.com/office/drawing/2014/main" id="{71E4FD85-3D7B-4AC9-B9B5-0C60BE7094EB}"/>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Retorno, precio o una medida de actividad. Permite construir una referencia sencilla.</a:t>
            </a:r>
          </a:p>
        </p:txBody>
      </p:sp>
      <p:sp>
        <p:nvSpPr>
          <p:cNvPr id="7" name="label-1">
            <a:extLst xmlns:a="http://schemas.openxmlformats.org/drawingml/2006/main">
              <a:ext uri="{FF2B5EF4-FFF2-40B4-BE49-F238E27FC236}">
                <a16:creationId xmlns:a16="http://schemas.microsoft.com/office/drawing/2014/main" id="{530FAF6D-BD3B-4C0E-A359-B1B0874C5DBA}"/>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Mercado y red</a:t>
            </a:r>
          </a:p>
        </p:txBody>
      </p:sp>
      <p:sp>
        <p:nvSpPr>
          <p:cNvPr id="8" name="body-1">
            <a:extLst xmlns:a="http://schemas.openxmlformats.org/drawingml/2006/main">
              <a:ext uri="{FF2B5EF4-FFF2-40B4-BE49-F238E27FC236}">
                <a16:creationId xmlns:a16="http://schemas.microsoft.com/office/drawing/2014/main" id="{5BB4180C-B535-483D-848E-E8DAC8E248AF}"/>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Agregar volumen, volatilidad y variables on-chain con disponibilidad documentada.</a:t>
            </a:r>
          </a:p>
        </p:txBody>
      </p:sp>
      <p:sp>
        <p:nvSpPr>
          <p:cNvPr id="9" name="label-2">
            <a:extLst xmlns:a="http://schemas.openxmlformats.org/drawingml/2006/main">
              <a:ext uri="{FF2B5EF4-FFF2-40B4-BE49-F238E27FC236}">
                <a16:creationId xmlns:a16="http://schemas.microsoft.com/office/drawing/2014/main" id="{E6EF996B-F5C2-4798-A717-23AB0C00B442}"/>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Valor incremental</a:t>
            </a:r>
          </a:p>
        </p:txBody>
      </p:sp>
      <p:sp>
        <p:nvSpPr>
          <p:cNvPr id="10" name="body-2">
            <a:extLst xmlns:a="http://schemas.openxmlformats.org/drawingml/2006/main">
              <a:ext uri="{FF2B5EF4-FFF2-40B4-BE49-F238E27FC236}">
                <a16:creationId xmlns:a16="http://schemas.microsoft.com/office/drawing/2014/main" id="{3C9572DF-94AB-4DF7-96C0-2ECCB094E45F}"/>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Retirar cada familia por separado y comparar los mismos períodos, modelos y métricas.</a:t>
            </a:r>
          </a:p>
        </p:txBody>
      </p:sp>
    </p:spTree>
    <p:extLst>
      <p:ext uri="{BB962C8B-B14F-4D97-AF65-F5344CB8AC3E}">
        <p14:creationId xmlns:p14="http://schemas.microsoft.com/office/powerpoint/2010/main" val="838860163"/>
      </p:ext>
    </p:extLst>
  </p:cSld>
</p:sld>
</file>

<file path=ppt/slides/slide1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C8695D90-C297-4C62-A67B-4FE4FB87903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71667C59-5669-4068-92ED-AA6FED484B10}"/>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Cuatro tareas temporales</a:t>
            </a:r>
          </a:p>
        </p:txBody>
      </p:sp>
      <p:sp>
        <p:nvSpPr>
          <p:cNvPr id="3" name="author">
            <a:extLst xmlns:a="http://schemas.openxmlformats.org/drawingml/2006/main">
              <a:ext uri="{FF2B5EF4-FFF2-40B4-BE49-F238E27FC236}">
                <a16:creationId xmlns:a16="http://schemas.microsoft.com/office/drawing/2014/main" id="{5A66C13C-C995-4348-B8A1-7B1682F9391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A7A89BA4-7F07-4CF0-A8FF-E46194542DC2}"/>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12 / 19</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842010">
                <a:tc>
                  <a:txBody>
                    <a:bodyPr>
                      <a:noAutofit/>
                    </a:bodyPr>
                    <a:lstStyle/>
                    <a:p>
                      <a:r>
                        <a:rPr sz="1575" b="1">
                          <a:solidFill>
                            <a:srgbClr val="FFFFFF"/>
                          </a:solidFill>
                          <a:latin typeface="DejaVu Sans"/>
                          <a:ea typeface="DejaVu Sans"/>
                          <a:cs typeface="DejaVu Sans"/>
                        </a:rPr>
                        <a:t>Objetivo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Salida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Control principal</a:t>
                      </a:r>
                    </a:p>
                  </a:txBody>
                  <a:tcPr marL="114300" marR="114300" marT="76200" marB="76200" anchor="ctr">
                    <a:solidFill>
                      <a:srgbClr val="0B1020"/>
                    </a:solidFill>
                  </a:tcPr>
                </a:tc>
              </a:tr>
              <a:tr h="842010">
                <a:tc>
                  <a:txBody>
                    <a:bodyPr>
                      <a:noAutofit/>
                    </a:bodyPr>
                    <a:lstStyle/>
                    <a:p>
                      <a:r>
                        <a:rPr sz="1688" b="1">
                          <a:solidFill>
                            <a:srgbClr val="172033"/>
                          </a:solidFill>
                          <a:latin typeface="DejaVu Sans"/>
                          <a:ea typeface="DejaVu Sans"/>
                          <a:cs typeface="DejaVu Sans"/>
                        </a:rPr>
                        <a:t>Retorno</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Valor real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Unidades y baseline de retorno</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Dirección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Probabilidad de subida</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Calibración, tasa base y umbral</a:t>
                      </a:r>
                    </a:p>
                  </a:txBody>
                  <a:tcPr marL="114300" marR="114300" marT="76200" marB="76200" anchor="ctr">
                    <a:solidFill>
                      <a:srgbClr val="EEF2F7"/>
                    </a:solidFill>
                  </a:tcPr>
                </a:tc>
              </a:tr>
              <a:tr h="842010">
                <a:tc>
                  <a:txBody>
                    <a:bodyPr>
                      <a:noAutofit/>
                    </a:bodyPr>
                    <a:lstStyle/>
                    <a:p>
                      <a:r>
                        <a:rPr sz="1688" b="1">
                          <a:solidFill>
                            <a:srgbClr val="172033"/>
                          </a:solidFill>
                          <a:latin typeface="DejaVu Sans"/>
                          <a:ea typeface="DejaVu Sans"/>
                          <a:cs typeface="DejaVu Sans"/>
                        </a:rPr>
                        <a:t>Volatilidad</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Varianza o volatilidad positiva</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Horizonte y target realizados</a:t>
                      </a:r>
                    </a:p>
                  </a:txBody>
                  <a:tcPr marL="114300" marR="114300" marT="76200" marB="76200" anchor="ctr">
                    <a:solidFill>
                      <a:srgbClr val="FFFFFF"/>
                    </a:solidFill>
                  </a:tcPr>
                </a:tc>
              </a:tr>
              <a:tr h="842010">
                <a:tc>
                  <a:txBody>
                    <a:bodyPr>
                      <a:noAutofit/>
                    </a:bodyPr>
                    <a:lstStyle/>
                    <a:p>
                      <a:r>
                        <a:rPr sz="1688" b="1">
                          <a:solidFill>
                            <a:srgbClr val="172033"/>
                          </a:solidFill>
                          <a:latin typeface="DejaVu Sans"/>
                          <a:ea typeface="DejaVu Sans"/>
                          <a:cs typeface="DejaVu Sans"/>
                        </a:rPr>
                        <a:t>Régimen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Probabilidad por estado</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Reglas de etiqueta y disponibilidad</a:t>
                      </a:r>
                    </a:p>
                  </a:txBody>
                  <a:tcPr marL="114300" marR="114300" marT="76200" marB="76200" anchor="ctr">
                    <a:solidFill>
                      <a:srgbClr val="EEF2F7"/>
                    </a:solidFill>
                  </a:tcPr>
                </a:tc>
              </a:tr>
            </a:tbl>
          </a:graphicData>
        </a:graphic>
      </p:graphicFrame>
    </p:spTree>
    <p:extLst>
      <p:ext uri="{BB962C8B-B14F-4D97-AF65-F5344CB8AC3E}">
        <p14:creationId xmlns:p14="http://schemas.microsoft.com/office/powerpoint/2010/main" val="1762702499"/>
      </p:ext>
    </p:extLst>
  </p:cSld>
</p:sld>
</file>

<file path=ppt/slides/slide1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E87D67B8-5443-4EBA-9006-E5B6F090C5C6}"/>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95D82DC9-F369-4FCB-B849-D7F06C1431CC}"/>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Preprocesamiento por fold</a:t>
            </a:r>
          </a:p>
        </p:txBody>
      </p:sp>
      <p:sp>
        <p:nvSpPr>
          <p:cNvPr id="3" name="author">
            <a:extLst xmlns:a="http://schemas.openxmlformats.org/drawingml/2006/main">
              <a:ext uri="{FF2B5EF4-FFF2-40B4-BE49-F238E27FC236}">
                <a16:creationId xmlns:a16="http://schemas.microsoft.com/office/drawing/2014/main" id="{E55D84E0-3AA5-408F-85B8-FBAF3194196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A567599C-C4E5-4986-B9C2-0D868DCFC767}"/>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13 / 19</a:t>
            </a:r>
          </a:p>
        </p:txBody>
      </p:sp>
      <p:sp>
        <p:nvSpPr>
          <p:cNvPr id="5" name="label-0">
            <a:extLst xmlns:a="http://schemas.openxmlformats.org/drawingml/2006/main">
              <a:ext uri="{FF2B5EF4-FFF2-40B4-BE49-F238E27FC236}">
                <a16:creationId xmlns:a16="http://schemas.microsoft.com/office/drawing/2014/main" id="{78803462-1A82-4705-97B2-907CD2EC8792}"/>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Ajuste</a:t>
            </a:r>
          </a:p>
        </p:txBody>
      </p:sp>
      <p:sp>
        <p:nvSpPr>
          <p:cNvPr id="6" name="body-0">
            <a:extLst xmlns:a="http://schemas.openxmlformats.org/drawingml/2006/main">
              <a:ext uri="{FF2B5EF4-FFF2-40B4-BE49-F238E27FC236}">
                <a16:creationId xmlns:a16="http://schemas.microsoft.com/office/drawing/2014/main" id="{EE3E0085-5BF3-4851-A6AD-86E2C644BAA0}"/>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Estimar scaler, imputación y selección de variables con entrenamiento.</a:t>
            </a:r>
          </a:p>
        </p:txBody>
      </p:sp>
      <p:sp>
        <p:nvSpPr>
          <p:cNvPr id="7" name="label-1">
            <a:extLst xmlns:a="http://schemas.openxmlformats.org/drawingml/2006/main">
              <a:ext uri="{FF2B5EF4-FFF2-40B4-BE49-F238E27FC236}">
                <a16:creationId xmlns:a16="http://schemas.microsoft.com/office/drawing/2014/main" id="{DBCEAABF-CC18-4071-BF1E-C0A85269632F}"/>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Transformación</a:t>
            </a:r>
          </a:p>
        </p:txBody>
      </p:sp>
      <p:sp>
        <p:nvSpPr>
          <p:cNvPr id="8" name="body-1">
            <a:extLst xmlns:a="http://schemas.openxmlformats.org/drawingml/2006/main">
              <a:ext uri="{FF2B5EF4-FFF2-40B4-BE49-F238E27FC236}">
                <a16:creationId xmlns:a16="http://schemas.microsoft.com/office/drawing/2014/main" id="{37E1F305-4FA0-43F8-961C-A4760CFBB405}"/>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Aplicar esas transformaciones congeladas a validación y prueba.</a:t>
            </a:r>
          </a:p>
        </p:txBody>
      </p:sp>
      <p:sp>
        <p:nvSpPr>
          <p:cNvPr id="9" name="label-2">
            <a:extLst xmlns:a="http://schemas.openxmlformats.org/drawingml/2006/main">
              <a:ext uri="{FF2B5EF4-FFF2-40B4-BE49-F238E27FC236}">
                <a16:creationId xmlns:a16="http://schemas.microsoft.com/office/drawing/2014/main" id="{B2443978-6741-4685-A399-531170DC18E6}"/>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Ventanas</a:t>
            </a:r>
          </a:p>
        </p:txBody>
      </p:sp>
      <p:sp>
        <p:nvSpPr>
          <p:cNvPr id="10" name="body-2">
            <a:extLst xmlns:a="http://schemas.openxmlformats.org/drawingml/2006/main">
              <a:ext uri="{FF2B5EF4-FFF2-40B4-BE49-F238E27FC236}">
                <a16:creationId xmlns:a16="http://schemas.microsoft.com/office/drawing/2014/main" id="{F73FE703-A491-4266-B5F5-BD71BF9827FA}"/>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Construir ejemplos según el origen de decisión, la longitud L y la maduración de la etiqueta.</a:t>
            </a:r>
          </a:p>
        </p:txBody>
      </p:sp>
    </p:spTree>
    <p:extLst>
      <p:ext uri="{BB962C8B-B14F-4D97-AF65-F5344CB8AC3E}">
        <p14:creationId xmlns:p14="http://schemas.microsoft.com/office/powerpoint/2010/main" val="437348229"/>
      </p:ext>
    </p:extLst>
  </p:cSld>
</p:sld>
</file>

<file path=ppt/slides/slide1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unit">
            <a:extLst xmlns:a="http://schemas.openxmlformats.org/drawingml/2006/main">
              <a:ext uri="{FF2B5EF4-FFF2-40B4-BE49-F238E27FC236}">
                <a16:creationId xmlns:a16="http://schemas.microsoft.com/office/drawing/2014/main" id="{E3C0C361-D489-47EF-AFAD-11DD3F2066E2}"/>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DD2A42F1-35DF-4B27-B420-FC29EE155193}"/>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Entrenamiento walk-forward</a:t>
            </a:r>
          </a:p>
        </p:txBody>
      </p:sp>
      <p:sp>
        <p:nvSpPr>
          <p:cNvPr id="3" name="author">
            <a:extLst xmlns:a="http://schemas.openxmlformats.org/drawingml/2006/main">
              <a:ext uri="{FF2B5EF4-FFF2-40B4-BE49-F238E27FC236}">
                <a16:creationId xmlns:a16="http://schemas.microsoft.com/office/drawing/2014/main" id="{1DC65863-1BBA-40A8-AF97-A8E6FE5054D9}"/>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D6F7CABD-B41C-495A-8F30-8AC99E3B8B0A}"/>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14 / 19</a:t>
            </a:r>
          </a:p>
        </p:txBody>
      </p:sp>
      <p:sp>
        <p:nvSpPr>
          <p:cNvPr id="5" name="code">
            <a:extLst xmlns:a="http://schemas.openxmlformats.org/drawingml/2006/main">
              <a:ext uri="{FF2B5EF4-FFF2-40B4-BE49-F238E27FC236}">
                <a16:creationId xmlns:a16="http://schemas.microsoft.com/office/drawing/2014/main" id="{9D15BDAF-A17C-43BE-8AB8-F9008649698C}"/>
              </a:ext>
            </a:extLst>
          </p:cNvPr>
          <p:cNvSpPr>
            <a:spLocks xmlns:a="http://schemas.openxmlformats.org/drawingml/2006/main" noGrp="1"/>
          </p:cNvSpPr>
          <p:nvPr/>
        </p:nvSpPr>
        <p:spPr>
          <a:xfrm xmlns:a="http://schemas.openxmlformats.org/drawingml/2006/main">
            <a:off x="609600" y="1762125"/>
            <a:ext cx="10972800" cy="3819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for corte in cortes_temporales:</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train = ejemplos_con_etiqueta_observada(corte)</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valid, test = bloques_posteriores(corte)</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scaler.fit(train.X)</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train_X = scaler.transform(train.X)</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valid_X = scaler.transform(valid.X)</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test_X  = scaler.transform(test.X)</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modelo = crear_modelo(configuracion)</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modelo.fit(train_X, train.y, valid_X, valid.y)</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pred = modelo.predict(test_X)</a:t>
            </a:r>
          </a:p>
          <a:p xmlns:a="http://schemas.openxmlformats.org/drawingml/2006/main">
            <a:pPr>
              <a:defRPr sz="1650" b="0">
                <a:solidFill>
                  <a:srgbClr val="172033"/>
                </a:solidFill>
                <a:latin typeface="DejaVu Sans Mono"/>
                <a:ea typeface="DejaVu Sans Mono"/>
                <a:cs typeface="DejaVu Sans Mono"/>
              </a:defRPr>
            </a:pPr>
            <a:r>
              <a:rPr sz="1650" b="0">
                <a:solidFill>
                  <a:srgbClr val="172033"/>
                </a:solidFill>
                <a:latin typeface="DejaVu Sans Mono"/>
                <a:ea typeface="DejaVu Sans Mono"/>
                <a:cs typeface="DejaVu Sans Mono"/>
              </a:rPr>
              <a:t>    guardar_predicciones_y_metricas(test.y, pred)</a:t>
            </a:r>
          </a:p>
        </p:txBody>
      </p:sp>
      <p:sp>
        <p:nvSpPr>
          <p:cNvPr id="6" name="caption">
            <a:extLst xmlns:a="http://schemas.openxmlformats.org/drawingml/2006/main">
              <a:ext uri="{FF2B5EF4-FFF2-40B4-BE49-F238E27FC236}">
                <a16:creationId xmlns:a16="http://schemas.microsoft.com/office/drawing/2014/main" id="{E1CBD5ED-5118-4751-B2A0-A365FF5932E8}"/>
              </a:ext>
            </a:extLst>
          </p:cNvPr>
          <p:cNvSpPr>
            <a:spLocks xmlns:a="http://schemas.openxmlformats.org/drawingml/2006/main" noGrp="1"/>
          </p:cNvSpPr>
          <p:nvPr/>
        </p:nvSpPr>
        <p:spPr>
          <a:xfrm xmlns:a="http://schemas.openxmlformats.org/drawingml/2006/main">
            <a:off x="609600" y="58293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7C3AED"/>
                </a:solidFill>
                <a:latin typeface="DejaVu Sans"/>
                <a:ea typeface="DejaVu Sans"/>
                <a:cs typeface="DejaVu Sans"/>
              </a:defRPr>
            </a:pPr>
            <a:r>
              <a:rPr sz="1650" b="1">
                <a:solidFill>
                  <a:srgbClr val="7C3AED"/>
                </a:solidFill>
                <a:latin typeface="DejaVu Sans"/>
                <a:ea typeface="DejaVu Sans"/>
                <a:cs typeface="DejaVu Sans"/>
              </a:rPr>
              <a:t>Pseudocódigo conceptual. La configuración se elige con validación temporal.</a:t>
            </a:r>
          </a:p>
        </p:txBody>
      </p:sp>
    </p:spTree>
    <p:extLst>
      <p:ext uri="{BB962C8B-B14F-4D97-AF65-F5344CB8AC3E}">
        <p14:creationId xmlns:p14="http://schemas.microsoft.com/office/powerpoint/2010/main" val="1745643829"/>
      </p:ext>
    </p:extLst>
  </p:cSld>
</p:sld>
</file>

<file path=ppt/slides/slide1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535461CE-8100-4CB0-A88F-BE020AB24ED5}"/>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ED43FB6C-1B67-49EA-8977-281E9CF57C0A}"/>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Hiperparámetros y estabilidad</a:t>
            </a:r>
          </a:p>
        </p:txBody>
      </p:sp>
      <p:sp>
        <p:nvSpPr>
          <p:cNvPr id="3" name="author">
            <a:extLst xmlns:a="http://schemas.openxmlformats.org/drawingml/2006/main">
              <a:ext uri="{FF2B5EF4-FFF2-40B4-BE49-F238E27FC236}">
                <a16:creationId xmlns:a16="http://schemas.microsoft.com/office/drawing/2014/main" id="{5EE51D1E-8E1D-426E-8DDB-AACAF026E25D}"/>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C2040C09-5B5D-41F9-8EBD-DDAEA7D3B2B6}"/>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15 / 19</a:t>
            </a:r>
          </a:p>
        </p:txBody>
      </p:sp>
      <p:sp>
        <p:nvSpPr>
          <p:cNvPr id="5" name="label-0">
            <a:extLst xmlns:a="http://schemas.openxmlformats.org/drawingml/2006/main">
              <a:ext uri="{FF2B5EF4-FFF2-40B4-BE49-F238E27FC236}">
                <a16:creationId xmlns:a16="http://schemas.microsoft.com/office/drawing/2014/main" id="{62342E52-0349-49D4-B2FA-5E72975CC325}"/>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Diseño de búsqueda</a:t>
            </a:r>
          </a:p>
        </p:txBody>
      </p:sp>
      <p:sp>
        <p:nvSpPr>
          <p:cNvPr id="6" name="body-0">
            <a:extLst xmlns:a="http://schemas.openxmlformats.org/drawingml/2006/main">
              <a:ext uri="{FF2B5EF4-FFF2-40B4-BE49-F238E27FC236}">
                <a16:creationId xmlns:a16="http://schemas.microsoft.com/office/drawing/2014/main" id="{6228D13D-EC07-47AA-84D7-69BB0CB5201D}"/>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Comparar lookback, hidden size, capas y learning rate con un presupuesto controlado.</a:t>
            </a:r>
          </a:p>
        </p:txBody>
      </p:sp>
      <p:sp>
        <p:nvSpPr>
          <p:cNvPr id="7" name="label-1">
            <a:extLst xmlns:a="http://schemas.openxmlformats.org/drawingml/2006/main">
              <a:ext uri="{FF2B5EF4-FFF2-40B4-BE49-F238E27FC236}">
                <a16:creationId xmlns:a16="http://schemas.microsoft.com/office/drawing/2014/main" id="{D4F727F9-AA82-4F61-A33A-48D6EA2ABD7C}"/>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Sobreajuste</a:t>
            </a:r>
          </a:p>
        </p:txBody>
      </p:sp>
      <p:sp>
        <p:nvSpPr>
          <p:cNvPr id="8" name="body-1">
            <a:extLst xmlns:a="http://schemas.openxmlformats.org/drawingml/2006/main">
              <a:ext uri="{FF2B5EF4-FFF2-40B4-BE49-F238E27FC236}">
                <a16:creationId xmlns:a16="http://schemas.microsoft.com/office/drawing/2014/main" id="{6113CA41-9006-4C2B-8540-6F0858DBCBC0}"/>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Seguir curvas de train y validación, aplicar regularización y recuperar el mejor checkpoint.</a:t>
            </a:r>
          </a:p>
        </p:txBody>
      </p:sp>
      <p:sp>
        <p:nvSpPr>
          <p:cNvPr id="9" name="label-2">
            <a:extLst xmlns:a="http://schemas.openxmlformats.org/drawingml/2006/main">
              <a:ext uri="{FF2B5EF4-FFF2-40B4-BE49-F238E27FC236}">
                <a16:creationId xmlns:a16="http://schemas.microsoft.com/office/drawing/2014/main" id="{415296A6-D2F0-410D-9C35-B635D93BDB24}"/>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Variabilidad</a:t>
            </a:r>
          </a:p>
        </p:txBody>
      </p:sp>
      <p:sp>
        <p:nvSpPr>
          <p:cNvPr id="10" name="body-2">
            <a:extLst xmlns:a="http://schemas.openxmlformats.org/drawingml/2006/main">
              <a:ext uri="{FF2B5EF4-FFF2-40B4-BE49-F238E27FC236}">
                <a16:creationId xmlns:a16="http://schemas.microsoft.com/office/drawing/2014/main" id="{0D0B461A-3359-4520-90ED-0BA10FE80B89}"/>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Repetir con varias semillas y reportar resultados por fold, además de la media.</a:t>
            </a:r>
          </a:p>
        </p:txBody>
      </p:sp>
    </p:spTree>
    <p:extLst>
      <p:ext uri="{BB962C8B-B14F-4D97-AF65-F5344CB8AC3E}">
        <p14:creationId xmlns:p14="http://schemas.microsoft.com/office/powerpoint/2010/main" val="1911484935"/>
      </p:ext>
    </p:extLst>
  </p:cSld>
</p:sld>
</file>

<file path=ppt/slides/slide1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1" name="unit">
            <a:extLst xmlns:a="http://schemas.openxmlformats.org/drawingml/2006/main">
              <a:ext uri="{FF2B5EF4-FFF2-40B4-BE49-F238E27FC236}">
                <a16:creationId xmlns:a16="http://schemas.microsoft.com/office/drawing/2014/main" id="{ABB2C624-5A26-4069-9611-11735EB15D28}"/>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AF3979E4-CBE5-424C-A876-9BE4D951C603}"/>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Evaluación y límites del pronóstico</a:t>
            </a:r>
          </a:p>
        </p:txBody>
      </p:sp>
      <p:sp>
        <p:nvSpPr>
          <p:cNvPr id="3" name="author">
            <a:extLst xmlns:a="http://schemas.openxmlformats.org/drawingml/2006/main">
              <a:ext uri="{FF2B5EF4-FFF2-40B4-BE49-F238E27FC236}">
                <a16:creationId xmlns:a16="http://schemas.microsoft.com/office/drawing/2014/main" id="{9B749A2D-F80D-4C5D-850D-0ACCB96C9CB3}"/>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1EACAA59-FC43-4EC9-9A5F-E032B9CBCB4B}"/>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16 / 19</a:t>
            </a:r>
          </a:p>
        </p:txBody>
      </p:sp>
      <p:sp>
        <p:nvSpPr>
          <p:cNvPr id="5" name="label-0">
            <a:extLst xmlns:a="http://schemas.openxmlformats.org/drawingml/2006/main">
              <a:ext uri="{FF2B5EF4-FFF2-40B4-BE49-F238E27FC236}">
                <a16:creationId xmlns:a16="http://schemas.microsoft.com/office/drawing/2014/main" id="{DD921E7B-D523-434C-9E7A-88BE55CDE41E}"/>
              </a:ext>
            </a:extLst>
          </p:cNvPr>
          <p:cNvSpPr>
            <a:spLocks xmlns:a="http://schemas.openxmlformats.org/drawingml/2006/main" noGrp="1"/>
          </p:cNvSpPr>
          <p:nvPr/>
        </p:nvSpPr>
        <p:spPr>
          <a:xfrm xmlns:a="http://schemas.openxmlformats.org/drawingml/2006/main">
            <a:off x="6096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Error y dirección</a:t>
            </a:r>
          </a:p>
        </p:txBody>
      </p:sp>
      <p:sp>
        <p:nvSpPr>
          <p:cNvPr id="6" name="body-0">
            <a:extLst xmlns:a="http://schemas.openxmlformats.org/drawingml/2006/main">
              <a:ext uri="{FF2B5EF4-FFF2-40B4-BE49-F238E27FC236}">
                <a16:creationId xmlns:a16="http://schemas.microsoft.com/office/drawing/2014/main" id="{A8BA6203-2397-4F5C-AE37-CA0186DEEEB8}"/>
              </a:ext>
            </a:extLst>
          </p:cNvPr>
          <p:cNvSpPr>
            <a:spLocks xmlns:a="http://schemas.openxmlformats.org/drawingml/2006/main" noGrp="1"/>
          </p:cNvSpPr>
          <p:nvPr/>
        </p:nvSpPr>
        <p:spPr>
          <a:xfrm xmlns:a="http://schemas.openxmlformats.org/drawingml/2006/main">
            <a:off x="6096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Reportar métricas fuera de muestra, errores por período y comparación con referencias sencillas.</a:t>
            </a:r>
          </a:p>
        </p:txBody>
      </p:sp>
      <p:sp>
        <p:nvSpPr>
          <p:cNvPr id="7" name="label-1">
            <a:extLst xmlns:a="http://schemas.openxmlformats.org/drawingml/2006/main">
              <a:ext uri="{FF2B5EF4-FFF2-40B4-BE49-F238E27FC236}">
                <a16:creationId xmlns:a16="http://schemas.microsoft.com/office/drawing/2014/main" id="{97C87241-941E-4EEB-B7EF-A8CB61E5AC56}"/>
              </a:ext>
            </a:extLst>
          </p:cNvPr>
          <p:cNvSpPr>
            <a:spLocks xmlns:a="http://schemas.openxmlformats.org/drawingml/2006/main" noGrp="1"/>
          </p:cNvSpPr>
          <p:nvPr/>
        </p:nvSpPr>
        <p:spPr>
          <a:xfrm xmlns:a="http://schemas.openxmlformats.org/drawingml/2006/main">
            <a:off x="43942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Información imprevisible</a:t>
            </a:r>
          </a:p>
        </p:txBody>
      </p:sp>
      <p:sp>
        <p:nvSpPr>
          <p:cNvPr id="8" name="body-1">
            <a:extLst xmlns:a="http://schemas.openxmlformats.org/drawingml/2006/main">
              <a:ext uri="{FF2B5EF4-FFF2-40B4-BE49-F238E27FC236}">
                <a16:creationId xmlns:a16="http://schemas.microsoft.com/office/drawing/2014/main" id="{1443D364-DF6D-4FCA-8D01-3B2D0CBB4E9F}"/>
              </a:ext>
            </a:extLst>
          </p:cNvPr>
          <p:cNvSpPr>
            <a:spLocks xmlns:a="http://schemas.openxmlformats.org/drawingml/2006/main" noGrp="1"/>
          </p:cNvSpPr>
          <p:nvPr/>
        </p:nvSpPr>
        <p:spPr>
          <a:xfrm xmlns:a="http://schemas.openxmlformats.org/drawingml/2006/main">
            <a:off x="43942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Eventos regulatorios, incidentes y shocks pueden cambiar la distribución del dato.</a:t>
            </a:r>
          </a:p>
        </p:txBody>
      </p:sp>
      <p:sp>
        <p:nvSpPr>
          <p:cNvPr id="9" name="label-2">
            <a:extLst xmlns:a="http://schemas.openxmlformats.org/drawingml/2006/main">
              <a:ext uri="{FF2B5EF4-FFF2-40B4-BE49-F238E27FC236}">
                <a16:creationId xmlns:a16="http://schemas.microsoft.com/office/drawing/2014/main" id="{01DB8D7D-E055-46D9-B865-772EBFBBDE0C}"/>
              </a:ext>
            </a:extLst>
          </p:cNvPr>
          <p:cNvSpPr>
            <a:spLocks xmlns:a="http://schemas.openxmlformats.org/drawingml/2006/main" noGrp="1"/>
          </p:cNvSpPr>
          <p:nvPr/>
        </p:nvSpPr>
        <p:spPr>
          <a:xfrm xmlns:a="http://schemas.openxmlformats.org/drawingml/2006/main">
            <a:off x="8178800" y="1952625"/>
            <a:ext cx="3403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7C3AED"/>
                </a:solidFill>
                <a:latin typeface="DejaVu Sans"/>
                <a:ea typeface="DejaVu Sans"/>
                <a:cs typeface="DejaVu Sans"/>
              </a:defRPr>
            </a:pPr>
            <a:r>
              <a:rPr sz="2025" b="1">
                <a:solidFill>
                  <a:srgbClr val="7C3AED"/>
                </a:solidFill>
                <a:latin typeface="DejaVu Sans"/>
                <a:ea typeface="DejaVu Sans"/>
                <a:cs typeface="DejaVu Sans"/>
              </a:rPr>
              <a:t>Uso económico</a:t>
            </a:r>
          </a:p>
        </p:txBody>
      </p:sp>
      <p:sp>
        <p:nvSpPr>
          <p:cNvPr id="10" name="body-2">
            <a:extLst xmlns:a="http://schemas.openxmlformats.org/drawingml/2006/main">
              <a:ext uri="{FF2B5EF4-FFF2-40B4-BE49-F238E27FC236}">
                <a16:creationId xmlns:a16="http://schemas.microsoft.com/office/drawing/2014/main" id="{86ADB198-E2CE-407A-82B8-C6A878A27859}"/>
              </a:ext>
            </a:extLst>
          </p:cNvPr>
          <p:cNvSpPr>
            <a:spLocks xmlns:a="http://schemas.openxmlformats.org/drawingml/2006/main" noGrp="1"/>
          </p:cNvSpPr>
          <p:nvPr/>
        </p:nvSpPr>
        <p:spPr>
          <a:xfrm xmlns:a="http://schemas.openxmlformats.org/drawingml/2006/main">
            <a:off x="8178800" y="2657475"/>
            <a:ext cx="3403600" cy="3295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2033"/>
                </a:solidFill>
                <a:latin typeface="DejaVu Sans"/>
                <a:ea typeface="DejaVu Sans"/>
                <a:cs typeface="DejaVu Sans"/>
              </a:defRPr>
            </a:pPr>
            <a:r>
              <a:rPr sz="1875" b="0">
                <a:solidFill>
                  <a:srgbClr val="172033"/>
                </a:solidFill>
                <a:latin typeface="DejaVu Sans"/>
                <a:ea typeface="DejaVu Sans"/>
                <a:cs typeface="DejaVu Sans"/>
              </a:rPr>
              <a:t>Una estrategia exige decisiones, costos y ejecución definidos. La precisión sola no establece su resultado.</a:t>
            </a:r>
          </a:p>
        </p:txBody>
      </p:sp>
    </p:spTree>
    <p:extLst>
      <p:ext uri="{BB962C8B-B14F-4D97-AF65-F5344CB8AC3E}">
        <p14:creationId xmlns:p14="http://schemas.microsoft.com/office/powerpoint/2010/main" val="1451341982"/>
      </p:ext>
    </p:extLst>
  </p:cSld>
</p:sld>
</file>

<file path=ppt/slides/slide1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unit">
            <a:extLst xmlns:a="http://schemas.openxmlformats.org/drawingml/2006/main">
              <a:ext uri="{FF2B5EF4-FFF2-40B4-BE49-F238E27FC236}">
                <a16:creationId xmlns:a16="http://schemas.microsoft.com/office/drawing/2014/main" id="{2CA49F8A-AE4F-432A-83FF-6DA78EA3B270}"/>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C578785B-4135-45EC-AC4D-1E2568D4AB94}"/>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Actividad LSTM/GRU</a:t>
            </a:r>
          </a:p>
        </p:txBody>
      </p:sp>
      <p:sp>
        <p:nvSpPr>
          <p:cNvPr id="3" name="author">
            <a:extLst xmlns:a="http://schemas.openxmlformats.org/drawingml/2006/main">
              <a:ext uri="{FF2B5EF4-FFF2-40B4-BE49-F238E27FC236}">
                <a16:creationId xmlns:a16="http://schemas.microsoft.com/office/drawing/2014/main" id="{31D87F3E-F0F9-4385-AD28-477BEAB367B8}"/>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438EA7CA-795E-4B18-B664-9B27A725E552}"/>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17 / 19</a:t>
            </a:r>
          </a:p>
        </p:txBody>
      </p:sp>
      <p:graphicFrame>
        <p:nvGraphicFramePr>
          <p:cNvPr id="10" name=""/>
          <p:cNvGraphicFramePr/>
          <p:nvPr/>
        </p:nvGraphicFramePr>
        <p:xfrm>
          <a:off xmlns:a="http://schemas.openxmlformats.org/drawingml/2006/main" x="609600" y="1771650"/>
          <a:ext xmlns:a="http://schemas.openxmlformats.org/drawingml/2006/main" cx="10972800" cy="4210050"/>
        </p:xfrm>
        <a:graphic xmlns:a="http://schemas.openxmlformats.org/drawingml/2006/main">
          <a:graphicData uri="http://schemas.openxmlformats.org/drawingml/2006/table">
            <a:tbl>
              <a:tblPr firstRow="1" bandRow="0"/>
              <a:tblGrid>
                <a:gridCol w="2504661"/>
                <a:gridCol w="3578087"/>
                <a:gridCol w="4890052"/>
              </a:tblGrid>
              <a:tr h="701675">
                <a:tc>
                  <a:txBody>
                    <a:bodyPr>
                      <a:noAutofit/>
                    </a:bodyPr>
                    <a:lstStyle/>
                    <a:p>
                      <a:r>
                        <a:rPr sz="1575" b="1">
                          <a:solidFill>
                            <a:srgbClr val="FFFFFF"/>
                          </a:solidFill>
                          <a:latin typeface="DejaVu Sans"/>
                          <a:ea typeface="DejaVu Sans"/>
                          <a:cs typeface="DejaVu Sans"/>
                        </a:rPr>
                        <a:t>Etapa</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Trabajo</a:t>
                      </a:r>
                    </a:p>
                  </a:txBody>
                  <a:tcPr marL="114300" marR="114300" marT="76200" marB="76200" anchor="ctr">
                    <a:solidFill>
                      <a:srgbClr val="0B1020"/>
                    </a:solidFill>
                  </a:tcPr>
                </a:tc>
                <a:tc>
                  <a:txBody>
                    <a:bodyPr>
                      <a:noAutofit/>
                    </a:bodyPr>
                    <a:lstStyle/>
                    <a:p>
                      <a:r>
                        <a:rPr sz="1575" b="1">
                          <a:solidFill>
                            <a:srgbClr val="FFFFFF"/>
                          </a:solidFill>
                          <a:latin typeface="DejaVu Sans"/>
                          <a:ea typeface="DejaVu Sans"/>
                          <a:cs typeface="DejaVu Sans"/>
                        </a:rPr>
                        <a:t>Evidencia</a:t>
                      </a:r>
                    </a:p>
                  </a:txBody>
                  <a:tcPr marL="114300" marR="114300" marT="76200" marB="76200" anchor="ctr">
                    <a:solidFill>
                      <a:srgbClr val="0B1020"/>
                    </a:solidFill>
                  </a:tcPr>
                </a:tc>
              </a:tr>
              <a:tr h="701675">
                <a:tc>
                  <a:txBody>
                    <a:bodyPr>
                      <a:noAutofit/>
                    </a:bodyPr>
                    <a:lstStyle/>
                    <a:p>
                      <a:r>
                        <a:rPr sz="1688" b="1">
                          <a:solidFill>
                            <a:srgbClr val="172033"/>
                          </a:solidFill>
                          <a:latin typeface="DejaVu Sans"/>
                          <a:ea typeface="DejaVu Sans"/>
                          <a:cs typeface="DejaVu Sans"/>
                        </a:rPr>
                        <a:t>Datos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Construir una tabla causal</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Esquema y timestamps</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Ventanas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Definir L, H y F</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Ejemplos de entrada y etiqueta</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Modelos</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Comparar MLP, LSTM y GRU</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Configuración y parámetros</a:t>
                      </a:r>
                    </a:p>
                  </a:txBody>
                  <a:tcPr marL="114300" marR="114300" marT="76200" marB="76200" anchor="ctr">
                    <a:solidFill>
                      <a:srgbClr val="FFFFFF"/>
                    </a:solidFill>
                  </a:tcPr>
                </a:tc>
              </a:tr>
              <a:tr h="701675">
                <a:tc>
                  <a:txBody>
                    <a:bodyPr>
                      <a:noAutofit/>
                    </a:bodyPr>
                    <a:lstStyle/>
                    <a:p>
                      <a:r>
                        <a:rPr sz="1688" b="1">
                          <a:solidFill>
                            <a:srgbClr val="172033"/>
                          </a:solidFill>
                          <a:latin typeface="DejaVu Sans"/>
                          <a:ea typeface="DejaVu Sans"/>
                          <a:cs typeface="DejaVu Sans"/>
                        </a:rPr>
                        <a:t>Validación</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Usar los mismos folds</a:t>
                      </a:r>
                    </a:p>
                  </a:txBody>
                  <a:tcPr marL="114300" marR="114300" marT="76200" marB="76200" anchor="ctr">
                    <a:solidFill>
                      <a:srgbClr val="EEF2F7"/>
                    </a:solidFill>
                  </a:tcPr>
                </a:tc>
                <a:tc>
                  <a:txBody>
                    <a:bodyPr>
                      <a:noAutofit/>
                    </a:bodyPr>
                    <a:lstStyle/>
                    <a:p>
                      <a:r>
                        <a:rPr sz="1688" b="0">
                          <a:solidFill>
                            <a:srgbClr val="172033"/>
                          </a:solidFill>
                          <a:latin typeface="DejaVu Sans"/>
                          <a:ea typeface="DejaVu Sans"/>
                          <a:cs typeface="DejaVu Sans"/>
                        </a:rPr>
                        <a:t>Predicciones fuera de muestra</a:t>
                      </a:r>
                    </a:p>
                  </a:txBody>
                  <a:tcPr marL="114300" marR="114300" marT="76200" marB="76200" anchor="ctr">
                    <a:solidFill>
                      <a:srgbClr val="EEF2F7"/>
                    </a:solidFill>
                  </a:tcPr>
                </a:tc>
              </a:tr>
              <a:tr h="701675">
                <a:tc>
                  <a:txBody>
                    <a:bodyPr>
                      <a:noAutofit/>
                    </a:bodyPr>
                    <a:lstStyle/>
                    <a:p>
                      <a:r>
                        <a:rPr sz="1688" b="1">
                          <a:solidFill>
                            <a:srgbClr val="172033"/>
                          </a:solidFill>
                          <a:latin typeface="DejaVu Sans"/>
                          <a:ea typeface="DejaVu Sans"/>
                          <a:cs typeface="DejaVu Sans"/>
                        </a:rPr>
                        <a:t>Interpretación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Analizar errores y ablación</a:t>
                      </a:r>
                    </a:p>
                  </a:txBody>
                  <a:tcPr marL="114300" marR="114300" marT="76200" marB="76200" anchor="ctr">
                    <a:solidFill>
                      <a:srgbClr val="FFFFFF"/>
                    </a:solidFill>
                  </a:tcPr>
                </a:tc>
                <a:tc>
                  <a:txBody>
                    <a:bodyPr>
                      <a:noAutofit/>
                    </a:bodyPr>
                    <a:lstStyle/>
                    <a:p>
                      <a:r>
                        <a:rPr sz="1688" b="0">
                          <a:solidFill>
                            <a:srgbClr val="172033"/>
                          </a:solidFill>
                          <a:latin typeface="DejaVu Sans"/>
                          <a:ea typeface="DejaVu Sans"/>
                          <a:cs typeface="DejaVu Sans"/>
                        </a:rPr>
                        <a:t>Tabla de métricas y límites</a:t>
                      </a:r>
                    </a:p>
                  </a:txBody>
                  <a:tcPr marL="114300" marR="114300" marT="76200" marB="76200" anchor="ctr">
                    <a:solidFill>
                      <a:srgbClr val="FFFFFF"/>
                    </a:solidFill>
                  </a:tcPr>
                </a:tc>
              </a:tr>
            </a:tbl>
          </a:graphicData>
        </a:graphic>
      </p:graphicFrame>
    </p:spTree>
    <p:extLst>
      <p:ext uri="{BB962C8B-B14F-4D97-AF65-F5344CB8AC3E}">
        <p14:creationId xmlns:p14="http://schemas.microsoft.com/office/powerpoint/2010/main" val="670566912"/>
      </p:ext>
    </p:extLst>
  </p:cSld>
</p:sld>
</file>

<file path=ppt/slides/slide1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5" name="unit">
            <a:extLst xmlns:a="http://schemas.openxmlformats.org/drawingml/2006/main">
              <a:ext uri="{FF2B5EF4-FFF2-40B4-BE49-F238E27FC236}">
                <a16:creationId xmlns:a16="http://schemas.microsoft.com/office/drawing/2014/main" id="{E44680F2-1E40-4CF9-8819-71CAA001ED19}"/>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1C03B727-1940-45CF-AFF5-30BC05AE88D3}"/>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Bibliografía y documentación</a:t>
            </a:r>
          </a:p>
        </p:txBody>
      </p:sp>
      <p:sp>
        <p:nvSpPr>
          <p:cNvPr id="3" name="author">
            <a:extLst xmlns:a="http://schemas.openxmlformats.org/drawingml/2006/main">
              <a:ext uri="{FF2B5EF4-FFF2-40B4-BE49-F238E27FC236}">
                <a16:creationId xmlns:a16="http://schemas.microsoft.com/office/drawing/2014/main" id="{E74B5D52-7466-4320-A0DD-2E636D82CD46}"/>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93143EBB-5401-4E26-97C3-F65A9943BBF0}"/>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18 / 19</a:t>
            </a:r>
          </a:p>
        </p:txBody>
      </p:sp>
      <p:sp>
        <p:nvSpPr>
          <p:cNvPr id="5" name="reference-0">
            <a:extLst xmlns:a="http://schemas.openxmlformats.org/drawingml/2006/main">
              <a:ext uri="{FF2B5EF4-FFF2-40B4-BE49-F238E27FC236}">
                <a16:creationId xmlns:a16="http://schemas.microsoft.com/office/drawing/2014/main" id="{41C5515D-9759-4D4C-9101-0E7A08DCEB70}"/>
              </a:ext>
            </a:extLst>
          </p:cNvPr>
          <p:cNvSpPr>
            <a:spLocks xmlns:a="http://schemas.openxmlformats.org/drawingml/2006/main" noGrp="1"/>
          </p:cNvSpPr>
          <p:nvPr/>
        </p:nvSpPr>
        <p:spPr>
          <a:xfrm xmlns:a="http://schemas.openxmlformats.org/drawingml/2006/main">
            <a:off x="609600" y="1838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Hochreiter y Schmidhuber (1997). Long Short-Term Memory</a:t>
            </a:r>
          </a:p>
        </p:txBody>
      </p:sp>
      <p:sp>
        <p:nvSpPr>
          <p:cNvPr id="6" name="reference-url-0">
            <a:extLst xmlns:a="http://schemas.openxmlformats.org/drawingml/2006/main">
              <a:ext uri="{FF2B5EF4-FFF2-40B4-BE49-F238E27FC236}">
                <a16:creationId xmlns:a16="http://schemas.microsoft.com/office/drawing/2014/main" id="{06EBC51A-E8BD-41A2-B099-A3970E1A4124}"/>
              </a:ext>
            </a:extLst>
          </p:cNvPr>
          <p:cNvSpPr>
            <a:spLocks xmlns:a="http://schemas.openxmlformats.org/drawingml/2006/main" noGrp="1"/>
          </p:cNvSpPr>
          <p:nvPr/>
        </p:nvSpPr>
        <p:spPr>
          <a:xfrm xmlns:a="http://schemas.openxmlformats.org/drawingml/2006/main">
            <a:off x="609600" y="220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db7e0917ee524911"/>
              </a:rPr>
              <a:t>https://www.bioinf.jku.at/publications/older/2604.pdf</a:t>
            </a:r>
          </a:p>
        </p:txBody>
      </p:sp>
      <p:sp>
        <p:nvSpPr>
          <p:cNvPr id="7" name="reference-1">
            <a:extLst xmlns:a="http://schemas.openxmlformats.org/drawingml/2006/main">
              <a:ext uri="{FF2B5EF4-FFF2-40B4-BE49-F238E27FC236}">
                <a16:creationId xmlns:a16="http://schemas.microsoft.com/office/drawing/2014/main" id="{8C0BCD21-E582-4511-B0DE-BCFAC75A6CF9}"/>
              </a:ext>
            </a:extLst>
          </p:cNvPr>
          <p:cNvSpPr>
            <a:spLocks xmlns:a="http://schemas.openxmlformats.org/drawingml/2006/main" noGrp="1"/>
          </p:cNvSpPr>
          <p:nvPr/>
        </p:nvSpPr>
        <p:spPr>
          <a:xfrm xmlns:a="http://schemas.openxmlformats.org/drawingml/2006/main">
            <a:off x="609600" y="2638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PyTorch. LSTM: ecuaciones, estados y dimensiones</a:t>
            </a:r>
          </a:p>
        </p:txBody>
      </p:sp>
      <p:sp>
        <p:nvSpPr>
          <p:cNvPr id="8" name="reference-url-1">
            <a:extLst xmlns:a="http://schemas.openxmlformats.org/drawingml/2006/main">
              <a:ext uri="{FF2B5EF4-FFF2-40B4-BE49-F238E27FC236}">
                <a16:creationId xmlns:a16="http://schemas.microsoft.com/office/drawing/2014/main" id="{A5066730-7AD6-471E-9559-BF32B142F296}"/>
              </a:ext>
            </a:extLst>
          </p:cNvPr>
          <p:cNvSpPr>
            <a:spLocks xmlns:a="http://schemas.openxmlformats.org/drawingml/2006/main" noGrp="1"/>
          </p:cNvSpPr>
          <p:nvPr/>
        </p:nvSpPr>
        <p:spPr>
          <a:xfrm xmlns:a="http://schemas.openxmlformats.org/drawingml/2006/main">
            <a:off x="609600" y="3009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3c1bfe894f714c8d"/>
              </a:rPr>
              <a:t>https://docs.pytorch.org/docs/stable/generated/torch.nn.LSTM.html</a:t>
            </a:r>
          </a:p>
        </p:txBody>
      </p:sp>
      <p:sp>
        <p:nvSpPr>
          <p:cNvPr id="9" name="reference-2">
            <a:extLst xmlns:a="http://schemas.openxmlformats.org/drawingml/2006/main">
              <a:ext uri="{FF2B5EF4-FFF2-40B4-BE49-F238E27FC236}">
                <a16:creationId xmlns:a16="http://schemas.microsoft.com/office/drawing/2014/main" id="{4016D5C2-AE68-4D20-A8E3-F7173C631641}"/>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Cho et al. (2014). Learning Phrase Representations using RNN Encoder-Decoder</a:t>
            </a:r>
          </a:p>
        </p:txBody>
      </p:sp>
      <p:sp>
        <p:nvSpPr>
          <p:cNvPr id="10" name="reference-url-2">
            <a:extLst xmlns:a="http://schemas.openxmlformats.org/drawingml/2006/main">
              <a:ext uri="{FF2B5EF4-FFF2-40B4-BE49-F238E27FC236}">
                <a16:creationId xmlns:a16="http://schemas.microsoft.com/office/drawing/2014/main" id="{26471332-1A47-4998-A1FD-8C3EC4E849F8}"/>
              </a:ext>
            </a:extLst>
          </p:cNvPr>
          <p:cNvSpPr>
            <a:spLocks xmlns:a="http://schemas.openxmlformats.org/drawingml/2006/main" noGrp="1"/>
          </p:cNvSpPr>
          <p:nvPr/>
        </p:nvSpPr>
        <p:spPr>
          <a:xfrm xmlns:a="http://schemas.openxmlformats.org/drawingml/2006/main">
            <a:off x="609600" y="3810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ae5d92e829d44d0c"/>
              </a:rPr>
              <a:t>https://arxiv.org/abs/1406.1078</a:t>
            </a:r>
          </a:p>
        </p:txBody>
      </p:sp>
      <p:sp>
        <p:nvSpPr>
          <p:cNvPr id="11" name="reference-3">
            <a:extLst xmlns:a="http://schemas.openxmlformats.org/drawingml/2006/main">
              <a:ext uri="{FF2B5EF4-FFF2-40B4-BE49-F238E27FC236}">
                <a16:creationId xmlns:a16="http://schemas.microsoft.com/office/drawing/2014/main" id="{343890A1-2992-407B-966B-1A8E6E4D59D0}"/>
              </a:ext>
            </a:extLst>
          </p:cNvPr>
          <p:cNvSpPr>
            <a:spLocks xmlns:a="http://schemas.openxmlformats.org/drawingml/2006/main" noGrp="1"/>
          </p:cNvSpPr>
          <p:nvPr/>
        </p:nvSpPr>
        <p:spPr>
          <a:xfrm xmlns:a="http://schemas.openxmlformats.org/drawingml/2006/main">
            <a:off x="609600" y="4238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PyTorch. GRU: convención de actualización y candidato</a:t>
            </a:r>
          </a:p>
        </p:txBody>
      </p:sp>
      <p:sp>
        <p:nvSpPr>
          <p:cNvPr id="12" name="reference-url-3">
            <a:extLst xmlns:a="http://schemas.openxmlformats.org/drawingml/2006/main">
              <a:ext uri="{FF2B5EF4-FFF2-40B4-BE49-F238E27FC236}">
                <a16:creationId xmlns:a16="http://schemas.microsoft.com/office/drawing/2014/main" id="{F54F8EE4-FA17-4A4F-B16C-891AA69B1A90}"/>
              </a:ext>
            </a:extLst>
          </p:cNvPr>
          <p:cNvSpPr>
            <a:spLocks xmlns:a="http://schemas.openxmlformats.org/drawingml/2006/main" noGrp="1"/>
          </p:cNvSpPr>
          <p:nvPr/>
        </p:nvSpPr>
        <p:spPr>
          <a:xfrm xmlns:a="http://schemas.openxmlformats.org/drawingml/2006/main">
            <a:off x="609600" y="4610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bebc51826e124dcc"/>
              </a:rPr>
              <a:t>https://docs.pytorch.org/docs/stable/generated/torch.nn.GRU.html</a:t>
            </a:r>
          </a:p>
        </p:txBody>
      </p:sp>
      <p:sp>
        <p:nvSpPr>
          <p:cNvPr id="13" name="reference-4">
            <a:extLst xmlns:a="http://schemas.openxmlformats.org/drawingml/2006/main">
              <a:ext uri="{FF2B5EF4-FFF2-40B4-BE49-F238E27FC236}">
                <a16:creationId xmlns:a16="http://schemas.microsoft.com/office/drawing/2014/main" id="{485CE8B1-5583-4E7C-9606-B1781C756B43}"/>
              </a:ext>
            </a:extLst>
          </p:cNvPr>
          <p:cNvSpPr>
            <a:spLocks xmlns:a="http://schemas.openxmlformats.org/drawingml/2006/main" noGrp="1"/>
          </p:cNvSpPr>
          <p:nvPr/>
        </p:nvSpPr>
        <p:spPr>
          <a:xfrm xmlns:a="http://schemas.openxmlformats.org/drawingml/2006/main">
            <a:off x="609600" y="50387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Vaswani et al. (2017). Attention Is All You Need</a:t>
            </a:r>
          </a:p>
        </p:txBody>
      </p:sp>
      <p:sp>
        <p:nvSpPr>
          <p:cNvPr id="14" name="reference-url-4">
            <a:extLst xmlns:a="http://schemas.openxmlformats.org/drawingml/2006/main">
              <a:ext uri="{FF2B5EF4-FFF2-40B4-BE49-F238E27FC236}">
                <a16:creationId xmlns:a16="http://schemas.microsoft.com/office/drawing/2014/main" id="{ACF6C016-71E5-4EFC-A87A-36E003AB7BD1}"/>
              </a:ext>
            </a:extLst>
          </p:cNvPr>
          <p:cNvSpPr>
            <a:spLocks xmlns:a="http://schemas.openxmlformats.org/drawingml/2006/main" noGrp="1"/>
          </p:cNvSpPr>
          <p:nvPr/>
        </p:nvSpPr>
        <p:spPr>
          <a:xfrm xmlns:a="http://schemas.openxmlformats.org/drawingml/2006/main">
            <a:off x="609600" y="54102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69b6b80dd7974b61"/>
              </a:rPr>
              <a:t>https://arxiv.org/abs/1706.03762</a:t>
            </a:r>
          </a:p>
        </p:txBody>
      </p:sp>
    </p:spTree>
    <p:extLst>
      <p:ext uri="{BB962C8B-B14F-4D97-AF65-F5344CB8AC3E}">
        <p14:creationId xmlns:p14="http://schemas.microsoft.com/office/powerpoint/2010/main" val="578551205"/>
      </p:ext>
    </p:extLst>
  </p:cSld>
</p:sld>
</file>

<file path=ppt/slides/slide1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3" name="unit">
            <a:extLst xmlns:a="http://schemas.openxmlformats.org/drawingml/2006/main">
              <a:ext uri="{FF2B5EF4-FFF2-40B4-BE49-F238E27FC236}">
                <a16:creationId xmlns:a16="http://schemas.microsoft.com/office/drawing/2014/main" id="{AB7F1062-8388-48AB-8EC9-BB53D98D6EEB}"/>
              </a:ext>
            </a:extLst>
          </p:cNvPr>
          <p:cNvSpPr>
            <a:spLocks xmlns:a="http://schemas.openxmlformats.org/drawingml/2006/main" noGrp="1"/>
          </p:cNvSpPr>
          <p:nvPr/>
        </p:nvSpPr>
        <p:spPr>
          <a:xfrm xmlns:a="http://schemas.openxmlformats.org/drawingml/2006/main">
            <a:off x="609600" y="28575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1">
                <a:solidFill>
                  <a:srgbClr val="7C3AED"/>
                </a:solidFill>
                <a:latin typeface="DejaVu Sans"/>
                <a:ea typeface="DejaVu Sans"/>
                <a:cs typeface="DejaVu Sans"/>
              </a:defRPr>
            </a:pPr>
            <a:r>
              <a:rPr sz="1350" b="1">
                <a:solidFill>
                  <a:srgbClr val="7C3AED"/>
                </a:solidFill>
                <a:latin typeface="DejaVu Sans"/>
                <a:ea typeface="DejaVu Sans"/>
                <a:cs typeface="DejaVu Sans"/>
              </a:rPr>
              <a:t>UNIDAD 8   LSTM y GRU</a:t>
            </a:r>
          </a:p>
        </p:txBody>
      </p:sp>
      <p:sp>
        <p:nvSpPr>
          <p:cNvPr id="2" name="title">
            <a:extLst xmlns:a="http://schemas.openxmlformats.org/drawingml/2006/main">
              <a:ext uri="{FF2B5EF4-FFF2-40B4-BE49-F238E27FC236}">
                <a16:creationId xmlns:a16="http://schemas.microsoft.com/office/drawing/2014/main" id="{C2C6788E-985B-4D3B-8CA6-0D93458B380C}"/>
              </a:ext>
            </a:extLst>
          </p:cNvPr>
          <p:cNvSpPr>
            <a:spLocks xmlns:a="http://schemas.openxmlformats.org/drawingml/2006/main" noGrp="1"/>
          </p:cNvSpPr>
          <p:nvPr/>
        </p:nvSpPr>
        <p:spPr>
          <a:xfrm xmlns:a="http://schemas.openxmlformats.org/drawingml/2006/main">
            <a:off x="609600" y="781050"/>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172033"/>
                </a:solidFill>
                <a:latin typeface="DejaVu Sans"/>
                <a:ea typeface="DejaVu Sans"/>
                <a:cs typeface="DejaVu Sans"/>
              </a:defRPr>
            </a:pPr>
            <a:r>
              <a:rPr sz="3300" b="1">
                <a:solidFill>
                  <a:srgbClr val="172033"/>
                </a:solidFill>
                <a:latin typeface="DejaVu Sans"/>
                <a:ea typeface="DejaVu Sans"/>
                <a:cs typeface="DejaVu Sans"/>
              </a:rPr>
              <a:t>Lecturas aplicadas y revisión crítica</a:t>
            </a:r>
          </a:p>
        </p:txBody>
      </p:sp>
      <p:sp>
        <p:nvSpPr>
          <p:cNvPr id="3" name="author">
            <a:extLst xmlns:a="http://schemas.openxmlformats.org/drawingml/2006/main">
              <a:ext uri="{FF2B5EF4-FFF2-40B4-BE49-F238E27FC236}">
                <a16:creationId xmlns:a16="http://schemas.microsoft.com/office/drawing/2014/main" id="{ECCCD274-E725-45A7-B8CE-51A27FD5951F}"/>
              </a:ext>
            </a:extLst>
          </p:cNvPr>
          <p:cNvSpPr>
            <a:spLocks xmlns:a="http://schemas.openxmlformats.org/drawingml/2006/main" noGrp="1"/>
          </p:cNvSpPr>
          <p:nvPr/>
        </p:nvSpPr>
        <p:spPr>
          <a:xfrm xmlns:a="http://schemas.openxmlformats.org/drawingml/2006/main">
            <a:off x="609600" y="6419850"/>
            <a:ext cx="1009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Material elaborado por el profesor Sergio Gevatschnaider.</a:t>
            </a:r>
          </a:p>
        </p:txBody>
      </p:sp>
      <p:sp>
        <p:nvSpPr>
          <p:cNvPr id="4" name="page">
            <a:extLst xmlns:a="http://schemas.openxmlformats.org/drawingml/2006/main">
              <a:ext uri="{FF2B5EF4-FFF2-40B4-BE49-F238E27FC236}">
                <a16:creationId xmlns:a16="http://schemas.microsoft.com/office/drawing/2014/main" id="{12C034DD-1793-490F-A9A9-B88D85773E1F}"/>
              </a:ext>
            </a:extLst>
          </p:cNvPr>
          <p:cNvSpPr>
            <a:spLocks xmlns:a="http://schemas.openxmlformats.org/drawingml/2006/main" noGrp="1"/>
          </p:cNvSpPr>
          <p:nvPr/>
        </p:nvSpPr>
        <p:spPr>
          <a:xfrm xmlns:a="http://schemas.openxmlformats.org/drawingml/2006/main">
            <a:off x="10858500" y="6419850"/>
            <a:ext cx="723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75569"/>
                </a:solidFill>
                <a:latin typeface="DejaVu Sans"/>
                <a:ea typeface="DejaVu Sans"/>
                <a:cs typeface="DejaVu Sans"/>
              </a:defRPr>
            </a:pPr>
            <a:r>
              <a:rPr sz="1350" b="0">
                <a:solidFill>
                  <a:srgbClr val="475569"/>
                </a:solidFill>
                <a:latin typeface="DejaVu Sans"/>
                <a:ea typeface="DejaVu Sans"/>
                <a:cs typeface="DejaVu Sans"/>
              </a:rPr>
              <a:t>19 / 19</a:t>
            </a:r>
          </a:p>
        </p:txBody>
      </p:sp>
      <p:sp>
        <p:nvSpPr>
          <p:cNvPr id="5" name="reference-0">
            <a:extLst xmlns:a="http://schemas.openxmlformats.org/drawingml/2006/main">
              <a:ext uri="{FF2B5EF4-FFF2-40B4-BE49-F238E27FC236}">
                <a16:creationId xmlns:a16="http://schemas.microsoft.com/office/drawing/2014/main" id="{567A2112-1B27-48F0-869B-5F56EC13E774}"/>
              </a:ext>
            </a:extLst>
          </p:cNvPr>
          <p:cNvSpPr>
            <a:spLocks xmlns:a="http://schemas.openxmlformats.org/drawingml/2006/main" noGrp="1"/>
          </p:cNvSpPr>
          <p:nvPr/>
        </p:nvSpPr>
        <p:spPr>
          <a:xfrm xmlns:a="http://schemas.openxmlformats.org/drawingml/2006/main">
            <a:off x="609600" y="18383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Kaur et al. (2025). Cryptocurrency prediction with GRU and LSTM</a:t>
            </a:r>
          </a:p>
        </p:txBody>
      </p:sp>
      <p:sp>
        <p:nvSpPr>
          <p:cNvPr id="6" name="reference-url-0">
            <a:extLst xmlns:a="http://schemas.openxmlformats.org/drawingml/2006/main">
              <a:ext uri="{FF2B5EF4-FFF2-40B4-BE49-F238E27FC236}">
                <a16:creationId xmlns:a16="http://schemas.microsoft.com/office/drawing/2014/main" id="{3A655670-6E72-49C7-8D11-D69D3ACB1414}"/>
              </a:ext>
            </a:extLst>
          </p:cNvPr>
          <p:cNvSpPr>
            <a:spLocks xmlns:a="http://schemas.openxmlformats.org/drawingml/2006/main" noGrp="1"/>
          </p:cNvSpPr>
          <p:nvPr/>
        </p:nvSpPr>
        <p:spPr>
          <a:xfrm xmlns:a="http://schemas.openxmlformats.org/drawingml/2006/main">
            <a:off x="609600" y="22098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0cff8e7bc8e3472c"/>
              </a:rPr>
              <a:t>https://pmc.ncbi.nlm.nih.gov/articles/PMC11935774/</a:t>
            </a:r>
          </a:p>
        </p:txBody>
      </p:sp>
      <p:sp>
        <p:nvSpPr>
          <p:cNvPr id="7" name="reference-1">
            <a:extLst xmlns:a="http://schemas.openxmlformats.org/drawingml/2006/main">
              <a:ext uri="{FF2B5EF4-FFF2-40B4-BE49-F238E27FC236}">
                <a16:creationId xmlns:a16="http://schemas.microsoft.com/office/drawing/2014/main" id="{7953B088-9BC5-4A6F-90FB-DB151CEB1DF3}"/>
              </a:ext>
            </a:extLst>
          </p:cNvPr>
          <p:cNvSpPr>
            <a:spLocks xmlns:a="http://schemas.openxmlformats.org/drawingml/2006/main" noGrp="1"/>
          </p:cNvSpPr>
          <p:nvPr/>
        </p:nvSpPr>
        <p:spPr>
          <a:xfrm xmlns:a="http://schemas.openxmlformats.org/drawingml/2006/main">
            <a:off x="609600" y="26384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Moiz y Raza (2026). Deep learning and GARCH family models</a:t>
            </a:r>
          </a:p>
        </p:txBody>
      </p:sp>
      <p:sp>
        <p:nvSpPr>
          <p:cNvPr id="8" name="reference-url-1">
            <a:extLst xmlns:a="http://schemas.openxmlformats.org/drawingml/2006/main">
              <a:ext uri="{FF2B5EF4-FFF2-40B4-BE49-F238E27FC236}">
                <a16:creationId xmlns:a16="http://schemas.microsoft.com/office/drawing/2014/main" id="{1557DC5E-5A01-4561-A6C6-4426C7CCCE77}"/>
              </a:ext>
            </a:extLst>
          </p:cNvPr>
          <p:cNvSpPr>
            <a:spLocks xmlns:a="http://schemas.openxmlformats.org/drawingml/2006/main" noGrp="1"/>
          </p:cNvSpPr>
          <p:nvPr/>
        </p:nvSpPr>
        <p:spPr>
          <a:xfrm xmlns:a="http://schemas.openxmlformats.org/drawingml/2006/main">
            <a:off x="609600" y="30099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7d11d32255c741c6"/>
              </a:rPr>
              <a:t>https://mf-journal.com/article/view/370</a:t>
            </a:r>
          </a:p>
        </p:txBody>
      </p:sp>
      <p:sp>
        <p:nvSpPr>
          <p:cNvPr id="9" name="reference-2">
            <a:extLst xmlns:a="http://schemas.openxmlformats.org/drawingml/2006/main">
              <a:ext uri="{FF2B5EF4-FFF2-40B4-BE49-F238E27FC236}">
                <a16:creationId xmlns:a16="http://schemas.microsoft.com/office/drawing/2014/main" id="{35046896-2037-4F8D-BB24-7D9162539694}"/>
              </a:ext>
            </a:extLst>
          </p:cNvPr>
          <p:cNvSpPr>
            <a:spLocks xmlns:a="http://schemas.openxmlformats.org/drawingml/2006/main" noGrp="1"/>
          </p:cNvSpPr>
          <p:nvPr/>
        </p:nvSpPr>
        <p:spPr>
          <a:xfrm xmlns:a="http://schemas.openxmlformats.org/drawingml/2006/main">
            <a:off x="609600" y="3438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scikit-learn. TimeSeriesSplit</a:t>
            </a:r>
          </a:p>
        </p:txBody>
      </p:sp>
      <p:sp>
        <p:nvSpPr>
          <p:cNvPr id="10" name="reference-url-2">
            <a:extLst xmlns:a="http://schemas.openxmlformats.org/drawingml/2006/main">
              <a:ext uri="{FF2B5EF4-FFF2-40B4-BE49-F238E27FC236}">
                <a16:creationId xmlns:a16="http://schemas.microsoft.com/office/drawing/2014/main" id="{B7ABCC09-C790-4036-8E46-D69BC2C3EF0B}"/>
              </a:ext>
            </a:extLst>
          </p:cNvPr>
          <p:cNvSpPr>
            <a:spLocks xmlns:a="http://schemas.openxmlformats.org/drawingml/2006/main" noGrp="1"/>
          </p:cNvSpPr>
          <p:nvPr/>
        </p:nvSpPr>
        <p:spPr>
          <a:xfrm xmlns:a="http://schemas.openxmlformats.org/drawingml/2006/main">
            <a:off x="609600" y="38100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d3a1e4e306034233"/>
              </a:rPr>
              <a:t>https://scikit-learn.org/stable/modules/generated/sklearn.model_selection.TimeSeriesSplit.html</a:t>
            </a:r>
          </a:p>
        </p:txBody>
      </p:sp>
      <p:sp>
        <p:nvSpPr>
          <p:cNvPr id="11" name="reference-3">
            <a:extLst xmlns:a="http://schemas.openxmlformats.org/drawingml/2006/main">
              <a:ext uri="{FF2B5EF4-FFF2-40B4-BE49-F238E27FC236}">
                <a16:creationId xmlns:a16="http://schemas.microsoft.com/office/drawing/2014/main" id="{E653050D-24E7-4A74-AE1D-2FB167E77F05}"/>
              </a:ext>
            </a:extLst>
          </p:cNvPr>
          <p:cNvSpPr>
            <a:spLocks xmlns:a="http://schemas.openxmlformats.org/drawingml/2006/main" noGrp="1"/>
          </p:cNvSpPr>
          <p:nvPr/>
        </p:nvSpPr>
        <p:spPr>
          <a:xfrm xmlns:a="http://schemas.openxmlformats.org/drawingml/2006/main">
            <a:off x="609600" y="42386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172033"/>
                </a:solidFill>
                <a:latin typeface="DejaVu Sans"/>
                <a:ea typeface="DejaVu Sans"/>
                <a:cs typeface="DejaVu Sans"/>
              </a:defRPr>
            </a:pPr>
            <a:r>
              <a:rPr sz="1650" b="1">
                <a:solidFill>
                  <a:srgbClr val="172033"/>
                </a:solidFill>
                <a:latin typeface="DejaVu Sans"/>
                <a:ea typeface="DejaVu Sans"/>
                <a:cs typeface="DejaVu Sans"/>
              </a:rPr>
              <a:t>scikit-learn. Common pitfalls and recommended practices</a:t>
            </a:r>
          </a:p>
        </p:txBody>
      </p:sp>
      <p:sp>
        <p:nvSpPr>
          <p:cNvPr id="12" name="reference-url-3">
            <a:extLst xmlns:a="http://schemas.openxmlformats.org/drawingml/2006/main">
              <a:ext uri="{FF2B5EF4-FFF2-40B4-BE49-F238E27FC236}">
                <a16:creationId xmlns:a16="http://schemas.microsoft.com/office/drawing/2014/main" id="{E8EAEC33-419B-4F51-9488-4E399A78D269}"/>
              </a:ext>
            </a:extLst>
          </p:cNvPr>
          <p:cNvSpPr>
            <a:spLocks xmlns:a="http://schemas.openxmlformats.org/drawingml/2006/main" noGrp="1"/>
          </p:cNvSpPr>
          <p:nvPr/>
        </p:nvSpPr>
        <p:spPr>
          <a:xfrm xmlns:a="http://schemas.openxmlformats.org/drawingml/2006/main">
            <a:off x="609600" y="4610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7C3AED"/>
                </a:solidFill>
                <a:latin typeface="DejaVu Sans"/>
                <a:ea typeface="DejaVu Sans"/>
                <a:cs typeface="DejaVu Sans"/>
              </a:defRPr>
            </a:pPr>
            <a:r>
              <a:rPr sz="1275" b="0">
                <a:solidFill>
                  <a:srgbClr val="7C3AED"/>
                </a:solidFill>
                <a:latin typeface="DejaVu Sans"/>
                <a:ea typeface="DejaVu Sans"/>
                <a:cs typeface="DejaVu Sans"/>
                <a:hlinkClick xmlns:r="http://schemas.openxmlformats.org/officeDocument/2006/relationships" r:id="Rc38b2a9d39c8491f"/>
              </a:rPr>
              <a:t>https://scikit-learn.org/stable/common_pitfalls.html</a:t>
            </a:r>
          </a:p>
        </p:txBody>
      </p:sp>
    </p:spTree>
    <p:extLst>
      <p:ext uri="{BB962C8B-B14F-4D97-AF65-F5344CB8AC3E}">
        <p14:creationId xmlns:p14="http://schemas.microsoft.com/office/powerpoint/2010/main" val="205408409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2026-10-02T13:02:10.4470000Z</dcterms:created>
  <dcterms:modified xsi:type="dcterms:W3CDTF">2026-10-02T13:02:10.4470000Z</dcterms:modified>
</coreProperties>
</file>