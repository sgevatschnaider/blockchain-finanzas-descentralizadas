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90ccb2d62514640" /><Relationship Type="http://schemas.openxmlformats.org/officeDocument/2006/relationships/extended-properties" Target="/docProps/app.xml" Id="Rd10d4cd1236e4ec1" /><Relationship Type="http://schemas.openxmlformats.org/officeDocument/2006/relationships/officeDocument" Target="/ppt/presentation.xml" Id="R995ee6ab386044b8" /></Relationships>
</file>

<file path=ppt/presentation.xml><?xml version="1.0" encoding="utf-8"?>
<p:presentation xmlns:p="http://schemas.openxmlformats.org/presentationml/2006/main">
  <p:sldMasterIdLst>
    <p:sldMasterId xmlns:r="http://schemas.openxmlformats.org/officeDocument/2006/relationships" id="2147483648" r:id="R0a62735a4e2a43c0"/>
  </p:sldMasterIdLst>
  <p:notesMasterIdLst>
    <p:notesMasterId xmlns:r="http://schemas.openxmlformats.org/officeDocument/2006/relationships" r:id="Rfcc0b776c9a64450"/>
  </p:notesMasterIdLst>
  <p:sldIdLst>
    <p:sldId xmlns:r="http://schemas.openxmlformats.org/officeDocument/2006/relationships" id="256" r:id="R85ca2137536b4392"/>
    <p:sldId xmlns:r="http://schemas.openxmlformats.org/officeDocument/2006/relationships" id="257" r:id="Re1ea3895567b4cdc"/>
    <p:sldId xmlns:r="http://schemas.openxmlformats.org/officeDocument/2006/relationships" id="258" r:id="R902f9fadf8ab4ab6"/>
    <p:sldId xmlns:r="http://schemas.openxmlformats.org/officeDocument/2006/relationships" id="259" r:id="R20049ab30bed4b24"/>
    <p:sldId xmlns:r="http://schemas.openxmlformats.org/officeDocument/2006/relationships" id="260" r:id="R6f8f0ac2c81348f3"/>
    <p:sldId xmlns:r="http://schemas.openxmlformats.org/officeDocument/2006/relationships" id="261" r:id="R20813ef7b2884ef2"/>
    <p:sldId xmlns:r="http://schemas.openxmlformats.org/officeDocument/2006/relationships" id="262" r:id="Rdb4cbf5b17334440"/>
    <p:sldId xmlns:r="http://schemas.openxmlformats.org/officeDocument/2006/relationships" id="263" r:id="R26f001b27b1a44df"/>
    <p:sldId xmlns:r="http://schemas.openxmlformats.org/officeDocument/2006/relationships" id="264" r:id="R314e157b0daa4ab6"/>
    <p:sldId xmlns:r="http://schemas.openxmlformats.org/officeDocument/2006/relationships" id="265" r:id="R7aba6d5745d145fa"/>
    <p:sldId xmlns:r="http://schemas.openxmlformats.org/officeDocument/2006/relationships" id="266" r:id="R117fe088a9544e8d"/>
    <p:sldId xmlns:r="http://schemas.openxmlformats.org/officeDocument/2006/relationships" id="267" r:id="R8f271b66b2074557"/>
    <p:sldId xmlns:r="http://schemas.openxmlformats.org/officeDocument/2006/relationships" id="268" r:id="R9225eb7a751b4d57"/>
    <p:sldId xmlns:r="http://schemas.openxmlformats.org/officeDocument/2006/relationships" id="269" r:id="Rd75dbc1ea8144782"/>
    <p:sldId xmlns:r="http://schemas.openxmlformats.org/officeDocument/2006/relationships" id="270" r:id="R8ba9360c263948e2"/>
    <p:sldId xmlns:r="http://schemas.openxmlformats.org/officeDocument/2006/relationships" id="271" r:id="Rd87f464df2934a1a"/>
    <p:sldId xmlns:r="http://schemas.openxmlformats.org/officeDocument/2006/relationships" id="272" r:id="R1bfa175b63a849fa"/>
    <p:sldId xmlns:r="http://schemas.openxmlformats.org/officeDocument/2006/relationships" id="273" r:id="R254fb17fda1b45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117f3e072f458d" /><Relationship Type="http://schemas.openxmlformats.org/officeDocument/2006/relationships/slideMaster" Target="/ppt/slideMasters/slideMaster1.xml" Id="R0a62735a4e2a43c0" /><Relationship Type="http://schemas.openxmlformats.org/officeDocument/2006/relationships/notesMaster" Target="/ppt/notesMasters/notesMaster1.xml" Id="Rfcc0b776c9a64450" /><Relationship Type="http://schemas.openxmlformats.org/officeDocument/2006/relationships/presProps" Target="/ppt/presProps.xml" Id="R87ccb03d04d946d3" /><Relationship Type="http://schemas.openxmlformats.org/officeDocument/2006/relationships/tableStyles" Target="/ppt/tableStyles.xml" Id="R187a7be5636f4f94" /><Relationship Type="http://schemas.openxmlformats.org/officeDocument/2006/relationships/slide" Target="/ppt/slides/slide1.xml" Id="R85ca2137536b4392" /><Relationship Type="http://schemas.openxmlformats.org/officeDocument/2006/relationships/slide" Target="/ppt/slides/slide2.xml" Id="Re1ea3895567b4cdc" /><Relationship Type="http://schemas.openxmlformats.org/officeDocument/2006/relationships/slide" Target="/ppt/slides/slide3.xml" Id="R902f9fadf8ab4ab6" /><Relationship Type="http://schemas.openxmlformats.org/officeDocument/2006/relationships/slide" Target="/ppt/slides/slide4.xml" Id="R20049ab30bed4b24" /><Relationship Type="http://schemas.openxmlformats.org/officeDocument/2006/relationships/slide" Target="/ppt/slides/slide5.xml" Id="R6f8f0ac2c81348f3" /><Relationship Type="http://schemas.openxmlformats.org/officeDocument/2006/relationships/slide" Target="/ppt/slides/slide6.xml" Id="R20813ef7b2884ef2" /><Relationship Type="http://schemas.openxmlformats.org/officeDocument/2006/relationships/slide" Target="/ppt/slides/slide7.xml" Id="Rdb4cbf5b17334440" /><Relationship Type="http://schemas.openxmlformats.org/officeDocument/2006/relationships/slide" Target="/ppt/slides/slide8.xml" Id="R26f001b27b1a44df" /><Relationship Type="http://schemas.openxmlformats.org/officeDocument/2006/relationships/slide" Target="/ppt/slides/slide9.xml" Id="R314e157b0daa4ab6" /><Relationship Type="http://schemas.openxmlformats.org/officeDocument/2006/relationships/slide" Target="/ppt/slides/slide10.xml" Id="R7aba6d5745d145fa" /><Relationship Type="http://schemas.openxmlformats.org/officeDocument/2006/relationships/slide" Target="/ppt/slides/slide11.xml" Id="R117fe088a9544e8d" /><Relationship Type="http://schemas.openxmlformats.org/officeDocument/2006/relationships/slide" Target="/ppt/slides/slide12.xml" Id="R8f271b66b2074557" /><Relationship Type="http://schemas.openxmlformats.org/officeDocument/2006/relationships/slide" Target="/ppt/slides/slide13.xml" Id="R9225eb7a751b4d57" /><Relationship Type="http://schemas.openxmlformats.org/officeDocument/2006/relationships/slide" Target="/ppt/slides/slide14.xml" Id="Rd75dbc1ea8144782" /><Relationship Type="http://schemas.openxmlformats.org/officeDocument/2006/relationships/slide" Target="/ppt/slides/slide15.xml" Id="R8ba9360c263948e2" /><Relationship Type="http://schemas.openxmlformats.org/officeDocument/2006/relationships/slide" Target="/ppt/slides/slide16.xml" Id="Rd87f464df2934a1a" /><Relationship Type="http://schemas.openxmlformats.org/officeDocument/2006/relationships/slide" Target="/ppt/slides/slide17.xml" Id="R1bfa175b63a849fa" /><Relationship Type="http://schemas.openxmlformats.org/officeDocument/2006/relationships/slide" Target="/ppt/slides/slide18.xml" Id="R254fb17fda1b45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f64205c9de4f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63ca2cda7c422c" /><Relationship Type="http://schemas.openxmlformats.org/officeDocument/2006/relationships/notesMaster" Target="/ppt/notesMasters/notesMaster1.xml" Id="R80ad5251d42f42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000cfb365247eb" /><Relationship Type="http://schemas.openxmlformats.org/officeDocument/2006/relationships/notesMaster" Target="/ppt/notesMasters/notesMaster1.xml" Id="Rb429ced0097049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af5983f5584dd5" /><Relationship Type="http://schemas.openxmlformats.org/officeDocument/2006/relationships/notesMaster" Target="/ppt/notesMasters/notesMaster1.xml" Id="Read32126d0ff4a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42d9587b914ca1" /><Relationship Type="http://schemas.openxmlformats.org/officeDocument/2006/relationships/notesMaster" Target="/ppt/notesMasters/notesMaster1.xml" Id="R0627db1d8d284e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8dea2251aa4010" /><Relationship Type="http://schemas.openxmlformats.org/officeDocument/2006/relationships/notesMaster" Target="/ppt/notesMasters/notesMaster1.xml" Id="R7f25824d602d47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12bc91d29d4c0e" /><Relationship Type="http://schemas.openxmlformats.org/officeDocument/2006/relationships/notesMaster" Target="/ppt/notesMasters/notesMaster1.xml" Id="Rd99cd17b99d045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38028a993e4ac7" /><Relationship Type="http://schemas.openxmlformats.org/officeDocument/2006/relationships/notesMaster" Target="/ppt/notesMasters/notesMaster1.xml" Id="R620113ffa0d240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ba9cd7b2aa46d5" /><Relationship Type="http://schemas.openxmlformats.org/officeDocument/2006/relationships/notesMaster" Target="/ppt/notesMasters/notesMaster1.xml" Id="R1e7b916f39c244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5ee2d7467e40c2" /><Relationship Type="http://schemas.openxmlformats.org/officeDocument/2006/relationships/notesMaster" Target="/ppt/notesMasters/notesMaster1.xml" Id="R2c47fa27e7074e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9c2c2f51fe4923" /><Relationship Type="http://schemas.openxmlformats.org/officeDocument/2006/relationships/notesMaster" Target="/ppt/notesMasters/notesMaster1.xml" Id="R8a128e6b0d7c431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6521024a864acc" /><Relationship Type="http://schemas.openxmlformats.org/officeDocument/2006/relationships/notesMaster" Target="/ppt/notesMasters/notesMaster1.xml" Id="R675eab5a86af4e9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8148b8b83124594" /><Relationship Type="http://schemas.openxmlformats.org/officeDocument/2006/relationships/notesMaster" Target="/ppt/notesMasters/notesMaster1.xml" Id="R865da4f2dedd434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c0158437b44ba7" /><Relationship Type="http://schemas.openxmlformats.org/officeDocument/2006/relationships/notesMaster" Target="/ppt/notesMasters/notesMaster1.xml" Id="Rd1d77a186725460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aeb04fb6c1440a6" /><Relationship Type="http://schemas.openxmlformats.org/officeDocument/2006/relationships/notesMaster" Target="/ppt/notesMasters/notesMaster1.xml" Id="R4528f6a9843148b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d02c8a8e15741ae" /><Relationship Type="http://schemas.openxmlformats.org/officeDocument/2006/relationships/notesMaster" Target="/ppt/notesMasters/notesMaster1.xml" Id="Ra0a6c7c661a24a0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163f1956bc4ad8" /><Relationship Type="http://schemas.openxmlformats.org/officeDocument/2006/relationships/notesMaster" Target="/ppt/notesMasters/notesMaster1.xml" Id="Rba462f56882a48c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3f83da60b25476f" /><Relationship Type="http://schemas.openxmlformats.org/officeDocument/2006/relationships/notesMaster" Target="/ppt/notesMasters/notesMaster1.xml" Id="Re50325c9235d453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04615d7314c43cb" /><Relationship Type="http://schemas.openxmlformats.org/officeDocument/2006/relationships/notesMaster" Target="/ppt/notesMasters/notesMaster1.xml" Id="Rd1ac4205ce6c42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inspiración biológica es una analogía histórica. El modelo utilizado aquí es una función matemática. Una característica describe lo disponible al decidir. El objetivo representa lo que se intenta estimar. En blockchain podemos predecir una variable temporal o clasificar un nodo con etiqueta válida. El aprendizaje depende del problema, de la calidad del dato y de la evaluación.</a:t>
            </a:r>
          </a:p>
          <a:p xmlns:a="http://schemas.openxmlformats.org/drawingml/2006/main">
            <a:r>
              <a:t/>
            </a:r>
          </a:p>
          <a:p xmlns:a="http://schemas.openxmlformats.org/drawingml/2006/main">
            <a:r>
              <a:t>Fuentes y documentación:</a:t>
            </a:r>
          </a:p>
          <a:p xmlns:a="http://schemas.openxmlformats.org/drawingml/2006/main">
            <a:r>
              <a:t>Goodfellow, Bengio y Courville (2016). Deep Learning, capítulo 8</a:t>
            </a:r>
          </a:p>
          <a:p xmlns:a="http://schemas.openxmlformats.org/drawingml/2006/main">
            <a:r>
              <a:t>https://www.deeplearningbook.org/contents/optimization.html</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capa densa transforma un vector mediante una matriz y un sesgo. Varias capas con activaciones no lineales pueden representar relaciones complejas. La capa de salida se elige según el objetivo. La probabilidad que produce el modelo necesita comprobarse con calibración y datos fuera de muestra.</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 es la combinación afín de las entradas. a es la activación. Sin activaciones no lineales, una sucesión de capas densas conserva una transformación afín equivalente, por profunda que sea. Los pesos de una capa oculta no suelen interpretarse como efectos causales independientes.</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primera entrada aporta 0,4. La segunda aporta 0,2. El sesgo agrega 0,1. La suma es 0,7. ReLU conserva el resultado positivo. Una activación de 0,7 no es automáticamente una probabilidad. Para una clasificación binaria se puede utilizar una salida sigmoide sobre un logit y una pérdida compatible.</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curvas representan funciones matemáticas exactas evaluadas entre -4 y 4. ReLU(z)=max(0,z), sigmoide(z)=1/(1+exp(-z)) y tanh(z) es la tangente hiperbólica. Las funciones tienen rangos y derivadas diferentes. Una activación oculta no establece por sí misma el tipo de problema ni asegura buena generalización.</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Forward pass significa calcular una predicción, sin actualizar todavía los parámetros. En una implementación se procesa un lote de ejemplos. La salida de la primera capa es la entrada de la siguiente. La profundidad no implica superioridad empírica. Se contrasta con un modelo lineal y con otros baselines bajo la misma validación.</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pérdida orienta el entrenamiento y la métrica evalúa el resultado. Pueden diferir. En clasificación binaria, una implementación numéricamente estable aplica la pérdida directamente a logits. En volatilidad se puede estimar log-varianza y transformar la salida para mantener positividad. Los nodos sin etiqueta conocida no aportan a la pérdida supervisada.</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ilustrativo sin resultados empíricos. El RMSE de este ejemplo es aproximadamente 1,118 puntos porcentuales. El MAE es 1 punto porcentual. Una escala de entrada o de objetivo distinta cambia los números. Al reportar métricas debe documentarse si los retornos están en fracción o en porcentaje.</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ejemplo muestra una actualización de un parámetro escalar. En una red hay muchas matrices y vectores. Adam combina estimaciones de momentos del gradiente y es una alternativa habitual a SGD. El entrenamiento estocástico no garantiza que cada actualización disminuya la pérdida medida en todo el conjunto.</a:t>
            </a:r>
          </a:p>
          <a:p xmlns:a="http://schemas.openxmlformats.org/drawingml/2006/main">
            <a:r>
              <a:t/>
            </a:r>
          </a:p>
          <a:p xmlns:a="http://schemas.openxmlformats.org/drawingml/2006/main">
            <a:r>
              <a:t>Fuentes y documentación:</a:t>
            </a:r>
          </a:p>
          <a:p xmlns:a="http://schemas.openxmlformats.org/drawingml/2006/main">
            <a:r>
              <a:t>Goodfellow, Bengio y Courville (2016). Deep Learning, capítulo 8</a:t>
            </a:r>
          </a:p>
          <a:p xmlns:a="http://schemas.openxmlformats.org/drawingml/2006/main">
            <a:r>
              <a:t>https://www.deeplearningbook.org/contents/optimization.html</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Backpropagation calcula gradientes. El optimizador decide cómo utilizarlos. Son pasos diferentes. En una RNN la retropropagación atraviesa también los pasos temporales, a menudo con truncamiento. Las variables de evaluación no deben retroalimentar la selección del modelo después de cerrar el protocolo.</a:t>
            </a:r>
          </a:p>
          <a:p xmlns:a="http://schemas.openxmlformats.org/drawingml/2006/main">
            <a:r>
              <a:t/>
            </a:r>
          </a:p>
          <a:p xmlns:a="http://schemas.openxmlformats.org/drawingml/2006/main">
            <a:r>
              <a:t>Fuentes y documentación:</a:t>
            </a:r>
          </a:p>
          <a:p xmlns:a="http://schemas.openxmlformats.org/drawingml/2006/main">
            <a:r>
              <a:t>Goodfellow, Bengio y Courville (2016). Deep Learning, capítulo 8</a:t>
            </a:r>
          </a:p>
          <a:p xmlns:a="http://schemas.openxmlformats.org/drawingml/2006/main">
            <a:r>
              <a:t>https://www.deeplearningbook.org/contents/optimization.html</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hiperparámetros no se aprenden del mismo modo que los pesos. Se seleccionan mediante experimentos controlados. El orden temporal de los ejemplos y el tratamiento del estado recurrente deben ser explícitos. Se puede mezclar el orden de ventanas independientes ya asignadas al entrenamiento sin mezclar los períodos de entrenamiento y prueba.</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validación temporal puede repetirse en varios folds. El conjunto de prueba final permanece reservado. El scaler y la selección de variables se ajustan con entrenamiento. Toda etiqueta debe haber madurado al momento de entrenar. La frecuencia regular facilita comparar períodos.</a:t>
            </a:r>
          </a:p>
          <a:p xmlns:a="http://schemas.openxmlformats.org/drawingml/2006/main">
            <a:r>
              <a:t/>
            </a:r>
          </a:p>
          <a:p xmlns:a="http://schemas.openxmlformats.org/drawingml/2006/main">
            <a:r>
              <a:t>Fuentes y documentación:</a:t>
            </a:r>
          </a:p>
          <a:p xmlns:a="http://schemas.openxmlformats.org/drawingml/2006/main">
            <a:r>
              <a:t>scikit-learn. TimeSeriesSplit</a:t>
            </a:r>
          </a:p>
          <a:p xmlns:a="http://schemas.openxmlformats.org/drawingml/2006/main">
            <a:r>
              <a:t>https://scikit-learn.org/stable/modules/generated/sklearn.model_selection.TimeSeriesSplit.html</a:t>
            </a:r>
          </a:p>
          <a:p xmlns:a="http://schemas.openxmlformats.org/drawingml/2006/main">
            <a:r>
              <a:t/>
            </a:r>
          </a:p>
          <a:p xmlns:a="http://schemas.openxmlformats.org/drawingml/2006/main">
            <a:r>
              <a:t>scikit-learn. Common pitfalls and recommended practices</a:t>
            </a:r>
          </a:p>
          <a:p xmlns:a="http://schemas.openxmlformats.org/drawingml/2006/main">
            <a:r>
              <a:t>https://scikit-learn.org/stable/common_pitfalls.html</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Curvas sintéticas para ilustrar sobreajuste. El mínimo de la pérdida de validación aparece en la quinta época. Una política de early stopping puede detenerse varias épocas después y recuperar el mejor checkpoint. El período de validación permite elegir la época. La prueba final se utiliza para la evaluación, sin seleccionar checkpoints con ella.</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Estas técnicas controlan la capacidad o modifican el entrenamiento. No eliminan fuga de información, etiquetas incorrectas ni cambios de distribución. Dropout y evaluación requieren modos de funcionamiento distintos. En una red recurrente debe especificarse dónde se aplica. Los intervalos entre folds y los resultados por semilla ayudan a medir estabilidad.</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MLP puede utilizar retardos y por ello trabajar con información temporal. La recurrencia introduce un mecanismo diferente para compartir parámetros y actualizar estados. Una GNN introduce información de conexiones, siempre que el grafo esté definido de acuerdo con el objetivo y con la disponibilidad temporal.</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Respuesta orientativa: la entrada contiene una ventana causal y el objetivo está desplazado un día. La salida puede ser lineal con MSE o una alternativa robusta. Un baseline sencillo para el retorno es cero. La MLP recibe la ventana aplanada y la LSTM una secuencia. La comparación requiere mismos folds, datos disponibles, presupuesto de selección y métricas fuera de muestra.</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Lecturas para ampliar y contrastar el método. Los resultados de los artículos pertenecen al experimento de sus autores.</a:t>
            </a:r>
          </a:p>
          <a:p xmlns:a="http://schemas.openxmlformats.org/drawingml/2006/main">
            <a:r>
              <a:t/>
            </a:r>
          </a:p>
          <a:p xmlns:a="http://schemas.openxmlformats.org/drawingml/2006/main">
            <a:r>
              <a:t>Goodfellow, Bengio y Courville (2016). Deep Learning, capítulo 8</a:t>
            </a:r>
          </a:p>
          <a:p xmlns:a="http://schemas.openxmlformats.org/drawingml/2006/main">
            <a:r>
              <a:t>https://www.deeplearningbook.org/contents/optimization.html</a:t>
            </a:r>
          </a:p>
          <a:p xmlns:a="http://schemas.openxmlformats.org/drawingml/2006/main">
            <a:r>
              <a:t/>
            </a:r>
          </a:p>
          <a:p xmlns:a="http://schemas.openxmlformats.org/drawingml/2006/main">
            <a:r>
              <a:t>Hochreiter y Schmidhuber (1997). Long Short-Term Memory</a:t>
            </a:r>
          </a:p>
          <a:p xmlns:a="http://schemas.openxmlformats.org/drawingml/2006/main">
            <a:r>
              <a:t>https://www.bioinf.jku.at/publications/older/2604.pdf</a:t>
            </a:r>
          </a:p>
          <a:p xmlns:a="http://schemas.openxmlformats.org/drawingml/2006/main">
            <a:r>
              <a:t/>
            </a:r>
          </a:p>
          <a:p xmlns:a="http://schemas.openxmlformats.org/drawingml/2006/main">
            <a:r>
              <a:t>PyTorch. LSTM: ecuaciones, estados y dimensiones</a:t>
            </a:r>
          </a:p>
          <a:p xmlns:a="http://schemas.openxmlformats.org/drawingml/2006/main">
            <a:r>
              <a:t>https://docs.pytorch.org/docs/stable/generated/torch.nn.LSTM.html</a:t>
            </a:r>
          </a:p>
          <a:p xmlns:a="http://schemas.openxmlformats.org/drawingml/2006/main">
            <a:r>
              <a:t/>
            </a:r>
          </a:p>
          <a:p xmlns:a="http://schemas.openxmlformats.org/drawingml/2006/main">
            <a:r>
              <a:t>Cho et al. (2014). Learning Phrase Representations using RNN Encoder-Decoder</a:t>
            </a:r>
          </a:p>
          <a:p xmlns:a="http://schemas.openxmlformats.org/drawingml/2006/main">
            <a:r>
              <a:t>https://arxiv.org/abs/1406.1078</a:t>
            </a:r>
          </a:p>
          <a:p xmlns:a="http://schemas.openxmlformats.org/drawingml/2006/main">
            <a:r>
              <a:t/>
            </a:r>
          </a:p>
          <a:p xmlns:a="http://schemas.openxmlformats.org/drawingml/2006/main">
            <a:r>
              <a:t>Kipf y Welling (2017). Semi-Supervised Classification with GCN</a:t>
            </a:r>
          </a:p>
          <a:p xmlns:a="http://schemas.openxmlformats.org/drawingml/2006/main">
            <a:r>
              <a:t>https://arxiv.org/abs/1609.02907</a:t>
            </a:r>
          </a:p>
          <a:p xmlns:a="http://schemas.openxmlformats.org/drawingml/2006/main">
            <a:r>
              <a:t/>
            </a:r>
          </a:p>
          <a:p xmlns:a="http://schemas.openxmlformats.org/drawingml/2006/main">
            <a:r>
              <a:t>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a86504f8d2474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8468c0601ea4e4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a827f3388574ac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e0d09e5e06a4d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e89f60617df48c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3784bc2c4c14d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BDB7825-F6EA-4906-97B6-E41663DFAE4B}"/>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A7BADB3-340A-43E0-A8CB-56E05F32014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29705AF6-A515-403D-A819-FDEB9652BF0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48C7AAA4-787D-49A0-9AED-77EFA11694FC}"/>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F8D92871-BA3C-449C-8666-C31376E8CBB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EBC9A88-E2DB-40C8-A2F9-4731CFF6FE4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33CCCAE-DC8A-4C25-86E5-F88E8B4DFB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35BE9BD3-43CA-4A16-A1D0-BDF5A9D3223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B7C49952-69CA-4EA8-95FF-BF8D13A55D9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A4F6033-6C6A-40E2-97E4-CCF3482E61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7582768-7A46-43D1-A3C7-869897904B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5FC5A156-F7AB-45D8-AF95-67ADC80A153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7CC2F39-03DF-4951-99D4-3FE052524BE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D12440D-8A77-4543-965F-D72149476D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52B9E2A6-250E-4A53-925B-1A305343698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bb4b39d2b44da8" /><Relationship Type="http://schemas.openxmlformats.org/officeDocument/2006/relationships/slideLayout" Target="/ppt/slideLayouts/slideLayout1.xml" Id="R330cf7fc76c14b82" /><Relationship Type="http://schemas.openxmlformats.org/officeDocument/2006/relationships/slideLayout" Target="/ppt/slideLayouts/slideLayout2.xml" Id="R2b89a0f117744bb5" /><Relationship Type="http://schemas.openxmlformats.org/officeDocument/2006/relationships/slideLayout" Target="/ppt/slideLayouts/slideLayout3.xml" Id="R9cb2f9df3c2d40a5" /><Relationship Type="http://schemas.openxmlformats.org/officeDocument/2006/relationships/slideLayout" Target="/ppt/slideLayouts/slideLayout4.xml" Id="R867c14a1160e4e64" /><Relationship Type="http://schemas.openxmlformats.org/officeDocument/2006/relationships/slideLayout" Target="/ppt/slideLayouts/slideLayout5.xml" Id="R5429752007e74d5b" /><Relationship Type="http://schemas.openxmlformats.org/officeDocument/2006/relationships/slideLayout" Target="/ppt/slideLayouts/slideLayout6.xml" Id="R4592b1b6a3554e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0cf7fc76c14b82"/>
    <p:sldLayoutId xmlns:r="http://schemas.openxmlformats.org/officeDocument/2006/relationships" id="2147483650" r:id="R2b89a0f117744bb5"/>
    <p:sldLayoutId xmlns:r="http://schemas.openxmlformats.org/officeDocument/2006/relationships" id="2147483651" r:id="R9cb2f9df3c2d40a5"/>
    <p:sldLayoutId xmlns:r="http://schemas.openxmlformats.org/officeDocument/2006/relationships" id="2147483652" r:id="R867c14a1160e4e64"/>
    <p:sldLayoutId xmlns:r="http://schemas.openxmlformats.org/officeDocument/2006/relationships" id="2147483653" r:id="R5429752007e74d5b"/>
    <p:sldLayoutId xmlns:r="http://schemas.openxmlformats.org/officeDocument/2006/relationships" id="2147483654" r:id="R4592b1b6a3554e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c8e8553952a4979" /><Relationship Type="http://schemas.openxmlformats.org/officeDocument/2006/relationships/notesSlide" Target="/ppt/notesSlides/notesSlide1.xml" Id="R43101417c46f49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e2e135dace84f3f" /><Relationship Type="http://schemas.openxmlformats.org/officeDocument/2006/relationships/notesSlide" Target="/ppt/notesSlides/notesSlide2.xml" Id="Rc1280a07ac9144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6f4ebaf4e22484d" /><Relationship Type="http://schemas.openxmlformats.org/officeDocument/2006/relationships/notesSlide" Target="/ppt/notesSlides/notesSlide3.xml" Id="R53db6dd0652e48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2af41c6c41340e6" /><Relationship Type="http://schemas.openxmlformats.org/officeDocument/2006/relationships/notesSlide" Target="/ppt/notesSlides/notesSlide4.xml" Id="Rcb332c1a027244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40ded13e61d4c2b" /><Relationship Type="http://schemas.openxmlformats.org/officeDocument/2006/relationships/notesSlide" Target="/ppt/notesSlides/notesSlide5.xml" Id="Rbe8da9517a2c49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1d5fdbcb1094396" /><Relationship Type="http://schemas.openxmlformats.org/officeDocument/2006/relationships/chart" Target="/ppt/slides/charts/chart1.xml" Id="R8c5f46ed8a5e42f8" /><Relationship Type="http://schemas.openxmlformats.org/officeDocument/2006/relationships/notesSlide" Target="/ppt/notesSlides/notesSlide6.xml" Id="R632798b0752447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4e467abece54808" /><Relationship Type="http://schemas.openxmlformats.org/officeDocument/2006/relationships/notesSlide" Target="/ppt/notesSlides/notesSlide7.xml" Id="R3868b967c60f42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80c0b97bbc5471b" /><Relationship Type="http://schemas.openxmlformats.org/officeDocument/2006/relationships/notesSlide" Target="/ppt/notesSlides/notesSlide8.xml" Id="R625948298fcb4a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6f25716ffef4819" /><Relationship Type="http://schemas.openxmlformats.org/officeDocument/2006/relationships/notesSlide" Target="/ppt/notesSlides/notesSlide9.xml" Id="R320aaeaf080f44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3f201071ac14812" /><Relationship Type="http://schemas.openxmlformats.org/officeDocument/2006/relationships/notesSlide" Target="/ppt/notesSlides/notesSlide10.xml" Id="Rc09a237c403944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030eb527d51431e" /><Relationship Type="http://schemas.openxmlformats.org/officeDocument/2006/relationships/notesSlide" Target="/ppt/notesSlides/notesSlide11.xml" Id="Rf903e62f3918409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8eb873230bf498e" /><Relationship Type="http://schemas.openxmlformats.org/officeDocument/2006/relationships/notesSlide" Target="/ppt/notesSlides/notesSlide12.xml" Id="Rdb165ccc2ef4484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a9e031239994dcf" /><Relationship Type="http://schemas.openxmlformats.org/officeDocument/2006/relationships/notesSlide" Target="/ppt/notesSlides/notesSlide13.xml" Id="R82e07451d4674d7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fcb505f62724bca" /><Relationship Type="http://schemas.openxmlformats.org/officeDocument/2006/relationships/chart" Target="/ppt/slides/charts/chart2.xml" Id="Rf846d4853b2448ba" /><Relationship Type="http://schemas.openxmlformats.org/officeDocument/2006/relationships/notesSlide" Target="/ppt/notesSlides/notesSlide14.xml" Id="R1160064d09de41d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97d59d33d794ddf" /><Relationship Type="http://schemas.openxmlformats.org/officeDocument/2006/relationships/notesSlide" Target="/ppt/notesSlides/notesSlide15.xml" Id="R3d732c737526411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12a3518e7564ee5" /><Relationship Type="http://schemas.openxmlformats.org/officeDocument/2006/relationships/notesSlide" Target="/ppt/notesSlides/notesSlide16.xml" Id="R8fcde66d0de84c7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e4352248e36488b" /><Relationship Type="http://schemas.openxmlformats.org/officeDocument/2006/relationships/notesSlide" Target="/ppt/notesSlides/notesSlide17.xml" Id="R9c51008a184b476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6238977c42e4a5a" /><Relationship Type="http://schemas.openxmlformats.org/officeDocument/2006/relationships/hyperlink" Target="https://www.deeplearningbook.org/contents/optimization.html" TargetMode="External" Id="R65a7d8bebc8447bb" /><Relationship Type="http://schemas.openxmlformats.org/officeDocument/2006/relationships/hyperlink" Target="https://www.bioinf.jku.at/publications/older/2604.pdf" TargetMode="External" Id="Rf10aa2b2367c40d8" /><Relationship Type="http://schemas.openxmlformats.org/officeDocument/2006/relationships/hyperlink" Target="https://docs.pytorch.org/docs/stable/generated/torch.nn.LSTM.html" TargetMode="External" Id="R2b0d102794184289" /><Relationship Type="http://schemas.openxmlformats.org/officeDocument/2006/relationships/hyperlink" Target="https://arxiv.org/abs/1406.1078" TargetMode="External" Id="R3d36f17bfadd4958" /><Relationship Type="http://schemas.openxmlformats.org/officeDocument/2006/relationships/hyperlink" Target="https://arxiv.org/abs/1609.02907" TargetMode="External" Id="R2944340d1c0c400d" /><Relationship Type="http://schemas.openxmlformats.org/officeDocument/2006/relationships/notesSlide" Target="/ppt/notesSlides/notesSlide18.xml" Id="Ra4790a172ddb4d3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ReLU</c:v>
          </c:tx>
          <c:spPr>
            <a:ln xmlns:a="http://schemas.openxmlformats.org/drawingml/2006/main" w="28575">
              <a:solidFill>
                <a:srgbClr val="0284C7"/>
              </a:solidFill>
            </a:ln>
          </c:spPr>
          <c:marker>
            <c:symbol val="none"/>
          </c:marker>
          <c:cat>
            <c:numRef>
              <c:f>'Chart Data'!$A$2:$A$18</c:f>
              <c:numCache>
                <c:formatCode>General</c:formatCode>
                <c:ptCount val="17"/>
                <c:pt idx="0">
                  <c:v>-4</c:v>
                </c:pt>
                <c:pt idx="1">
                  <c:v>-3.5</c:v>
                </c:pt>
                <c:pt idx="2">
                  <c:v>-3</c:v>
                </c:pt>
                <c:pt idx="3">
                  <c:v>-2.5</c:v>
                </c:pt>
                <c:pt idx="4">
                  <c:v>-2</c:v>
                </c:pt>
                <c:pt idx="5">
                  <c:v>-1.5</c:v>
                </c:pt>
                <c:pt idx="6">
                  <c:v>-1</c:v>
                </c:pt>
                <c:pt idx="7">
                  <c:v>-0.5</c:v>
                </c:pt>
                <c:pt idx="8">
                  <c:v>0</c:v>
                </c:pt>
                <c:pt idx="9">
                  <c:v>0.5</c:v>
                </c:pt>
                <c:pt idx="10">
                  <c:v>1</c:v>
                </c:pt>
                <c:pt idx="11">
                  <c:v>1.5</c:v>
                </c:pt>
                <c:pt idx="12">
                  <c:v>2</c:v>
                </c:pt>
                <c:pt idx="13">
                  <c:v>2.5</c:v>
                </c:pt>
                <c:pt idx="14">
                  <c:v>3</c:v>
                </c:pt>
                <c:pt idx="15">
                  <c:v>3.5</c:v>
                </c:pt>
                <c:pt idx="16">
                  <c:v>4</c:v>
                </c:pt>
              </c:numCache>
            </c:numRef>
          </c:cat>
          <c:val>
            <c:numRef>
              <c:f>'Chart Data'!$B$2:$B$18</c:f>
              <c:numCache>
                <c:formatCode>General</c:formatCode>
                <c:ptCount val="17"/>
                <c:pt idx="0">
                  <c:v>0</c:v>
                </c:pt>
                <c:pt idx="1">
                  <c:v>0</c:v>
                </c:pt>
                <c:pt idx="2">
                  <c:v>0</c:v>
                </c:pt>
                <c:pt idx="3">
                  <c:v>0</c:v>
                </c:pt>
                <c:pt idx="4">
                  <c:v>0</c:v>
                </c:pt>
                <c:pt idx="5">
                  <c:v>0</c:v>
                </c:pt>
                <c:pt idx="6">
                  <c:v>0</c:v>
                </c:pt>
                <c:pt idx="7">
                  <c:v>0</c:v>
                </c:pt>
                <c:pt idx="8">
                  <c:v>0</c:v>
                </c:pt>
                <c:pt idx="9">
                  <c:v>0.5</c:v>
                </c:pt>
                <c:pt idx="10">
                  <c:v>1</c:v>
                </c:pt>
                <c:pt idx="11">
                  <c:v>1.5</c:v>
                </c:pt>
                <c:pt idx="12">
                  <c:v>2</c:v>
                </c:pt>
                <c:pt idx="13">
                  <c:v>2.5</c:v>
                </c:pt>
                <c:pt idx="14">
                  <c:v>3</c:v>
                </c:pt>
                <c:pt idx="15">
                  <c:v>3.5</c:v>
                </c:pt>
                <c:pt idx="16">
                  <c:v>4</c:v>
                </c:pt>
              </c:numCache>
            </c:numRef>
          </c:val>
        </c:ser>
        <c:ser>
          <c:idx val="1"/>
          <c:order val="1"/>
          <c:tx>
            <c:v>Sigmoide</c:v>
          </c:tx>
          <c:spPr>
            <a:ln xmlns:a="http://schemas.openxmlformats.org/drawingml/2006/main" w="28575">
              <a:solidFill>
                <a:srgbClr val="7C3AED"/>
              </a:solidFill>
            </a:ln>
          </c:spPr>
          <c:marker>
            <c:symbol val="none"/>
          </c:marker>
          <c:cat>
            <c:numRef>
              <c:f>'Chart Data'!$C$2:$C$18</c:f>
              <c:numCache>
                <c:formatCode>General</c:formatCode>
                <c:ptCount val="17"/>
                <c:pt idx="0">
                  <c:v>-4</c:v>
                </c:pt>
                <c:pt idx="1">
                  <c:v>-3.5</c:v>
                </c:pt>
                <c:pt idx="2">
                  <c:v>-3</c:v>
                </c:pt>
                <c:pt idx="3">
                  <c:v>-2.5</c:v>
                </c:pt>
                <c:pt idx="4">
                  <c:v>-2</c:v>
                </c:pt>
                <c:pt idx="5">
                  <c:v>-1.5</c:v>
                </c:pt>
                <c:pt idx="6">
                  <c:v>-1</c:v>
                </c:pt>
                <c:pt idx="7">
                  <c:v>-0.5</c:v>
                </c:pt>
                <c:pt idx="8">
                  <c:v>0</c:v>
                </c:pt>
                <c:pt idx="9">
                  <c:v>0.5</c:v>
                </c:pt>
                <c:pt idx="10">
                  <c:v>1</c:v>
                </c:pt>
                <c:pt idx="11">
                  <c:v>1.5</c:v>
                </c:pt>
                <c:pt idx="12">
                  <c:v>2</c:v>
                </c:pt>
                <c:pt idx="13">
                  <c:v>2.5</c:v>
                </c:pt>
                <c:pt idx="14">
                  <c:v>3</c:v>
                </c:pt>
                <c:pt idx="15">
                  <c:v>3.5</c:v>
                </c:pt>
                <c:pt idx="16">
                  <c:v>4</c:v>
                </c:pt>
              </c:numCache>
            </c:numRef>
          </c:cat>
          <c:val>
            <c:numRef>
              <c:f>'Chart Data'!$D$2:$D$18</c:f>
              <c:numCache>
                <c:formatCode>General</c:formatCode>
                <c:ptCount val="17"/>
                <c:pt idx="0">
                  <c:v>0.017986</c:v>
                </c:pt>
                <c:pt idx="1">
                  <c:v>0.029312</c:v>
                </c:pt>
                <c:pt idx="2">
                  <c:v>0.047426</c:v>
                </c:pt>
                <c:pt idx="3">
                  <c:v>0.075858</c:v>
                </c:pt>
                <c:pt idx="4">
                  <c:v>0.119203</c:v>
                </c:pt>
                <c:pt idx="5">
                  <c:v>0.182426</c:v>
                </c:pt>
                <c:pt idx="6">
                  <c:v>0.268941</c:v>
                </c:pt>
                <c:pt idx="7">
                  <c:v>0.377541</c:v>
                </c:pt>
                <c:pt idx="8">
                  <c:v>0.5</c:v>
                </c:pt>
                <c:pt idx="9">
                  <c:v>0.622459</c:v>
                </c:pt>
                <c:pt idx="10">
                  <c:v>0.731059</c:v>
                </c:pt>
                <c:pt idx="11">
                  <c:v>0.817574</c:v>
                </c:pt>
                <c:pt idx="12">
                  <c:v>0.880797</c:v>
                </c:pt>
                <c:pt idx="13">
                  <c:v>0.924142</c:v>
                </c:pt>
                <c:pt idx="14">
                  <c:v>0.952574</c:v>
                </c:pt>
                <c:pt idx="15">
                  <c:v>0.970688</c:v>
                </c:pt>
                <c:pt idx="16">
                  <c:v>0.982014</c:v>
                </c:pt>
              </c:numCache>
            </c:numRef>
          </c:val>
        </c:ser>
        <c:ser>
          <c:idx val="2"/>
          <c:order val="2"/>
          <c:tx>
            <c:v>tanh</c:v>
          </c:tx>
          <c:spPr>
            <a:ln xmlns:a="http://schemas.openxmlformats.org/drawingml/2006/main" w="28575">
              <a:solidFill>
                <a:srgbClr val="059669"/>
              </a:solidFill>
            </a:ln>
          </c:spPr>
          <c:marker>
            <c:symbol val="none"/>
          </c:marker>
          <c:cat>
            <c:numRef>
              <c:f>'Chart Data'!$E$2:$E$18</c:f>
              <c:numCache>
                <c:formatCode>General</c:formatCode>
                <c:ptCount val="17"/>
                <c:pt idx="0">
                  <c:v>-4</c:v>
                </c:pt>
                <c:pt idx="1">
                  <c:v>-3.5</c:v>
                </c:pt>
                <c:pt idx="2">
                  <c:v>-3</c:v>
                </c:pt>
                <c:pt idx="3">
                  <c:v>-2.5</c:v>
                </c:pt>
                <c:pt idx="4">
                  <c:v>-2</c:v>
                </c:pt>
                <c:pt idx="5">
                  <c:v>-1.5</c:v>
                </c:pt>
                <c:pt idx="6">
                  <c:v>-1</c:v>
                </c:pt>
                <c:pt idx="7">
                  <c:v>-0.5</c:v>
                </c:pt>
                <c:pt idx="8">
                  <c:v>0</c:v>
                </c:pt>
                <c:pt idx="9">
                  <c:v>0.5</c:v>
                </c:pt>
                <c:pt idx="10">
                  <c:v>1</c:v>
                </c:pt>
                <c:pt idx="11">
                  <c:v>1.5</c:v>
                </c:pt>
                <c:pt idx="12">
                  <c:v>2</c:v>
                </c:pt>
                <c:pt idx="13">
                  <c:v>2.5</c:v>
                </c:pt>
                <c:pt idx="14">
                  <c:v>3</c:v>
                </c:pt>
                <c:pt idx="15">
                  <c:v>3.5</c:v>
                </c:pt>
                <c:pt idx="16">
                  <c:v>4</c:v>
                </c:pt>
              </c:numCache>
            </c:numRef>
          </c:cat>
          <c:val>
            <c:numRef>
              <c:f>'Chart Data'!$F$2:$F$18</c:f>
              <c:numCache>
                <c:formatCode>General</c:formatCode>
                <c:ptCount val="17"/>
                <c:pt idx="0">
                  <c:v>-0.999329</c:v>
                </c:pt>
                <c:pt idx="1">
                  <c:v>-0.998178</c:v>
                </c:pt>
                <c:pt idx="2">
                  <c:v>-0.995055</c:v>
                </c:pt>
                <c:pt idx="3">
                  <c:v>-0.986614</c:v>
                </c:pt>
                <c:pt idx="4">
                  <c:v>-0.964028</c:v>
                </c:pt>
                <c:pt idx="5">
                  <c:v>-0.905148</c:v>
                </c:pt>
                <c:pt idx="6">
                  <c:v>-0.761594</c:v>
                </c:pt>
                <c:pt idx="7">
                  <c:v>-0.462117</c:v>
                </c:pt>
                <c:pt idx="8">
                  <c:v>0</c:v>
                </c:pt>
                <c:pt idx="9">
                  <c:v>0.462117</c:v>
                </c:pt>
                <c:pt idx="10">
                  <c:v>0.761594</c:v>
                </c:pt>
                <c:pt idx="11">
                  <c:v>0.905148</c:v>
                </c:pt>
                <c:pt idx="12">
                  <c:v>0.964028</c:v>
                </c:pt>
                <c:pt idx="13">
                  <c:v>0.986614</c:v>
                </c:pt>
                <c:pt idx="14">
                  <c:v>0.995055</c:v>
                </c:pt>
                <c:pt idx="15">
                  <c:v>0.998178</c:v>
                </c:pt>
                <c:pt idx="16">
                  <c:v>0.999329</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Entrada z</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75569"/>
                </a:solidFill>
                <a:latin typeface="DejaVu Sans"/>
                <a:ea typeface="DejaVu Sans"/>
                <a:cs typeface="DejaVu Sans"/>
              </a:defRPr>
            </a:pPr>
          </a:p>
        </c:txPr>
        <c:crossAx val="48672768"/>
      </c:catAx>
      <c:valAx>
        <c:axId val="48672768"/>
        <c:scaling>
          <c:orientation val="minMax"/>
        </c:scaling>
        <c:delete val="0"/>
        <c:axPos val="l"/>
        <c:majorGridlines>
          <c:spPr>
            <a:ln xmlns:a="http://schemas.openxmlformats.org/drawingml/2006/main" w="6668">
              <a:solidFill>
                <a:srgbClr val="CBD5E1"/>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Activación</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75569"/>
                </a:solidFill>
                <a:latin typeface="DejaVu Sans"/>
                <a:ea typeface="DejaVu Sans"/>
                <a:cs typeface="DejaVu Sans"/>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2033"/>
              </a:solidFill>
              <a:latin typeface="DejaVu Sans"/>
              <a:ea typeface="DejaVu Sans"/>
              <a:cs typeface="DejaVu Sans"/>
            </a:defRPr>
          </a:pPr>
        </a:p>
      </c:txPr>
    </c:legend>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Entrenamiento</c:v>
          </c:tx>
          <c:spPr>
            <a:ln xmlns:a="http://schemas.openxmlformats.org/drawingml/2006/main" w="28575">
              <a:solidFill>
                <a:srgbClr val="0284C7"/>
              </a:solidFill>
            </a:ln>
          </c:spPr>
          <c:marker>
            <c:symbol val="none"/>
          </c:marker>
          <c:cat>
            <c:numRef>
              <c:f>'Chart Data'!$A$2:$A$10</c:f>
              <c:numCache>
                <c:formatCode>General</c:formatCode>
                <c:ptCount val="9"/>
                <c:pt idx="0">
                  <c:v>1</c:v>
                </c:pt>
                <c:pt idx="1">
                  <c:v>2</c:v>
                </c:pt>
                <c:pt idx="2">
                  <c:v>3</c:v>
                </c:pt>
                <c:pt idx="3">
                  <c:v>4</c:v>
                </c:pt>
                <c:pt idx="4">
                  <c:v>5</c:v>
                </c:pt>
                <c:pt idx="5">
                  <c:v>6</c:v>
                </c:pt>
                <c:pt idx="6">
                  <c:v>7</c:v>
                </c:pt>
                <c:pt idx="7">
                  <c:v>8</c:v>
                </c:pt>
                <c:pt idx="8">
                  <c:v>9</c:v>
                </c:pt>
              </c:numCache>
            </c:numRef>
          </c:cat>
          <c:val>
            <c:numRef>
              <c:f>'Chart Data'!$B$2:$B$10</c:f>
              <c:numCache>
                <c:formatCode>General</c:formatCode>
                <c:ptCount val="9"/>
                <c:pt idx="0">
                  <c:v>0.95</c:v>
                </c:pt>
                <c:pt idx="1">
                  <c:v>0.65</c:v>
                </c:pt>
                <c:pt idx="2">
                  <c:v>0.48</c:v>
                </c:pt>
                <c:pt idx="3">
                  <c:v>0.35</c:v>
                </c:pt>
                <c:pt idx="4">
                  <c:v>0.24</c:v>
                </c:pt>
                <c:pt idx="5">
                  <c:v>0.18</c:v>
                </c:pt>
                <c:pt idx="6">
                  <c:v>0.12</c:v>
                </c:pt>
                <c:pt idx="7">
                  <c:v>0.09</c:v>
                </c:pt>
                <c:pt idx="8">
                  <c:v>0.07</c:v>
                </c:pt>
              </c:numCache>
            </c:numRef>
          </c:val>
        </c:ser>
        <c:ser>
          <c:idx val="1"/>
          <c:order val="1"/>
          <c:tx>
            <c:v>Validación</c:v>
          </c:tx>
          <c:spPr>
            <a:ln xmlns:a="http://schemas.openxmlformats.org/drawingml/2006/main" w="28575">
              <a:solidFill>
                <a:srgbClr val="D97706"/>
              </a:solidFill>
            </a:ln>
          </c:spPr>
          <c:marker>
            <c:symbol val="none"/>
          </c:marker>
          <c:cat>
            <c:numRef>
              <c:f>'Chart Data'!$C$2:$C$10</c:f>
              <c:numCache>
                <c:formatCode>General</c:formatCode>
                <c:ptCount val="9"/>
                <c:pt idx="0">
                  <c:v>1</c:v>
                </c:pt>
                <c:pt idx="1">
                  <c:v>2</c:v>
                </c:pt>
                <c:pt idx="2">
                  <c:v>3</c:v>
                </c:pt>
                <c:pt idx="3">
                  <c:v>4</c:v>
                </c:pt>
                <c:pt idx="4">
                  <c:v>5</c:v>
                </c:pt>
                <c:pt idx="5">
                  <c:v>6</c:v>
                </c:pt>
                <c:pt idx="6">
                  <c:v>7</c:v>
                </c:pt>
                <c:pt idx="7">
                  <c:v>8</c:v>
                </c:pt>
                <c:pt idx="8">
                  <c:v>9</c:v>
                </c:pt>
              </c:numCache>
            </c:numRef>
          </c:cat>
          <c:val>
            <c:numRef>
              <c:f>'Chart Data'!$D$2:$D$10</c:f>
              <c:numCache>
                <c:formatCode>General</c:formatCode>
                <c:ptCount val="9"/>
                <c:pt idx="0">
                  <c:v>1</c:v>
                </c:pt>
                <c:pt idx="1">
                  <c:v>0.72</c:v>
                </c:pt>
                <c:pt idx="2">
                  <c:v>0.58</c:v>
                </c:pt>
                <c:pt idx="3">
                  <c:v>0.5</c:v>
                </c:pt>
                <c:pt idx="4">
                  <c:v>0.46</c:v>
                </c:pt>
                <c:pt idx="5">
                  <c:v>0.47</c:v>
                </c:pt>
                <c:pt idx="6">
                  <c:v>0.53</c:v>
                </c:pt>
                <c:pt idx="7">
                  <c:v>0.61</c:v>
                </c:pt>
                <c:pt idx="8">
                  <c:v>0.72</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Época</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75569"/>
                </a:solidFill>
                <a:latin typeface="DejaVu Sans"/>
                <a:ea typeface="DejaVu Sans"/>
                <a:cs typeface="DejaVu Sans"/>
              </a:defRPr>
            </a:pPr>
          </a:p>
        </c:txPr>
        <c:crossAx val="48672768"/>
      </c:catAx>
      <c:valAx>
        <c:axId val="48672768"/>
        <c:scaling>
          <c:orientation val="minMax"/>
        </c:scaling>
        <c:delete val="0"/>
        <c:axPos val="l"/>
        <c:majorGridlines>
          <c:spPr>
            <a:ln xmlns:a="http://schemas.openxmlformats.org/drawingml/2006/main" w="6668">
              <a:solidFill>
                <a:srgbClr val="CBD5E1"/>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Pérdida</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75569"/>
                </a:solidFill>
                <a:latin typeface="DejaVu Sans"/>
                <a:ea typeface="DejaVu Sans"/>
                <a:cs typeface="DejaVu Sans"/>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2033"/>
              </a:solidFill>
              <a:latin typeface="DejaVu Sans"/>
              <a:ea typeface="DejaVu Sans"/>
              <a:cs typeface="DejaVu Sans"/>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6" name="author">
            <a:extLst xmlns:a="http://schemas.openxmlformats.org/drawingml/2006/main">
              <a:ext uri="{FF2B5EF4-FFF2-40B4-BE49-F238E27FC236}">
                <a16:creationId xmlns:a16="http://schemas.microsoft.com/office/drawing/2014/main" id="{2BA262D5-24A5-4DFC-ADDF-EE429DAF20DC}"/>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CBD5E1"/>
                </a:solidFill>
                <a:latin typeface="DejaVu Sans"/>
                <a:ea typeface="DejaVu Sans"/>
                <a:cs typeface="DejaVu Sans"/>
              </a:defRPr>
            </a:pPr>
            <a:r>
              <a:rPr sz="1350" b="0">
                <a:solidFill>
                  <a:srgbClr val="CBD5E1"/>
                </a:solidFill>
                <a:latin typeface="DejaVu Sans"/>
                <a:ea typeface="DejaVu Sans"/>
                <a:cs typeface="DejaVu Sans"/>
              </a:rPr>
              <a:t>Material elaborado por el profesor Sergio Gevatschnaider.</a:t>
            </a:r>
          </a:p>
        </p:txBody>
      </p:sp>
      <p:sp>
        <p:nvSpPr>
          <p:cNvPr id="2" name="page">
            <a:extLst xmlns:a="http://schemas.openxmlformats.org/drawingml/2006/main">
              <a:ext uri="{FF2B5EF4-FFF2-40B4-BE49-F238E27FC236}">
                <a16:creationId xmlns:a16="http://schemas.microsoft.com/office/drawing/2014/main" id="{71494FD7-0168-4F77-8F3E-C655A2DEBEEF}"/>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BD5E1"/>
                </a:solidFill>
                <a:latin typeface="DejaVu Sans"/>
                <a:ea typeface="DejaVu Sans"/>
                <a:cs typeface="DejaVu Sans"/>
              </a:defRPr>
            </a:pPr>
            <a:r>
              <a:rPr sz="1350" b="0">
                <a:solidFill>
                  <a:srgbClr val="CBD5E1"/>
                </a:solidFill>
                <a:latin typeface="DejaVu Sans"/>
                <a:ea typeface="DejaVu Sans"/>
                <a:cs typeface="DejaVu Sans"/>
              </a:rPr>
              <a:t>01 / 18</a:t>
            </a:r>
          </a:p>
        </p:txBody>
      </p:sp>
      <p:sp>
        <p:nvSpPr>
          <p:cNvPr id="3" name="cover-unit">
            <a:extLst xmlns:a="http://schemas.openxmlformats.org/drawingml/2006/main">
              <a:ext uri="{FF2B5EF4-FFF2-40B4-BE49-F238E27FC236}">
                <a16:creationId xmlns:a16="http://schemas.microsoft.com/office/drawing/2014/main" id="{88AAB20C-CDED-4141-A0B2-03A132D23B1D}"/>
              </a:ext>
            </a:extLst>
          </p:cNvPr>
          <p:cNvSpPr>
            <a:spLocks xmlns:a="http://schemas.openxmlformats.org/drawingml/2006/main" noGrp="1"/>
          </p:cNvSpPr>
          <p:nvPr/>
        </p:nvSpPr>
        <p:spPr>
          <a:xfrm xmlns:a="http://schemas.openxmlformats.org/drawingml/2006/main">
            <a:off x="609600" y="10096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369A1"/>
                </a:solidFill>
                <a:latin typeface="DejaVu Sans"/>
                <a:ea typeface="DejaVu Sans"/>
                <a:cs typeface="DejaVu Sans"/>
              </a:defRPr>
            </a:pPr>
            <a:r>
              <a:rPr sz="1875" b="1">
                <a:solidFill>
                  <a:srgbClr val="0369A1"/>
                </a:solidFill>
                <a:latin typeface="DejaVu Sans"/>
                <a:ea typeface="DejaVu Sans"/>
                <a:cs typeface="DejaVu Sans"/>
              </a:rPr>
              <a:t>UNIDAD 8</a:t>
            </a:r>
          </a:p>
        </p:txBody>
      </p:sp>
      <p:sp>
        <p:nvSpPr>
          <p:cNvPr id="4" name="cover-title">
            <a:extLst xmlns:a="http://schemas.openxmlformats.org/drawingml/2006/main">
              <a:ext uri="{FF2B5EF4-FFF2-40B4-BE49-F238E27FC236}">
                <a16:creationId xmlns:a16="http://schemas.microsoft.com/office/drawing/2014/main" id="{AD0159D1-9F98-4E88-A784-5CE693AEA037}"/>
              </a:ext>
            </a:extLst>
          </p:cNvPr>
          <p:cNvSpPr>
            <a:spLocks xmlns:a="http://schemas.openxmlformats.org/drawingml/2006/main" noGrp="1"/>
          </p:cNvSpPr>
          <p:nvPr/>
        </p:nvSpPr>
        <p:spPr>
          <a:xfrm xmlns:a="http://schemas.openxmlformats.org/drawingml/2006/main">
            <a:off x="609600" y="2143125"/>
            <a:ext cx="10934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Redes neuronales</a:t>
            </a:r>
          </a:p>
        </p:txBody>
      </p:sp>
      <p:sp>
        <p:nvSpPr>
          <p:cNvPr id="5" name="cover-subtitle">
            <a:extLst xmlns:a="http://schemas.openxmlformats.org/drawingml/2006/main">
              <a:ext uri="{FF2B5EF4-FFF2-40B4-BE49-F238E27FC236}">
                <a16:creationId xmlns:a16="http://schemas.microsoft.com/office/drawing/2014/main" id="{22F43BAB-8559-45A7-8C95-059D9A689B0B}"/>
              </a:ext>
            </a:extLst>
          </p:cNvPr>
          <p:cNvSpPr>
            <a:spLocks xmlns:a="http://schemas.openxmlformats.org/drawingml/2006/main" noGrp="1"/>
          </p:cNvSpPr>
          <p:nvPr/>
        </p:nvSpPr>
        <p:spPr>
          <a:xfrm xmlns:a="http://schemas.openxmlformats.org/drawingml/2006/main">
            <a:off x="609600" y="42481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CBD5E1"/>
                </a:solidFill>
                <a:latin typeface="DejaVu Sans"/>
                <a:ea typeface="DejaVu Sans"/>
                <a:cs typeface="DejaVu Sans"/>
              </a:defRPr>
            </a:pPr>
            <a:r>
              <a:rPr sz="2175" b="0">
                <a:solidFill>
                  <a:srgbClr val="CBD5E1"/>
                </a:solidFill>
                <a:latin typeface="DejaVu Sans"/>
                <a:ea typeface="DejaVu Sans"/>
                <a:cs typeface="DejaVu Sans"/>
              </a:rPr>
              <a:t>Fundamentos para comprender LSTM y GNN aplicadas a blockchain</a:t>
            </a:r>
          </a:p>
        </p:txBody>
      </p:sp>
    </p:spTree>
    <p:extLst>
      <p:ext uri="{BB962C8B-B14F-4D97-AF65-F5344CB8AC3E}">
        <p14:creationId xmlns:p14="http://schemas.microsoft.com/office/powerpoint/2010/main" val="559942752"/>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AD79FAF7-D154-4625-9A56-5BD591D6754A}"/>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Redes neuronales</a:t>
            </a:r>
          </a:p>
        </p:txBody>
      </p:sp>
      <p:sp>
        <p:nvSpPr>
          <p:cNvPr id="2" name="title">
            <a:extLst xmlns:a="http://schemas.openxmlformats.org/drawingml/2006/main">
              <a:ext uri="{FF2B5EF4-FFF2-40B4-BE49-F238E27FC236}">
                <a16:creationId xmlns:a16="http://schemas.microsoft.com/office/drawing/2014/main" id="{7A43CE43-0AE0-4F69-9CEA-CEBED7848315}"/>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Qué aprende una red neuronal</a:t>
            </a:r>
          </a:p>
        </p:txBody>
      </p:sp>
      <p:sp>
        <p:nvSpPr>
          <p:cNvPr id="3" name="author">
            <a:extLst xmlns:a="http://schemas.openxmlformats.org/drawingml/2006/main">
              <a:ext uri="{FF2B5EF4-FFF2-40B4-BE49-F238E27FC236}">
                <a16:creationId xmlns:a16="http://schemas.microsoft.com/office/drawing/2014/main" id="{7AD9865B-1840-4736-ABB6-863697187E05}"/>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01781888-66AD-45CB-968C-F92A13C06C6E}"/>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02 / 18</a:t>
            </a:r>
          </a:p>
        </p:txBody>
      </p:sp>
      <p:sp>
        <p:nvSpPr>
          <p:cNvPr id="5" name="label-0">
            <a:extLst xmlns:a="http://schemas.openxmlformats.org/drawingml/2006/main">
              <a:ext uri="{FF2B5EF4-FFF2-40B4-BE49-F238E27FC236}">
                <a16:creationId xmlns:a16="http://schemas.microsoft.com/office/drawing/2014/main" id="{AA98BC44-CADE-40D2-82B0-DD485BCDDE31}"/>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Función parametrizada</a:t>
            </a:r>
          </a:p>
        </p:txBody>
      </p:sp>
      <p:sp>
        <p:nvSpPr>
          <p:cNvPr id="6" name="body-0">
            <a:extLst xmlns:a="http://schemas.openxmlformats.org/drawingml/2006/main">
              <a:ext uri="{FF2B5EF4-FFF2-40B4-BE49-F238E27FC236}">
                <a16:creationId xmlns:a16="http://schemas.microsoft.com/office/drawing/2014/main" id="{151B5AF5-A8D5-4D8E-9D84-4D4D7FA9C5F9}"/>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Una red transforma variables de entrada en una salida mediante operaciones cuyos pesos aprende a partir de ejemplos.</a:t>
            </a:r>
          </a:p>
        </p:txBody>
      </p:sp>
      <p:sp>
        <p:nvSpPr>
          <p:cNvPr id="7" name="label-1">
            <a:extLst xmlns:a="http://schemas.openxmlformats.org/drawingml/2006/main">
              <a:ext uri="{FF2B5EF4-FFF2-40B4-BE49-F238E27FC236}">
                <a16:creationId xmlns:a16="http://schemas.microsoft.com/office/drawing/2014/main" id="{7FBF9147-EF17-481A-AB0A-D6C13E9986C4}"/>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Aprendizaje supervisado</a:t>
            </a:r>
          </a:p>
        </p:txBody>
      </p:sp>
      <p:sp>
        <p:nvSpPr>
          <p:cNvPr id="8" name="body-1">
            <a:extLst xmlns:a="http://schemas.openxmlformats.org/drawingml/2006/main">
              <a:ext uri="{FF2B5EF4-FFF2-40B4-BE49-F238E27FC236}">
                <a16:creationId xmlns:a16="http://schemas.microsoft.com/office/drawing/2014/main" id="{E01B6D69-E649-4A37-983C-17D0E05085D5}"/>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Cada ejemplo combina características X con un objetivo y. El entrenamiento ajusta parámetros para reducir una pérdida.</a:t>
            </a:r>
          </a:p>
        </p:txBody>
      </p:sp>
      <p:sp>
        <p:nvSpPr>
          <p:cNvPr id="9" name="label-2">
            <a:extLst xmlns:a="http://schemas.openxmlformats.org/drawingml/2006/main">
              <a:ext uri="{FF2B5EF4-FFF2-40B4-BE49-F238E27FC236}">
                <a16:creationId xmlns:a16="http://schemas.microsoft.com/office/drawing/2014/main" id="{F8576B02-5E5F-4D43-A2B4-113B310E19D8}"/>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Generalización</a:t>
            </a:r>
          </a:p>
        </p:txBody>
      </p:sp>
      <p:sp>
        <p:nvSpPr>
          <p:cNvPr id="10" name="body-2">
            <a:extLst xmlns:a="http://schemas.openxmlformats.org/drawingml/2006/main">
              <a:ext uri="{FF2B5EF4-FFF2-40B4-BE49-F238E27FC236}">
                <a16:creationId xmlns:a16="http://schemas.microsoft.com/office/drawing/2014/main" id="{998C8819-CE37-4669-95A2-F2CBD3E3BF96}"/>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El valor del modelo se evalúa sobre observaciones que quedaron fuera del entrenamiento.</a:t>
            </a:r>
          </a:p>
        </p:txBody>
      </p:sp>
    </p:spTree>
    <p:extLst>
      <p:ext uri="{BB962C8B-B14F-4D97-AF65-F5344CB8AC3E}">
        <p14:creationId xmlns:p14="http://schemas.microsoft.com/office/powerpoint/2010/main" val="1258041533"/>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8F010078-AF5E-4331-A8FF-46AF293E4EF1}"/>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Redes neuronales</a:t>
            </a:r>
          </a:p>
        </p:txBody>
      </p:sp>
      <p:sp>
        <p:nvSpPr>
          <p:cNvPr id="2" name="title">
            <a:extLst xmlns:a="http://schemas.openxmlformats.org/drawingml/2006/main">
              <a:ext uri="{FF2B5EF4-FFF2-40B4-BE49-F238E27FC236}">
                <a16:creationId xmlns:a16="http://schemas.microsoft.com/office/drawing/2014/main" id="{B78D4558-1482-4F2C-A2FD-0BC46A8D962E}"/>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Entradas, capas ocultas y salida</a:t>
            </a:r>
          </a:p>
        </p:txBody>
      </p:sp>
      <p:sp>
        <p:nvSpPr>
          <p:cNvPr id="3" name="author">
            <a:extLst xmlns:a="http://schemas.openxmlformats.org/drawingml/2006/main">
              <a:ext uri="{FF2B5EF4-FFF2-40B4-BE49-F238E27FC236}">
                <a16:creationId xmlns:a16="http://schemas.microsoft.com/office/drawing/2014/main" id="{1F36F71D-A599-4B72-B5A8-453F7479A244}"/>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C741EA62-7FC7-45D5-A650-4B2B2B185F63}"/>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03 / 18</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842010">
                <a:tc>
                  <a:txBody>
                    <a:bodyPr>
                      <a:noAutofit/>
                    </a:bodyPr>
                    <a:lstStyle/>
                    <a:p>
                      <a:r>
                        <a:rPr sz="1575" b="1">
                          <a:solidFill>
                            <a:srgbClr val="FFFFFF"/>
                          </a:solidFill>
                          <a:latin typeface="DejaVu Sans"/>
                          <a:ea typeface="DejaVu Sans"/>
                          <a:cs typeface="DejaVu Sans"/>
                        </a:rPr>
                        <a:t>Componente</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Función</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Ejemplo en blockchain</a:t>
                      </a:r>
                    </a:p>
                  </a:txBody>
                  <a:tcPr marL="114300" marR="114300" marT="76200" marB="76200" anchor="ctr">
                    <a:solidFill>
                      <a:srgbClr val="0B1020"/>
                    </a:solidFill>
                  </a:tcPr>
                </a:tc>
              </a:tr>
              <a:tr h="842010">
                <a:tc>
                  <a:txBody>
                    <a:bodyPr>
                      <a:noAutofit/>
                    </a:bodyPr>
                    <a:lstStyle/>
                    <a:p>
                      <a:r>
                        <a:rPr sz="1688" b="1">
                          <a:solidFill>
                            <a:srgbClr val="172033"/>
                          </a:solidFill>
                          <a:latin typeface="DejaVu Sans"/>
                          <a:ea typeface="DejaVu Sans"/>
                          <a:cs typeface="DejaVu Sans"/>
                        </a:rPr>
                        <a:t>Entrada</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Recibe características medidas</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Retorno, volumen, gas o atributos de un nodo</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Capas ocultas</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Construyen representaciones intermedias</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Combinaciones aprendidas de actividad y mercado</a:t>
                      </a:r>
                    </a:p>
                  </a:txBody>
                  <a:tcPr marL="114300" marR="114300" marT="76200" marB="76200" anchor="ctr">
                    <a:solidFill>
                      <a:srgbClr val="EEF2F7"/>
                    </a:solidFill>
                  </a:tcPr>
                </a:tc>
              </a:tr>
              <a:tr h="842010">
                <a:tc>
                  <a:txBody>
                    <a:bodyPr>
                      <a:noAutofit/>
                    </a:bodyPr>
                    <a:lstStyle/>
                    <a:p>
                      <a:r>
                        <a:rPr sz="1688" b="1">
                          <a:solidFill>
                            <a:srgbClr val="172033"/>
                          </a:solidFill>
                          <a:latin typeface="DejaVu Sans"/>
                          <a:ea typeface="DejaVu Sans"/>
                          <a:cs typeface="DejaVu Sans"/>
                        </a:rPr>
                        <a:t>Salida</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Produce una estimación del objetivo</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Retorno, probabilidad o volatilidad</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Parámetros</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Pesos y sesgos aprendibles</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Valores que se ajustan durante el entrenamiento</a:t>
                      </a:r>
                    </a:p>
                  </a:txBody>
                  <a:tcPr marL="114300" marR="114300" marT="76200" marB="76200" anchor="ctr">
                    <a:solidFill>
                      <a:srgbClr val="EEF2F7"/>
                    </a:solidFill>
                  </a:tcPr>
                </a:tc>
              </a:tr>
            </a:tbl>
          </a:graphicData>
        </a:graphic>
      </p:graphicFrame>
    </p:spTree>
    <p:extLst>
      <p:ext uri="{BB962C8B-B14F-4D97-AF65-F5344CB8AC3E}">
        <p14:creationId xmlns:p14="http://schemas.microsoft.com/office/powerpoint/2010/main" val="2077558047"/>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AD36B973-D0DA-4F39-BBCF-45AEE06432A3}"/>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Redes neuronales</a:t>
            </a:r>
          </a:p>
        </p:txBody>
      </p:sp>
      <p:sp>
        <p:nvSpPr>
          <p:cNvPr id="2" name="title">
            <a:extLst xmlns:a="http://schemas.openxmlformats.org/drawingml/2006/main">
              <a:ext uri="{FF2B5EF4-FFF2-40B4-BE49-F238E27FC236}">
                <a16:creationId xmlns:a16="http://schemas.microsoft.com/office/drawing/2014/main" id="{7766B532-1BE3-4D6F-85AB-9EF5B4284C89}"/>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La neurona artificial</a:t>
            </a:r>
          </a:p>
        </p:txBody>
      </p:sp>
      <p:sp>
        <p:nvSpPr>
          <p:cNvPr id="3" name="author">
            <a:extLst xmlns:a="http://schemas.openxmlformats.org/drawingml/2006/main">
              <a:ext uri="{FF2B5EF4-FFF2-40B4-BE49-F238E27FC236}">
                <a16:creationId xmlns:a16="http://schemas.microsoft.com/office/drawing/2014/main" id="{5BDC6632-6B71-4F4F-A922-B48CC684543F}"/>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1E34A1FE-DC7D-4EC1-B6A6-F1A9D924F5B0}"/>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04 / 18</a:t>
            </a:r>
          </a:p>
        </p:txBody>
      </p:sp>
      <p:sp>
        <p:nvSpPr>
          <p:cNvPr id="5" name="equation-0">
            <a:extLst xmlns:a="http://schemas.openxmlformats.org/drawingml/2006/main">
              <a:ext uri="{FF2B5EF4-FFF2-40B4-BE49-F238E27FC236}">
                <a16:creationId xmlns:a16="http://schemas.microsoft.com/office/drawing/2014/main" id="{8FD03DF7-6E5D-40F1-B349-657BAB796836}"/>
              </a:ext>
            </a:extLst>
          </p:cNvPr>
          <p:cNvSpPr>
            <a:spLocks xmlns:a="http://schemas.openxmlformats.org/drawingml/2006/main" noGrp="1"/>
          </p:cNvSpPr>
          <p:nvPr/>
        </p:nvSpPr>
        <p:spPr>
          <a:xfrm xmlns:a="http://schemas.openxmlformats.org/drawingml/2006/main">
            <a:off x="685800" y="18478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z = w₁x₁ + w₂x₂ + ... + b</a:t>
            </a:r>
          </a:p>
        </p:txBody>
      </p:sp>
      <p:sp>
        <p:nvSpPr>
          <p:cNvPr id="6" name="equation-1">
            <a:extLst xmlns:a="http://schemas.openxmlformats.org/drawingml/2006/main">
              <a:ext uri="{FF2B5EF4-FFF2-40B4-BE49-F238E27FC236}">
                <a16:creationId xmlns:a16="http://schemas.microsoft.com/office/drawing/2014/main" id="{F8CCAB55-D779-4375-8538-B191CBA13FCD}"/>
              </a:ext>
            </a:extLst>
          </p:cNvPr>
          <p:cNvSpPr>
            <a:spLocks xmlns:a="http://schemas.openxmlformats.org/drawingml/2006/main" noGrp="1"/>
          </p:cNvSpPr>
          <p:nvPr/>
        </p:nvSpPr>
        <p:spPr>
          <a:xfrm xmlns:a="http://schemas.openxmlformats.org/drawingml/2006/main">
            <a:off x="685800" y="23526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a = φ(z)</a:t>
            </a:r>
          </a:p>
        </p:txBody>
      </p:sp>
      <p:sp>
        <p:nvSpPr>
          <p:cNvPr id="7" name="label-0">
            <a:extLst xmlns:a="http://schemas.openxmlformats.org/drawingml/2006/main">
              <a:ext uri="{FF2B5EF4-FFF2-40B4-BE49-F238E27FC236}">
                <a16:creationId xmlns:a16="http://schemas.microsoft.com/office/drawing/2014/main" id="{BFDEC847-B91C-43FD-90E8-DAB981EFFB0F}"/>
              </a:ext>
            </a:extLst>
          </p:cNvPr>
          <p:cNvSpPr>
            <a:spLocks xmlns:a="http://schemas.openxmlformats.org/drawingml/2006/main" noGrp="1"/>
          </p:cNvSpPr>
          <p:nvPr/>
        </p:nvSpPr>
        <p:spPr>
          <a:xfrm xmlns:a="http://schemas.openxmlformats.org/drawingml/2006/main">
            <a:off x="609600" y="3086100"/>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Pesos w</a:t>
            </a:r>
          </a:p>
        </p:txBody>
      </p:sp>
      <p:sp>
        <p:nvSpPr>
          <p:cNvPr id="8" name="body-0">
            <a:extLst xmlns:a="http://schemas.openxmlformats.org/drawingml/2006/main">
              <a:ext uri="{FF2B5EF4-FFF2-40B4-BE49-F238E27FC236}">
                <a16:creationId xmlns:a16="http://schemas.microsoft.com/office/drawing/2014/main" id="{ED787A9C-D29A-48CA-90A5-27E27A65B899}"/>
              </a:ext>
            </a:extLst>
          </p:cNvPr>
          <p:cNvSpPr>
            <a:spLocks xmlns:a="http://schemas.openxmlformats.org/drawingml/2006/main" noGrp="1"/>
          </p:cNvSpPr>
          <p:nvPr/>
        </p:nvSpPr>
        <p:spPr>
          <a:xfrm xmlns:a="http://schemas.openxmlformats.org/drawingml/2006/main">
            <a:off x="609600" y="3790950"/>
            <a:ext cx="52959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Modulan la contribución de cada entrada. El signo y la escala dependen de la representación del dato.</a:t>
            </a:r>
          </a:p>
        </p:txBody>
      </p:sp>
      <p:sp>
        <p:nvSpPr>
          <p:cNvPr id="9" name="label-1">
            <a:extLst xmlns:a="http://schemas.openxmlformats.org/drawingml/2006/main">
              <a:ext uri="{FF2B5EF4-FFF2-40B4-BE49-F238E27FC236}">
                <a16:creationId xmlns:a16="http://schemas.microsoft.com/office/drawing/2014/main" id="{EFC46C09-AFBB-40D0-9234-60EF38F99B26}"/>
              </a:ext>
            </a:extLst>
          </p:cNvPr>
          <p:cNvSpPr>
            <a:spLocks xmlns:a="http://schemas.openxmlformats.org/drawingml/2006/main" noGrp="1"/>
          </p:cNvSpPr>
          <p:nvPr/>
        </p:nvSpPr>
        <p:spPr>
          <a:xfrm xmlns:a="http://schemas.openxmlformats.org/drawingml/2006/main">
            <a:off x="6286500" y="3086100"/>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Sesgo b y activación φ</a:t>
            </a:r>
          </a:p>
        </p:txBody>
      </p:sp>
      <p:sp>
        <p:nvSpPr>
          <p:cNvPr id="10" name="body-1">
            <a:extLst xmlns:a="http://schemas.openxmlformats.org/drawingml/2006/main">
              <a:ext uri="{FF2B5EF4-FFF2-40B4-BE49-F238E27FC236}">
                <a16:creationId xmlns:a16="http://schemas.microsoft.com/office/drawing/2014/main" id="{D75704AC-C8C4-4B38-B6EA-2B1D3A351E83}"/>
              </a:ext>
            </a:extLst>
          </p:cNvPr>
          <p:cNvSpPr>
            <a:spLocks xmlns:a="http://schemas.openxmlformats.org/drawingml/2006/main" noGrp="1"/>
          </p:cNvSpPr>
          <p:nvPr/>
        </p:nvSpPr>
        <p:spPr>
          <a:xfrm xmlns:a="http://schemas.openxmlformats.org/drawingml/2006/main">
            <a:off x="6286500" y="3790950"/>
            <a:ext cx="52959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El sesgo desplaza la respuesta. La activación introduce una transformación no lineal.</a:t>
            </a:r>
          </a:p>
        </p:txBody>
      </p:sp>
    </p:spTree>
    <p:extLst>
      <p:ext uri="{BB962C8B-B14F-4D97-AF65-F5344CB8AC3E}">
        <p14:creationId xmlns:p14="http://schemas.microsoft.com/office/powerpoint/2010/main" val="1002930709"/>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2" name="unit">
            <a:extLst xmlns:a="http://schemas.openxmlformats.org/drawingml/2006/main">
              <a:ext uri="{FF2B5EF4-FFF2-40B4-BE49-F238E27FC236}">
                <a16:creationId xmlns:a16="http://schemas.microsoft.com/office/drawing/2014/main" id="{226DD3CF-443A-4B73-A45F-847954099344}"/>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Redes neuronales</a:t>
            </a:r>
          </a:p>
        </p:txBody>
      </p:sp>
      <p:sp>
        <p:nvSpPr>
          <p:cNvPr id="2" name="title">
            <a:extLst xmlns:a="http://schemas.openxmlformats.org/drawingml/2006/main">
              <a:ext uri="{FF2B5EF4-FFF2-40B4-BE49-F238E27FC236}">
                <a16:creationId xmlns:a16="http://schemas.microsoft.com/office/drawing/2014/main" id="{F6ABBADA-F099-44B5-8D96-EB92BBF61F96}"/>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Ejemplo numérico de una neurona</a:t>
            </a:r>
          </a:p>
        </p:txBody>
      </p:sp>
      <p:sp>
        <p:nvSpPr>
          <p:cNvPr id="3" name="author">
            <a:extLst xmlns:a="http://schemas.openxmlformats.org/drawingml/2006/main">
              <a:ext uri="{FF2B5EF4-FFF2-40B4-BE49-F238E27FC236}">
                <a16:creationId xmlns:a16="http://schemas.microsoft.com/office/drawing/2014/main" id="{07650020-6FD9-4C61-AA8F-EA4F4DF29942}"/>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CE7430E0-3911-408D-A81C-C843DF6B052C}"/>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05 / 18</a:t>
            </a:r>
          </a:p>
        </p:txBody>
      </p:sp>
      <p:sp>
        <p:nvSpPr>
          <p:cNvPr id="5" name="equation-0">
            <a:extLst xmlns:a="http://schemas.openxmlformats.org/drawingml/2006/main">
              <a:ext uri="{FF2B5EF4-FFF2-40B4-BE49-F238E27FC236}">
                <a16:creationId xmlns:a16="http://schemas.microsoft.com/office/drawing/2014/main" id="{02E08AF3-E2FD-4083-AA36-D533567DEDF8}"/>
              </a:ext>
            </a:extLst>
          </p:cNvPr>
          <p:cNvSpPr>
            <a:spLocks xmlns:a="http://schemas.openxmlformats.org/drawingml/2006/main" noGrp="1"/>
          </p:cNvSpPr>
          <p:nvPr/>
        </p:nvSpPr>
        <p:spPr>
          <a:xfrm xmlns:a="http://schemas.openxmlformats.org/drawingml/2006/main">
            <a:off x="685800" y="18478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x = (0,5; -1,0)       w = (0,8; -0,2)       b = 0,1</a:t>
            </a:r>
          </a:p>
        </p:txBody>
      </p:sp>
      <p:sp>
        <p:nvSpPr>
          <p:cNvPr id="6" name="equation-1">
            <a:extLst xmlns:a="http://schemas.openxmlformats.org/drawingml/2006/main">
              <a:ext uri="{FF2B5EF4-FFF2-40B4-BE49-F238E27FC236}">
                <a16:creationId xmlns:a16="http://schemas.microsoft.com/office/drawing/2014/main" id="{8F122BE5-15F2-48F7-9926-8C280765EFE9}"/>
              </a:ext>
            </a:extLst>
          </p:cNvPr>
          <p:cNvSpPr>
            <a:spLocks xmlns:a="http://schemas.openxmlformats.org/drawingml/2006/main" noGrp="1"/>
          </p:cNvSpPr>
          <p:nvPr/>
        </p:nvSpPr>
        <p:spPr>
          <a:xfrm xmlns:a="http://schemas.openxmlformats.org/drawingml/2006/main">
            <a:off x="685800" y="23526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z = 0,8 × 0,5 + (-0,2) × (-1,0) + 0,1 = 0,7</a:t>
            </a:r>
          </a:p>
        </p:txBody>
      </p:sp>
      <p:sp>
        <p:nvSpPr>
          <p:cNvPr id="7" name="equation-2">
            <a:extLst xmlns:a="http://schemas.openxmlformats.org/drawingml/2006/main">
              <a:ext uri="{FF2B5EF4-FFF2-40B4-BE49-F238E27FC236}">
                <a16:creationId xmlns:a16="http://schemas.microsoft.com/office/drawing/2014/main" id="{241D1A44-5975-495E-98FA-F1201E2A8823}"/>
              </a:ext>
            </a:extLst>
          </p:cNvPr>
          <p:cNvSpPr>
            <a:spLocks xmlns:a="http://schemas.openxmlformats.org/drawingml/2006/main" noGrp="1"/>
          </p:cNvSpPr>
          <p:nvPr/>
        </p:nvSpPr>
        <p:spPr>
          <a:xfrm xmlns:a="http://schemas.openxmlformats.org/drawingml/2006/main">
            <a:off x="685800" y="285750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ReLU(z) = 0,7</a:t>
            </a:r>
          </a:p>
        </p:txBody>
      </p:sp>
      <p:sp>
        <p:nvSpPr>
          <p:cNvPr id="8" name="label-0">
            <a:extLst xmlns:a="http://schemas.openxmlformats.org/drawingml/2006/main">
              <a:ext uri="{FF2B5EF4-FFF2-40B4-BE49-F238E27FC236}">
                <a16:creationId xmlns:a16="http://schemas.microsoft.com/office/drawing/2014/main" id="{1D394741-6DE8-42AC-B644-AC601AB2F92C}"/>
              </a:ext>
            </a:extLst>
          </p:cNvPr>
          <p:cNvSpPr>
            <a:spLocks xmlns:a="http://schemas.openxmlformats.org/drawingml/2006/main" noGrp="1"/>
          </p:cNvSpPr>
          <p:nvPr/>
        </p:nvSpPr>
        <p:spPr>
          <a:xfrm xmlns:a="http://schemas.openxmlformats.org/drawingml/2006/main">
            <a:off x="609600" y="3590925"/>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Lectura del cálculo</a:t>
            </a:r>
          </a:p>
        </p:txBody>
      </p:sp>
      <p:sp>
        <p:nvSpPr>
          <p:cNvPr id="9" name="body-0">
            <a:extLst xmlns:a="http://schemas.openxmlformats.org/drawingml/2006/main">
              <a:ext uri="{FF2B5EF4-FFF2-40B4-BE49-F238E27FC236}">
                <a16:creationId xmlns:a16="http://schemas.microsoft.com/office/drawing/2014/main" id="{F795C90C-1719-4938-8914-1A6216020447}"/>
              </a:ext>
            </a:extLst>
          </p:cNvPr>
          <p:cNvSpPr>
            <a:spLocks xmlns:a="http://schemas.openxmlformats.org/drawingml/2006/main" noGrp="1"/>
          </p:cNvSpPr>
          <p:nvPr/>
        </p:nvSpPr>
        <p:spPr>
          <a:xfrm xmlns:a="http://schemas.openxmlformats.org/drawingml/2006/main">
            <a:off x="609600" y="4295775"/>
            <a:ext cx="52959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Las entradas ya están escaladas. La salida corresponde a una activación interna.</a:t>
            </a:r>
          </a:p>
        </p:txBody>
      </p:sp>
      <p:sp>
        <p:nvSpPr>
          <p:cNvPr id="10" name="label-1">
            <a:extLst xmlns:a="http://schemas.openxmlformats.org/drawingml/2006/main">
              <a:ext uri="{FF2B5EF4-FFF2-40B4-BE49-F238E27FC236}">
                <a16:creationId xmlns:a16="http://schemas.microsoft.com/office/drawing/2014/main" id="{30DCFE4A-592A-4862-A5B8-E75FD2AB9BCF}"/>
              </a:ext>
            </a:extLst>
          </p:cNvPr>
          <p:cNvSpPr>
            <a:spLocks xmlns:a="http://schemas.openxmlformats.org/drawingml/2006/main" noGrp="1"/>
          </p:cNvSpPr>
          <p:nvPr/>
        </p:nvSpPr>
        <p:spPr>
          <a:xfrm xmlns:a="http://schemas.openxmlformats.org/drawingml/2006/main">
            <a:off x="6286500" y="3590925"/>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Alcance</a:t>
            </a:r>
          </a:p>
        </p:txBody>
      </p:sp>
      <p:sp>
        <p:nvSpPr>
          <p:cNvPr id="11" name="body-1">
            <a:extLst xmlns:a="http://schemas.openxmlformats.org/drawingml/2006/main">
              <a:ext uri="{FF2B5EF4-FFF2-40B4-BE49-F238E27FC236}">
                <a16:creationId xmlns:a16="http://schemas.microsoft.com/office/drawing/2014/main" id="{BBCB8F4F-E78B-494F-A807-F98A366F8242}"/>
              </a:ext>
            </a:extLst>
          </p:cNvPr>
          <p:cNvSpPr>
            <a:spLocks xmlns:a="http://schemas.openxmlformats.org/drawingml/2006/main" noGrp="1"/>
          </p:cNvSpPr>
          <p:nvPr/>
        </p:nvSpPr>
        <p:spPr>
          <a:xfrm xmlns:a="http://schemas.openxmlformats.org/drawingml/2006/main">
            <a:off x="6286500" y="4295775"/>
            <a:ext cx="52959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Ejemplo matemático ilustrativo. Estos números no provienen de datos de BTC o ETH.</a:t>
            </a:r>
          </a:p>
        </p:txBody>
      </p:sp>
    </p:spTree>
    <p:extLst>
      <p:ext uri="{BB962C8B-B14F-4D97-AF65-F5344CB8AC3E}">
        <p14:creationId xmlns:p14="http://schemas.microsoft.com/office/powerpoint/2010/main" val="879098088"/>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unit">
            <a:extLst xmlns:a="http://schemas.openxmlformats.org/drawingml/2006/main">
              <a:ext uri="{FF2B5EF4-FFF2-40B4-BE49-F238E27FC236}">
                <a16:creationId xmlns:a16="http://schemas.microsoft.com/office/drawing/2014/main" id="{2AB4B435-CD7B-4B47-8E60-8E36857260EE}"/>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Redes neuronales</a:t>
            </a:r>
          </a:p>
        </p:txBody>
      </p:sp>
      <p:sp>
        <p:nvSpPr>
          <p:cNvPr id="2" name="title">
            <a:extLst xmlns:a="http://schemas.openxmlformats.org/drawingml/2006/main">
              <a:ext uri="{FF2B5EF4-FFF2-40B4-BE49-F238E27FC236}">
                <a16:creationId xmlns:a16="http://schemas.microsoft.com/office/drawing/2014/main" id="{2C2BA846-09DB-42E3-8CC9-A21CA207B7E0}"/>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Funciones de activación</a:t>
            </a:r>
          </a:p>
        </p:txBody>
      </p:sp>
      <p:sp>
        <p:nvSpPr>
          <p:cNvPr id="3" name="author">
            <a:extLst xmlns:a="http://schemas.openxmlformats.org/drawingml/2006/main">
              <a:ext uri="{FF2B5EF4-FFF2-40B4-BE49-F238E27FC236}">
                <a16:creationId xmlns:a16="http://schemas.microsoft.com/office/drawing/2014/main" id="{D7FA9947-EB68-48FF-AFF9-BDE9938D3832}"/>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D7C220D2-2B1B-47AF-8210-9AC13A4C61DA}"/>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06 / 18</a:t>
            </a:r>
          </a:p>
        </p:txBody>
      </p:sp>
      <p:graphicFrame>
        <p:nvGraphicFramePr>
          <p:cNvPr id="11" name="Chart"/>
          <p:cNvGraphicFramePr/>
          <p:nvPr/>
        </p:nvGraphicFramePr>
        <p:xfrm>
          <a:off xmlns:a="http://schemas.openxmlformats.org/drawingml/2006/main" x="647700" y="1743075"/>
          <a:ext xmlns:a="http://schemas.openxmlformats.org/drawingml/2006/main" cx="10744200" cy="3562350"/>
        </p:xfrm>
        <a:graphic xmlns:a="http://schemas.openxmlformats.org/drawingml/2006/main">
          <a:graphicData uri="http://schemas.openxmlformats.org/drawingml/2006/chart">
            <c:chart xmlns:r="http://schemas.openxmlformats.org/officeDocument/2006/relationships" xmlns:c="http://schemas.openxmlformats.org/drawingml/2006/chart" r:id="R8c5f46ed8a5e42f8"/>
          </a:graphicData>
        </a:graphic>
      </p:graphicFrame>
      <p:sp>
        <p:nvSpPr>
          <p:cNvPr id="6" name="chart-caption">
            <a:extLst xmlns:a="http://schemas.openxmlformats.org/drawingml/2006/main">
              <a:ext uri="{FF2B5EF4-FFF2-40B4-BE49-F238E27FC236}">
                <a16:creationId xmlns:a16="http://schemas.microsoft.com/office/drawing/2014/main" id="{73ECF162-FBCB-482B-B5F5-1F1A29336C3A}"/>
              </a:ext>
            </a:extLst>
          </p:cNvPr>
          <p:cNvSpPr>
            <a:spLocks xmlns:a="http://schemas.openxmlformats.org/drawingml/2006/main" noGrp="1"/>
          </p:cNvSpPr>
          <p:nvPr/>
        </p:nvSpPr>
        <p:spPr>
          <a:xfrm xmlns:a="http://schemas.openxmlformats.org/drawingml/2006/main">
            <a:off x="609600" y="5657850"/>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ReLU: max(0,z). Sigmoide: valores entre 0 y 1. tanh: valores entre -1 y 1.</a:t>
            </a:r>
          </a:p>
        </p:txBody>
      </p:sp>
    </p:spTree>
    <p:extLst>
      <p:ext uri="{BB962C8B-B14F-4D97-AF65-F5344CB8AC3E}">
        <p14:creationId xmlns:p14="http://schemas.microsoft.com/office/powerpoint/2010/main" val="1587608225"/>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8C0C6550-9FAF-4BDA-88FF-5D82792B7692}"/>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Redes neuronales</a:t>
            </a:r>
          </a:p>
        </p:txBody>
      </p:sp>
      <p:sp>
        <p:nvSpPr>
          <p:cNvPr id="2" name="title">
            <a:extLst xmlns:a="http://schemas.openxmlformats.org/drawingml/2006/main">
              <a:ext uri="{FF2B5EF4-FFF2-40B4-BE49-F238E27FC236}">
                <a16:creationId xmlns:a16="http://schemas.microsoft.com/office/drawing/2014/main" id="{F467D6C2-E444-4980-9BCE-7C22A58163F6}"/>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Propagación hacia adelante</a:t>
            </a:r>
          </a:p>
        </p:txBody>
      </p:sp>
      <p:sp>
        <p:nvSpPr>
          <p:cNvPr id="3" name="author">
            <a:extLst xmlns:a="http://schemas.openxmlformats.org/drawingml/2006/main">
              <a:ext uri="{FF2B5EF4-FFF2-40B4-BE49-F238E27FC236}">
                <a16:creationId xmlns:a16="http://schemas.microsoft.com/office/drawing/2014/main" id="{17428DC2-35C7-4D68-92CB-DEE7C516E2E9}"/>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E1B5799C-5FF8-4779-A652-EDC652010CE3}"/>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07 / 18</a:t>
            </a:r>
          </a:p>
        </p:txBody>
      </p:sp>
      <p:sp>
        <p:nvSpPr>
          <p:cNvPr id="5" name="equation-0">
            <a:extLst xmlns:a="http://schemas.openxmlformats.org/drawingml/2006/main">
              <a:ext uri="{FF2B5EF4-FFF2-40B4-BE49-F238E27FC236}">
                <a16:creationId xmlns:a16="http://schemas.microsoft.com/office/drawing/2014/main" id="{0179303D-DD6F-4718-9A99-4DD840D7EF89}"/>
              </a:ext>
            </a:extLst>
          </p:cNvPr>
          <p:cNvSpPr>
            <a:spLocks xmlns:a="http://schemas.openxmlformats.org/drawingml/2006/main" noGrp="1"/>
          </p:cNvSpPr>
          <p:nvPr/>
        </p:nvSpPr>
        <p:spPr>
          <a:xfrm xmlns:a="http://schemas.openxmlformats.org/drawingml/2006/main">
            <a:off x="685800" y="18478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h = ReLU(W₁x + b₁)</a:t>
            </a:r>
          </a:p>
        </p:txBody>
      </p:sp>
      <p:sp>
        <p:nvSpPr>
          <p:cNvPr id="6" name="equation-1">
            <a:extLst xmlns:a="http://schemas.openxmlformats.org/drawingml/2006/main">
              <a:ext uri="{FF2B5EF4-FFF2-40B4-BE49-F238E27FC236}">
                <a16:creationId xmlns:a16="http://schemas.microsoft.com/office/drawing/2014/main" id="{A8047FD9-A4E5-416D-8671-E15F80397D41}"/>
              </a:ext>
            </a:extLst>
          </p:cNvPr>
          <p:cNvSpPr>
            <a:spLocks xmlns:a="http://schemas.openxmlformats.org/drawingml/2006/main" noGrp="1"/>
          </p:cNvSpPr>
          <p:nvPr/>
        </p:nvSpPr>
        <p:spPr>
          <a:xfrm xmlns:a="http://schemas.openxmlformats.org/drawingml/2006/main">
            <a:off x="685800" y="23526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ŷ = W₂h + b₂</a:t>
            </a:r>
          </a:p>
        </p:txBody>
      </p:sp>
      <p:sp>
        <p:nvSpPr>
          <p:cNvPr id="7" name="label-0">
            <a:extLst xmlns:a="http://schemas.openxmlformats.org/drawingml/2006/main">
              <a:ext uri="{FF2B5EF4-FFF2-40B4-BE49-F238E27FC236}">
                <a16:creationId xmlns:a16="http://schemas.microsoft.com/office/drawing/2014/main" id="{34D795C3-9D22-4177-8698-160810FEAF9A}"/>
              </a:ext>
            </a:extLst>
          </p:cNvPr>
          <p:cNvSpPr>
            <a:spLocks xmlns:a="http://schemas.openxmlformats.org/drawingml/2006/main" noGrp="1"/>
          </p:cNvSpPr>
          <p:nvPr/>
        </p:nvSpPr>
        <p:spPr>
          <a:xfrm xmlns:a="http://schemas.openxmlformats.org/drawingml/2006/main">
            <a:off x="609600" y="3086100"/>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Cálculo de la predicción</a:t>
            </a:r>
          </a:p>
        </p:txBody>
      </p:sp>
      <p:sp>
        <p:nvSpPr>
          <p:cNvPr id="8" name="body-0">
            <a:extLst xmlns:a="http://schemas.openxmlformats.org/drawingml/2006/main">
              <a:ext uri="{FF2B5EF4-FFF2-40B4-BE49-F238E27FC236}">
                <a16:creationId xmlns:a16="http://schemas.microsoft.com/office/drawing/2014/main" id="{BA85F402-1AF2-4A3A-BDE3-F4B6E7811473}"/>
              </a:ext>
            </a:extLst>
          </p:cNvPr>
          <p:cNvSpPr>
            <a:spLocks xmlns:a="http://schemas.openxmlformats.org/drawingml/2006/main" noGrp="1"/>
          </p:cNvSpPr>
          <p:nvPr/>
        </p:nvSpPr>
        <p:spPr>
          <a:xfrm xmlns:a="http://schemas.openxmlformats.org/drawingml/2006/main">
            <a:off x="609600" y="3790950"/>
            <a:ext cx="52959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La entrada atraviesa las capas con los parámetros actuales. Para regresión, la última salida puede ser lineal.</a:t>
            </a:r>
          </a:p>
        </p:txBody>
      </p:sp>
      <p:sp>
        <p:nvSpPr>
          <p:cNvPr id="9" name="label-1">
            <a:extLst xmlns:a="http://schemas.openxmlformats.org/drawingml/2006/main">
              <a:ext uri="{FF2B5EF4-FFF2-40B4-BE49-F238E27FC236}">
                <a16:creationId xmlns:a16="http://schemas.microsoft.com/office/drawing/2014/main" id="{10F8F174-4B0D-4B01-BE04-E26A702600FC}"/>
              </a:ext>
            </a:extLst>
          </p:cNvPr>
          <p:cNvSpPr>
            <a:spLocks xmlns:a="http://schemas.openxmlformats.org/drawingml/2006/main" noGrp="1"/>
          </p:cNvSpPr>
          <p:nvPr/>
        </p:nvSpPr>
        <p:spPr>
          <a:xfrm xmlns:a="http://schemas.openxmlformats.org/drawingml/2006/main">
            <a:off x="6286500" y="3086100"/>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Profundidad</a:t>
            </a:r>
          </a:p>
        </p:txBody>
      </p:sp>
      <p:sp>
        <p:nvSpPr>
          <p:cNvPr id="10" name="body-1">
            <a:extLst xmlns:a="http://schemas.openxmlformats.org/drawingml/2006/main">
              <a:ext uri="{FF2B5EF4-FFF2-40B4-BE49-F238E27FC236}">
                <a16:creationId xmlns:a16="http://schemas.microsoft.com/office/drawing/2014/main" id="{54464061-1AEA-4D77-BCBC-599FB3C129F4}"/>
              </a:ext>
            </a:extLst>
          </p:cNvPr>
          <p:cNvSpPr>
            <a:spLocks xmlns:a="http://schemas.openxmlformats.org/drawingml/2006/main" noGrp="1"/>
          </p:cNvSpPr>
          <p:nvPr/>
        </p:nvSpPr>
        <p:spPr>
          <a:xfrm xmlns:a="http://schemas.openxmlformats.org/drawingml/2006/main">
            <a:off x="6286500" y="3790950"/>
            <a:ext cx="52959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Agregar capas aumenta la capacidad del modelo y también la necesidad de datos y regularización.</a:t>
            </a:r>
          </a:p>
        </p:txBody>
      </p:sp>
    </p:spTree>
    <p:extLst>
      <p:ext uri="{BB962C8B-B14F-4D97-AF65-F5344CB8AC3E}">
        <p14:creationId xmlns:p14="http://schemas.microsoft.com/office/powerpoint/2010/main" val="142745540"/>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E450100B-3515-4819-81D4-E9F2B5B9D288}"/>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Redes neuronales</a:t>
            </a:r>
          </a:p>
        </p:txBody>
      </p:sp>
      <p:sp>
        <p:nvSpPr>
          <p:cNvPr id="2" name="title">
            <a:extLst xmlns:a="http://schemas.openxmlformats.org/drawingml/2006/main">
              <a:ext uri="{FF2B5EF4-FFF2-40B4-BE49-F238E27FC236}">
                <a16:creationId xmlns:a16="http://schemas.microsoft.com/office/drawing/2014/main" id="{F1B71A24-88BB-4052-9FC4-FF50EC58CC27}"/>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Objetivo, salida y pérdida</a:t>
            </a:r>
          </a:p>
        </p:txBody>
      </p:sp>
      <p:sp>
        <p:nvSpPr>
          <p:cNvPr id="3" name="author">
            <a:extLst xmlns:a="http://schemas.openxmlformats.org/drawingml/2006/main">
              <a:ext uri="{FF2B5EF4-FFF2-40B4-BE49-F238E27FC236}">
                <a16:creationId xmlns:a16="http://schemas.microsoft.com/office/drawing/2014/main" id="{209FDF72-4401-4889-BECD-1229960264CA}"/>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AAE77865-0176-4B3D-A33E-8E7782BCD0E4}"/>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08 / 18</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842010">
                <a:tc>
                  <a:txBody>
                    <a:bodyPr>
                      <a:noAutofit/>
                    </a:bodyPr>
                    <a:lstStyle/>
                    <a:p>
                      <a:r>
                        <a:rPr sz="1575" b="1">
                          <a:solidFill>
                            <a:srgbClr val="FFFFFF"/>
                          </a:solidFill>
                          <a:latin typeface="DejaVu Sans"/>
                          <a:ea typeface="DejaVu Sans"/>
                          <a:cs typeface="DejaVu Sans"/>
                        </a:rPr>
                        <a:t>Problema</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Salida habitual</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Pérdida o evaluación</a:t>
                      </a:r>
                    </a:p>
                  </a:txBody>
                  <a:tcPr marL="114300" marR="114300" marT="76200" marB="76200" anchor="ctr">
                    <a:solidFill>
                      <a:srgbClr val="0B1020"/>
                    </a:solidFill>
                  </a:tcPr>
                </a:tc>
              </a:tr>
              <a:tr h="842010">
                <a:tc>
                  <a:txBody>
                    <a:bodyPr>
                      <a:noAutofit/>
                    </a:bodyPr>
                    <a:lstStyle/>
                    <a:p>
                      <a:r>
                        <a:rPr sz="1688" b="1">
                          <a:solidFill>
                            <a:srgbClr val="172033"/>
                          </a:solidFill>
                          <a:latin typeface="DejaVu Sans"/>
                          <a:ea typeface="DejaVu Sans"/>
                          <a:cs typeface="DejaVu Sans"/>
                        </a:rPr>
                        <a:t>Retorno futuro</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Valor real</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MSE o MAE</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Dirección</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Logit o probabilidad</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Entropía cruzada binaria</a:t>
                      </a:r>
                    </a:p>
                  </a:txBody>
                  <a:tcPr marL="114300" marR="114300" marT="76200" marB="76200" anchor="ctr">
                    <a:solidFill>
                      <a:srgbClr val="EEF2F7"/>
                    </a:solidFill>
                  </a:tcPr>
                </a:tc>
              </a:tr>
              <a:tr h="842010">
                <a:tc>
                  <a:txBody>
                    <a:bodyPr>
                      <a:noAutofit/>
                    </a:bodyPr>
                    <a:lstStyle/>
                    <a:p>
                      <a:r>
                        <a:rPr sz="1688" b="1">
                          <a:solidFill>
                            <a:srgbClr val="172033"/>
                          </a:solidFill>
                          <a:latin typeface="DejaVu Sans"/>
                          <a:ea typeface="DejaVu Sans"/>
                          <a:cs typeface="DejaVu Sans"/>
                        </a:rPr>
                        <a:t>Volatilidad</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Estimación positiva</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Pérdida sobre varianza o log-varianza</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Clase de un nodo</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Logits por clase</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Entropía cruzada con máscara de etiquetas</a:t>
                      </a:r>
                    </a:p>
                  </a:txBody>
                  <a:tcPr marL="114300" marR="114300" marT="76200" marB="76200" anchor="ctr">
                    <a:solidFill>
                      <a:srgbClr val="EEF2F7"/>
                    </a:solidFill>
                  </a:tcPr>
                </a:tc>
              </a:tr>
            </a:tbl>
          </a:graphicData>
        </a:graphic>
      </p:graphicFrame>
    </p:spTree>
    <p:extLst>
      <p:ext uri="{BB962C8B-B14F-4D97-AF65-F5344CB8AC3E}">
        <p14:creationId xmlns:p14="http://schemas.microsoft.com/office/powerpoint/2010/main" val="355704709"/>
      </p:ext>
    </p:extLst>
  </p:cSld>
</p:sld>
</file>

<file path=ppt/slides/slide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2" name="unit">
            <a:extLst xmlns:a="http://schemas.openxmlformats.org/drawingml/2006/main">
              <a:ext uri="{FF2B5EF4-FFF2-40B4-BE49-F238E27FC236}">
                <a16:creationId xmlns:a16="http://schemas.microsoft.com/office/drawing/2014/main" id="{9671F901-C587-4833-B783-20848F3234FE}"/>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Redes neuronales</a:t>
            </a:r>
          </a:p>
        </p:txBody>
      </p:sp>
      <p:sp>
        <p:nvSpPr>
          <p:cNvPr id="2" name="title">
            <a:extLst xmlns:a="http://schemas.openxmlformats.org/drawingml/2006/main">
              <a:ext uri="{FF2B5EF4-FFF2-40B4-BE49-F238E27FC236}">
                <a16:creationId xmlns:a16="http://schemas.microsoft.com/office/drawing/2014/main" id="{08FEBC5E-BE8A-4BA5-9ACF-2A83F511C265}"/>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Ejemplo de error cuadrático</a:t>
            </a:r>
          </a:p>
        </p:txBody>
      </p:sp>
      <p:sp>
        <p:nvSpPr>
          <p:cNvPr id="3" name="author">
            <a:extLst xmlns:a="http://schemas.openxmlformats.org/drawingml/2006/main">
              <a:ext uri="{FF2B5EF4-FFF2-40B4-BE49-F238E27FC236}">
                <a16:creationId xmlns:a16="http://schemas.microsoft.com/office/drawing/2014/main" id="{F030D545-3728-494F-83A5-7F2474E65C8F}"/>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CF65F9AC-4C70-42AA-94B1-DAE822220364}"/>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09 / 18</a:t>
            </a:r>
          </a:p>
        </p:txBody>
      </p:sp>
      <p:sp>
        <p:nvSpPr>
          <p:cNvPr id="5" name="equation-0">
            <a:extLst xmlns:a="http://schemas.openxmlformats.org/drawingml/2006/main">
              <a:ext uri="{FF2B5EF4-FFF2-40B4-BE49-F238E27FC236}">
                <a16:creationId xmlns:a16="http://schemas.microsoft.com/office/drawing/2014/main" id="{0373FD62-8636-4DF8-A438-9B02E0089AF2}"/>
              </a:ext>
            </a:extLst>
          </p:cNvPr>
          <p:cNvSpPr>
            <a:spLocks xmlns:a="http://schemas.openxmlformats.org/drawingml/2006/main" noGrp="1"/>
          </p:cNvSpPr>
          <p:nvPr/>
        </p:nvSpPr>
        <p:spPr>
          <a:xfrm xmlns:a="http://schemas.openxmlformats.org/drawingml/2006/main">
            <a:off x="685800" y="18478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y = (1,0; -1,0)       ŷ = (0,5; 0,5)</a:t>
            </a:r>
          </a:p>
        </p:txBody>
      </p:sp>
      <p:sp>
        <p:nvSpPr>
          <p:cNvPr id="6" name="equation-1">
            <a:extLst xmlns:a="http://schemas.openxmlformats.org/drawingml/2006/main">
              <a:ext uri="{FF2B5EF4-FFF2-40B4-BE49-F238E27FC236}">
                <a16:creationId xmlns:a16="http://schemas.microsoft.com/office/drawing/2014/main" id="{97D4BFFA-C525-46A5-9AB7-9F51073E3F35}"/>
              </a:ext>
            </a:extLst>
          </p:cNvPr>
          <p:cNvSpPr>
            <a:spLocks xmlns:a="http://schemas.openxmlformats.org/drawingml/2006/main" noGrp="1"/>
          </p:cNvSpPr>
          <p:nvPr/>
        </p:nvSpPr>
        <p:spPr>
          <a:xfrm xmlns:a="http://schemas.openxmlformats.org/drawingml/2006/main">
            <a:off x="685800" y="23526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MSE = [(1,0 - 0,5)² + (-1,0 - 0,5)²] / 2</a:t>
            </a:r>
          </a:p>
        </p:txBody>
      </p:sp>
      <p:sp>
        <p:nvSpPr>
          <p:cNvPr id="7" name="equation-2">
            <a:extLst xmlns:a="http://schemas.openxmlformats.org/drawingml/2006/main">
              <a:ext uri="{FF2B5EF4-FFF2-40B4-BE49-F238E27FC236}">
                <a16:creationId xmlns:a16="http://schemas.microsoft.com/office/drawing/2014/main" id="{0DAF2656-CBF2-495D-B7FA-0EB88413BA0E}"/>
              </a:ext>
            </a:extLst>
          </p:cNvPr>
          <p:cNvSpPr>
            <a:spLocks xmlns:a="http://schemas.openxmlformats.org/drawingml/2006/main" noGrp="1"/>
          </p:cNvSpPr>
          <p:nvPr/>
        </p:nvSpPr>
        <p:spPr>
          <a:xfrm xmlns:a="http://schemas.openxmlformats.org/drawingml/2006/main">
            <a:off x="685800" y="285750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MSE = (0,25 + 2,25) / 2 = 1,25</a:t>
            </a:r>
          </a:p>
        </p:txBody>
      </p:sp>
      <p:sp>
        <p:nvSpPr>
          <p:cNvPr id="8" name="label-0">
            <a:extLst xmlns:a="http://schemas.openxmlformats.org/drawingml/2006/main">
              <a:ext uri="{FF2B5EF4-FFF2-40B4-BE49-F238E27FC236}">
                <a16:creationId xmlns:a16="http://schemas.microsoft.com/office/drawing/2014/main" id="{799922FF-8194-4871-AAFE-2C9C8F71ED3A}"/>
              </a:ext>
            </a:extLst>
          </p:cNvPr>
          <p:cNvSpPr>
            <a:spLocks xmlns:a="http://schemas.openxmlformats.org/drawingml/2006/main" noGrp="1"/>
          </p:cNvSpPr>
          <p:nvPr/>
        </p:nvSpPr>
        <p:spPr>
          <a:xfrm xmlns:a="http://schemas.openxmlformats.org/drawingml/2006/main">
            <a:off x="609600" y="3590925"/>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Unidades</a:t>
            </a:r>
          </a:p>
        </p:txBody>
      </p:sp>
      <p:sp>
        <p:nvSpPr>
          <p:cNvPr id="9" name="body-0">
            <a:extLst xmlns:a="http://schemas.openxmlformats.org/drawingml/2006/main">
              <a:ext uri="{FF2B5EF4-FFF2-40B4-BE49-F238E27FC236}">
                <a16:creationId xmlns:a16="http://schemas.microsoft.com/office/drawing/2014/main" id="{897CB89D-61D5-446F-849E-E51ADFFB8DB0}"/>
              </a:ext>
            </a:extLst>
          </p:cNvPr>
          <p:cNvSpPr>
            <a:spLocks xmlns:a="http://schemas.openxmlformats.org/drawingml/2006/main" noGrp="1"/>
          </p:cNvSpPr>
          <p:nvPr/>
        </p:nvSpPr>
        <p:spPr>
          <a:xfrm xmlns:a="http://schemas.openxmlformats.org/drawingml/2006/main">
            <a:off x="609600" y="4295775"/>
            <a:ext cx="52959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Si los retornos se expresan en puntos porcentuales, el MSE se expresa en puntos porcentuales al cuadrado.</a:t>
            </a:r>
          </a:p>
        </p:txBody>
      </p:sp>
      <p:sp>
        <p:nvSpPr>
          <p:cNvPr id="10" name="label-1">
            <a:extLst xmlns:a="http://schemas.openxmlformats.org/drawingml/2006/main">
              <a:ext uri="{FF2B5EF4-FFF2-40B4-BE49-F238E27FC236}">
                <a16:creationId xmlns:a16="http://schemas.microsoft.com/office/drawing/2014/main" id="{A2306CE7-7D4B-450E-B5CC-27577740B939}"/>
              </a:ext>
            </a:extLst>
          </p:cNvPr>
          <p:cNvSpPr>
            <a:spLocks xmlns:a="http://schemas.openxmlformats.org/drawingml/2006/main" noGrp="1"/>
          </p:cNvSpPr>
          <p:nvPr/>
        </p:nvSpPr>
        <p:spPr>
          <a:xfrm xmlns:a="http://schemas.openxmlformats.org/drawingml/2006/main">
            <a:off x="6286500" y="3590925"/>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Interpretación</a:t>
            </a:r>
          </a:p>
        </p:txBody>
      </p:sp>
      <p:sp>
        <p:nvSpPr>
          <p:cNvPr id="11" name="body-1">
            <a:extLst xmlns:a="http://schemas.openxmlformats.org/drawingml/2006/main">
              <a:ext uri="{FF2B5EF4-FFF2-40B4-BE49-F238E27FC236}">
                <a16:creationId xmlns:a16="http://schemas.microsoft.com/office/drawing/2014/main" id="{E9E096AA-C6BF-4C33-97E8-585432F995F5}"/>
              </a:ext>
            </a:extLst>
          </p:cNvPr>
          <p:cNvSpPr>
            <a:spLocks xmlns:a="http://schemas.openxmlformats.org/drawingml/2006/main" noGrp="1"/>
          </p:cNvSpPr>
          <p:nvPr/>
        </p:nvSpPr>
        <p:spPr>
          <a:xfrm xmlns:a="http://schemas.openxmlformats.org/drawingml/2006/main">
            <a:off x="6286500" y="4295775"/>
            <a:ext cx="52959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El segundo error pesa más porque la pérdida eleva al cuadrado su magnitud.</a:t>
            </a:r>
          </a:p>
        </p:txBody>
      </p:sp>
    </p:spTree>
    <p:extLst>
      <p:ext uri="{BB962C8B-B14F-4D97-AF65-F5344CB8AC3E}">
        <p14:creationId xmlns:p14="http://schemas.microsoft.com/office/powerpoint/2010/main" val="1257718701"/>
      </p:ext>
    </p:extLst>
  </p:cSld>
</p:sld>
</file>

<file path=ppt/slides/slide10.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2" name="unit">
            <a:extLst xmlns:a="http://schemas.openxmlformats.org/drawingml/2006/main">
              <a:ext uri="{FF2B5EF4-FFF2-40B4-BE49-F238E27FC236}">
                <a16:creationId xmlns:a16="http://schemas.microsoft.com/office/drawing/2014/main" id="{94840A30-F22C-4EBF-9C80-6699E9065F93}"/>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Redes neuronales</a:t>
            </a:r>
          </a:p>
        </p:txBody>
      </p:sp>
      <p:sp>
        <p:nvSpPr>
          <p:cNvPr id="2" name="title">
            <a:extLst xmlns:a="http://schemas.openxmlformats.org/drawingml/2006/main">
              <a:ext uri="{FF2B5EF4-FFF2-40B4-BE49-F238E27FC236}">
                <a16:creationId xmlns:a16="http://schemas.microsoft.com/office/drawing/2014/main" id="{8C956F07-509E-478E-91C0-F25E41D2DA81}"/>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Descenso del gradiente</a:t>
            </a:r>
          </a:p>
        </p:txBody>
      </p:sp>
      <p:sp>
        <p:nvSpPr>
          <p:cNvPr id="3" name="author">
            <a:extLst xmlns:a="http://schemas.openxmlformats.org/drawingml/2006/main">
              <a:ext uri="{FF2B5EF4-FFF2-40B4-BE49-F238E27FC236}">
                <a16:creationId xmlns:a16="http://schemas.microsoft.com/office/drawing/2014/main" id="{FBA5E503-F8C9-4B35-9DFF-0E3E24066792}"/>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CA488B46-9736-4EB8-849A-5385143C024B}"/>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10 / 18</a:t>
            </a:r>
          </a:p>
        </p:txBody>
      </p:sp>
      <p:sp>
        <p:nvSpPr>
          <p:cNvPr id="5" name="equation-0">
            <a:extLst xmlns:a="http://schemas.openxmlformats.org/drawingml/2006/main">
              <a:ext uri="{FF2B5EF4-FFF2-40B4-BE49-F238E27FC236}">
                <a16:creationId xmlns:a16="http://schemas.microsoft.com/office/drawing/2014/main" id="{7AC94183-2B2B-4C09-A28B-5B894AAC0CE8}"/>
              </a:ext>
            </a:extLst>
          </p:cNvPr>
          <p:cNvSpPr>
            <a:spLocks xmlns:a="http://schemas.openxmlformats.org/drawingml/2006/main" noGrp="1"/>
          </p:cNvSpPr>
          <p:nvPr/>
        </p:nvSpPr>
        <p:spPr>
          <a:xfrm xmlns:a="http://schemas.openxmlformats.org/drawingml/2006/main">
            <a:off x="685800" y="18478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θ nuevo = θ actual - η ∇θ L</a:t>
            </a:r>
          </a:p>
        </p:txBody>
      </p:sp>
      <p:sp>
        <p:nvSpPr>
          <p:cNvPr id="6" name="equation-1">
            <a:extLst xmlns:a="http://schemas.openxmlformats.org/drawingml/2006/main">
              <a:ext uri="{FF2B5EF4-FFF2-40B4-BE49-F238E27FC236}">
                <a16:creationId xmlns:a16="http://schemas.microsoft.com/office/drawing/2014/main" id="{79DCDF7A-8770-42BF-9C8F-598994E9DCB0}"/>
              </a:ext>
            </a:extLst>
          </p:cNvPr>
          <p:cNvSpPr>
            <a:spLocks xmlns:a="http://schemas.openxmlformats.org/drawingml/2006/main" noGrp="1"/>
          </p:cNvSpPr>
          <p:nvPr/>
        </p:nvSpPr>
        <p:spPr>
          <a:xfrm xmlns:a="http://schemas.openxmlformats.org/drawingml/2006/main">
            <a:off x="685800" y="23526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w actual = 0,8       η = 0,1       ∂L/∂w = 0,3</a:t>
            </a:r>
          </a:p>
        </p:txBody>
      </p:sp>
      <p:sp>
        <p:nvSpPr>
          <p:cNvPr id="7" name="equation-2">
            <a:extLst xmlns:a="http://schemas.openxmlformats.org/drawingml/2006/main">
              <a:ext uri="{FF2B5EF4-FFF2-40B4-BE49-F238E27FC236}">
                <a16:creationId xmlns:a16="http://schemas.microsoft.com/office/drawing/2014/main" id="{CFE3FE9D-C31E-46BF-994A-ACA22D55EFAA}"/>
              </a:ext>
            </a:extLst>
          </p:cNvPr>
          <p:cNvSpPr>
            <a:spLocks xmlns:a="http://schemas.openxmlformats.org/drawingml/2006/main" noGrp="1"/>
          </p:cNvSpPr>
          <p:nvPr/>
        </p:nvSpPr>
        <p:spPr>
          <a:xfrm xmlns:a="http://schemas.openxmlformats.org/drawingml/2006/main">
            <a:off x="685800" y="285750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w nuevo = 0,8 - 0,1 × 0,3 = 0,77</a:t>
            </a:r>
          </a:p>
        </p:txBody>
      </p:sp>
      <p:sp>
        <p:nvSpPr>
          <p:cNvPr id="8" name="label-0">
            <a:extLst xmlns:a="http://schemas.openxmlformats.org/drawingml/2006/main">
              <a:ext uri="{FF2B5EF4-FFF2-40B4-BE49-F238E27FC236}">
                <a16:creationId xmlns:a16="http://schemas.microsoft.com/office/drawing/2014/main" id="{982A7F0C-05FD-4AD4-A212-0E6EE9F268CC}"/>
              </a:ext>
            </a:extLst>
          </p:cNvPr>
          <p:cNvSpPr>
            <a:spLocks xmlns:a="http://schemas.openxmlformats.org/drawingml/2006/main" noGrp="1"/>
          </p:cNvSpPr>
          <p:nvPr/>
        </p:nvSpPr>
        <p:spPr>
          <a:xfrm xmlns:a="http://schemas.openxmlformats.org/drawingml/2006/main">
            <a:off x="609600" y="3590925"/>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Tasa de aprendizaje η</a:t>
            </a:r>
          </a:p>
        </p:txBody>
      </p:sp>
      <p:sp>
        <p:nvSpPr>
          <p:cNvPr id="9" name="body-0">
            <a:extLst xmlns:a="http://schemas.openxmlformats.org/drawingml/2006/main">
              <a:ext uri="{FF2B5EF4-FFF2-40B4-BE49-F238E27FC236}">
                <a16:creationId xmlns:a16="http://schemas.microsoft.com/office/drawing/2014/main" id="{52B9A6FD-1AC0-44C2-81E2-A690BF3835F8}"/>
              </a:ext>
            </a:extLst>
          </p:cNvPr>
          <p:cNvSpPr>
            <a:spLocks xmlns:a="http://schemas.openxmlformats.org/drawingml/2006/main" noGrp="1"/>
          </p:cNvSpPr>
          <p:nvPr/>
        </p:nvSpPr>
        <p:spPr>
          <a:xfrm xmlns:a="http://schemas.openxmlformats.org/drawingml/2006/main">
            <a:off x="609600" y="4295775"/>
            <a:ext cx="52959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Controla la magnitud del paso. Un valor alto puede desestabilizar el entrenamiento.</a:t>
            </a:r>
          </a:p>
        </p:txBody>
      </p:sp>
      <p:sp>
        <p:nvSpPr>
          <p:cNvPr id="10" name="label-1">
            <a:extLst xmlns:a="http://schemas.openxmlformats.org/drawingml/2006/main">
              <a:ext uri="{FF2B5EF4-FFF2-40B4-BE49-F238E27FC236}">
                <a16:creationId xmlns:a16="http://schemas.microsoft.com/office/drawing/2014/main" id="{F7E4B667-8E5F-47DC-9636-1F525608573F}"/>
              </a:ext>
            </a:extLst>
          </p:cNvPr>
          <p:cNvSpPr>
            <a:spLocks xmlns:a="http://schemas.openxmlformats.org/drawingml/2006/main" noGrp="1"/>
          </p:cNvSpPr>
          <p:nvPr/>
        </p:nvSpPr>
        <p:spPr>
          <a:xfrm xmlns:a="http://schemas.openxmlformats.org/drawingml/2006/main">
            <a:off x="6286500" y="3590925"/>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Gradiente</a:t>
            </a:r>
          </a:p>
        </p:txBody>
      </p:sp>
      <p:sp>
        <p:nvSpPr>
          <p:cNvPr id="11" name="body-1">
            <a:extLst xmlns:a="http://schemas.openxmlformats.org/drawingml/2006/main">
              <a:ext uri="{FF2B5EF4-FFF2-40B4-BE49-F238E27FC236}">
                <a16:creationId xmlns:a16="http://schemas.microsoft.com/office/drawing/2014/main" id="{870B3424-EAF5-4808-A96A-8C359A6F9D57}"/>
              </a:ext>
            </a:extLst>
          </p:cNvPr>
          <p:cNvSpPr>
            <a:spLocks xmlns:a="http://schemas.openxmlformats.org/drawingml/2006/main" noGrp="1"/>
          </p:cNvSpPr>
          <p:nvPr/>
        </p:nvSpPr>
        <p:spPr>
          <a:xfrm xmlns:a="http://schemas.openxmlformats.org/drawingml/2006/main">
            <a:off x="6286500" y="4295775"/>
            <a:ext cx="52959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Indica cómo cambia la pérdida al variar un parámetro en el punto actual.</a:t>
            </a:r>
          </a:p>
        </p:txBody>
      </p:sp>
    </p:spTree>
    <p:extLst>
      <p:ext uri="{BB962C8B-B14F-4D97-AF65-F5344CB8AC3E}">
        <p14:creationId xmlns:p14="http://schemas.microsoft.com/office/powerpoint/2010/main" val="1700483444"/>
      </p:ext>
    </p:extLst>
  </p:cSld>
</p:sld>
</file>

<file path=ppt/slides/slide11.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0282BBDF-BCA2-47EA-985E-75AAA849E08D}"/>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Redes neuronales</a:t>
            </a:r>
          </a:p>
        </p:txBody>
      </p:sp>
      <p:sp>
        <p:nvSpPr>
          <p:cNvPr id="2" name="title">
            <a:extLst xmlns:a="http://schemas.openxmlformats.org/drawingml/2006/main">
              <a:ext uri="{FF2B5EF4-FFF2-40B4-BE49-F238E27FC236}">
                <a16:creationId xmlns:a16="http://schemas.microsoft.com/office/drawing/2014/main" id="{76196495-5700-40FE-8021-088FE08599E9}"/>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Retropropagación y entrenamiento</a:t>
            </a:r>
          </a:p>
        </p:txBody>
      </p:sp>
      <p:sp>
        <p:nvSpPr>
          <p:cNvPr id="3" name="author">
            <a:extLst xmlns:a="http://schemas.openxmlformats.org/drawingml/2006/main">
              <a:ext uri="{FF2B5EF4-FFF2-40B4-BE49-F238E27FC236}">
                <a16:creationId xmlns:a16="http://schemas.microsoft.com/office/drawing/2014/main" id="{1C04329E-DD00-4807-A1E5-9380824D8992}"/>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69696A11-1C98-4005-9DE4-7907364DA82B}"/>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11 / 18</a:t>
            </a:r>
          </a:p>
        </p:txBody>
      </p:sp>
      <p:sp>
        <p:nvSpPr>
          <p:cNvPr id="5" name="label-0">
            <a:extLst xmlns:a="http://schemas.openxmlformats.org/drawingml/2006/main">
              <a:ext uri="{FF2B5EF4-FFF2-40B4-BE49-F238E27FC236}">
                <a16:creationId xmlns:a16="http://schemas.microsoft.com/office/drawing/2014/main" id="{ADD7D979-E41A-4201-8DD6-F87C61829BF6}"/>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Predicción y pérdida</a:t>
            </a:r>
          </a:p>
        </p:txBody>
      </p:sp>
      <p:sp>
        <p:nvSpPr>
          <p:cNvPr id="6" name="body-0">
            <a:extLst xmlns:a="http://schemas.openxmlformats.org/drawingml/2006/main">
              <a:ext uri="{FF2B5EF4-FFF2-40B4-BE49-F238E27FC236}">
                <a16:creationId xmlns:a16="http://schemas.microsoft.com/office/drawing/2014/main" id="{188B360D-239D-4044-A548-B0E7F2EACB69}"/>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La red calcula ŷ y compara esa salida con el objetivo observado.</a:t>
            </a:r>
          </a:p>
        </p:txBody>
      </p:sp>
      <p:sp>
        <p:nvSpPr>
          <p:cNvPr id="7" name="label-1">
            <a:extLst xmlns:a="http://schemas.openxmlformats.org/drawingml/2006/main">
              <a:ext uri="{FF2B5EF4-FFF2-40B4-BE49-F238E27FC236}">
                <a16:creationId xmlns:a16="http://schemas.microsoft.com/office/drawing/2014/main" id="{605370E5-CDD6-4A10-B3FA-8A5628B9B96A}"/>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Regla de la cadena</a:t>
            </a:r>
          </a:p>
        </p:txBody>
      </p:sp>
      <p:sp>
        <p:nvSpPr>
          <p:cNvPr id="8" name="body-1">
            <a:extLst xmlns:a="http://schemas.openxmlformats.org/drawingml/2006/main">
              <a:ext uri="{FF2B5EF4-FFF2-40B4-BE49-F238E27FC236}">
                <a16:creationId xmlns:a16="http://schemas.microsoft.com/office/drawing/2014/main" id="{DC86D20B-3C16-4960-9AA8-3D8485112AFF}"/>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La retropropagación calcula derivadas a través de las operaciones de cada capa.</a:t>
            </a:r>
          </a:p>
        </p:txBody>
      </p:sp>
      <p:sp>
        <p:nvSpPr>
          <p:cNvPr id="9" name="label-2">
            <a:extLst xmlns:a="http://schemas.openxmlformats.org/drawingml/2006/main">
              <a:ext uri="{FF2B5EF4-FFF2-40B4-BE49-F238E27FC236}">
                <a16:creationId xmlns:a16="http://schemas.microsoft.com/office/drawing/2014/main" id="{4748FA6B-7BB7-40E7-BE11-77ABE12C8F13}"/>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Actualización</a:t>
            </a:r>
          </a:p>
        </p:txBody>
      </p:sp>
      <p:sp>
        <p:nvSpPr>
          <p:cNvPr id="10" name="body-2">
            <a:extLst xmlns:a="http://schemas.openxmlformats.org/drawingml/2006/main">
              <a:ext uri="{FF2B5EF4-FFF2-40B4-BE49-F238E27FC236}">
                <a16:creationId xmlns:a16="http://schemas.microsoft.com/office/drawing/2014/main" id="{64646656-8AFD-43BC-952C-73B86C71ADF2}"/>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El optimizador utiliza los gradientes para modificar pesos y sesgos. El ciclo se repite con nuevos lotes.</a:t>
            </a:r>
          </a:p>
        </p:txBody>
      </p:sp>
    </p:spTree>
    <p:extLst>
      <p:ext uri="{BB962C8B-B14F-4D97-AF65-F5344CB8AC3E}">
        <p14:creationId xmlns:p14="http://schemas.microsoft.com/office/powerpoint/2010/main" val="1612957086"/>
      </p:ext>
    </p:extLst>
  </p:cSld>
</p:sld>
</file>

<file path=ppt/slides/slide1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C68DE2FE-C608-48DB-9EDE-840981B8D876}"/>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Redes neuronales</a:t>
            </a:r>
          </a:p>
        </p:txBody>
      </p:sp>
      <p:sp>
        <p:nvSpPr>
          <p:cNvPr id="2" name="title">
            <a:extLst xmlns:a="http://schemas.openxmlformats.org/drawingml/2006/main">
              <a:ext uri="{FF2B5EF4-FFF2-40B4-BE49-F238E27FC236}">
                <a16:creationId xmlns:a16="http://schemas.microsoft.com/office/drawing/2014/main" id="{D4DFD29A-FFAD-47AC-AC0F-F21AE826D896}"/>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Hiperparámetros del entrenamiento</a:t>
            </a:r>
          </a:p>
        </p:txBody>
      </p:sp>
      <p:sp>
        <p:nvSpPr>
          <p:cNvPr id="3" name="author">
            <a:extLst xmlns:a="http://schemas.openxmlformats.org/drawingml/2006/main">
              <a:ext uri="{FF2B5EF4-FFF2-40B4-BE49-F238E27FC236}">
                <a16:creationId xmlns:a16="http://schemas.microsoft.com/office/drawing/2014/main" id="{CA4835C1-5A69-43FE-AF5E-102D5F3D2DB8}"/>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9B33D8B2-F965-4851-B8BD-CDF0500B394A}"/>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12 / 18</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842010">
                <a:tc>
                  <a:txBody>
                    <a:bodyPr>
                      <a:noAutofit/>
                    </a:bodyPr>
                    <a:lstStyle/>
                    <a:p>
                      <a:r>
                        <a:rPr sz="1575" b="1">
                          <a:solidFill>
                            <a:srgbClr val="FFFFFF"/>
                          </a:solidFill>
                          <a:latin typeface="DejaVu Sans"/>
                          <a:ea typeface="DejaVu Sans"/>
                          <a:cs typeface="DejaVu Sans"/>
                        </a:rPr>
                        <a:t>Concepto</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Definición</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Decisión práctica</a:t>
                      </a:r>
                    </a:p>
                  </a:txBody>
                  <a:tcPr marL="114300" marR="114300" marT="76200" marB="76200" anchor="ctr">
                    <a:solidFill>
                      <a:srgbClr val="0B1020"/>
                    </a:solidFill>
                  </a:tcPr>
                </a:tc>
              </a:tr>
              <a:tr h="842010">
                <a:tc>
                  <a:txBody>
                    <a:bodyPr>
                      <a:noAutofit/>
                    </a:bodyPr>
                    <a:lstStyle/>
                    <a:p>
                      <a:r>
                        <a:rPr sz="1688" b="1">
                          <a:solidFill>
                            <a:srgbClr val="172033"/>
                          </a:solidFill>
                          <a:latin typeface="DejaVu Sans"/>
                          <a:ea typeface="DejaVu Sans"/>
                          <a:cs typeface="DejaVu Sans"/>
                        </a:rPr>
                        <a:t>Epoch</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Recorrido de los ejemplos de entrenamiento</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Seleccionar con validación y early stopping</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Batch</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Lote utilizado para una actualización</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Equilibrar ruido, memoria y costo</a:t>
                      </a:r>
                    </a:p>
                  </a:txBody>
                  <a:tcPr marL="114300" marR="114300" marT="76200" marB="76200" anchor="ctr">
                    <a:solidFill>
                      <a:srgbClr val="EEF2F7"/>
                    </a:solidFill>
                  </a:tcPr>
                </a:tc>
              </a:tr>
              <a:tr h="842010">
                <a:tc>
                  <a:txBody>
                    <a:bodyPr>
                      <a:noAutofit/>
                    </a:bodyPr>
                    <a:lstStyle/>
                    <a:p>
                      <a:r>
                        <a:rPr sz="1688" b="1">
                          <a:solidFill>
                            <a:srgbClr val="172033"/>
                          </a:solidFill>
                          <a:latin typeface="DejaVu Sans"/>
                          <a:ea typeface="DejaVu Sans"/>
                          <a:cs typeface="DejaVu Sans"/>
                        </a:rPr>
                        <a:t>Learning rate</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Escala del paso del optimizador</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Ajustar en el período de validación</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Hidden size</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Dimensión de la representación oculta</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Comparar capacidad y generalización</a:t>
                      </a:r>
                    </a:p>
                  </a:txBody>
                  <a:tcPr marL="114300" marR="114300" marT="76200" marB="76200" anchor="ctr">
                    <a:solidFill>
                      <a:srgbClr val="EEF2F7"/>
                    </a:solidFill>
                  </a:tcPr>
                </a:tc>
              </a:tr>
            </a:tbl>
          </a:graphicData>
        </a:graphic>
      </p:graphicFrame>
    </p:spTree>
    <p:extLst>
      <p:ext uri="{BB962C8B-B14F-4D97-AF65-F5344CB8AC3E}">
        <p14:creationId xmlns:p14="http://schemas.microsoft.com/office/powerpoint/2010/main" val="613162819"/>
      </p:ext>
    </p:extLst>
  </p:cSld>
</p:sld>
</file>

<file path=ppt/slides/slide1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92E66894-2EE0-41A8-AEC8-B320EF439957}"/>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Redes neuronales</a:t>
            </a:r>
          </a:p>
        </p:txBody>
      </p:sp>
      <p:sp>
        <p:nvSpPr>
          <p:cNvPr id="2" name="title">
            <a:extLst xmlns:a="http://schemas.openxmlformats.org/drawingml/2006/main">
              <a:ext uri="{FF2B5EF4-FFF2-40B4-BE49-F238E27FC236}">
                <a16:creationId xmlns:a16="http://schemas.microsoft.com/office/drawing/2014/main" id="{E6D2002F-2DC0-4256-BBFA-EF83438AE7DA}"/>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Entrenamiento, validación y prueba</a:t>
            </a:r>
          </a:p>
        </p:txBody>
      </p:sp>
      <p:sp>
        <p:nvSpPr>
          <p:cNvPr id="3" name="author">
            <a:extLst xmlns:a="http://schemas.openxmlformats.org/drawingml/2006/main">
              <a:ext uri="{FF2B5EF4-FFF2-40B4-BE49-F238E27FC236}">
                <a16:creationId xmlns:a16="http://schemas.microsoft.com/office/drawing/2014/main" id="{F71633FD-3BB0-4FB0-8E30-78FB2FAF0BD9}"/>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D0E250EE-B6B1-4B0E-B99C-0176B88ACF24}"/>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13 / 18</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1052513">
                <a:tc>
                  <a:txBody>
                    <a:bodyPr>
                      <a:noAutofit/>
                    </a:bodyPr>
                    <a:lstStyle/>
                    <a:p>
                      <a:r>
                        <a:rPr sz="1575" b="1">
                          <a:solidFill>
                            <a:srgbClr val="FFFFFF"/>
                          </a:solidFill>
                          <a:latin typeface="DejaVu Sans"/>
                          <a:ea typeface="DejaVu Sans"/>
                          <a:cs typeface="DejaVu Sans"/>
                        </a:rPr>
                        <a:t>Conjunto</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Uso</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Restricción temporal</a:t>
                      </a:r>
                    </a:p>
                  </a:txBody>
                  <a:tcPr marL="114300" marR="114300" marT="76200" marB="76200" anchor="ctr">
                    <a:solidFill>
                      <a:srgbClr val="0B1020"/>
                    </a:solidFill>
                  </a:tcPr>
                </a:tc>
              </a:tr>
              <a:tr h="1052513">
                <a:tc>
                  <a:txBody>
                    <a:bodyPr>
                      <a:noAutofit/>
                    </a:bodyPr>
                    <a:lstStyle/>
                    <a:p>
                      <a:r>
                        <a:rPr sz="1688" b="1">
                          <a:solidFill>
                            <a:srgbClr val="172033"/>
                          </a:solidFill>
                          <a:latin typeface="DejaVu Sans"/>
                          <a:ea typeface="DejaVu Sans"/>
                          <a:cs typeface="DejaVu Sans"/>
                        </a:rPr>
                        <a:t>Entrenamiento</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Ajustar pesos y transformaciones</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Sólo información disponible antes del corte</a:t>
                      </a:r>
                    </a:p>
                  </a:txBody>
                  <a:tcPr marL="114300" marR="114300" marT="76200" marB="76200" anchor="ctr">
                    <a:solidFill>
                      <a:srgbClr val="FFFFFF"/>
                    </a:solidFill>
                  </a:tcPr>
                </a:tc>
              </a:tr>
              <a:tr h="1052513">
                <a:tc>
                  <a:txBody>
                    <a:bodyPr>
                      <a:noAutofit/>
                    </a:bodyPr>
                    <a:lstStyle/>
                    <a:p>
                      <a:r>
                        <a:rPr sz="1688" b="1">
                          <a:solidFill>
                            <a:srgbClr val="172033"/>
                          </a:solidFill>
                          <a:latin typeface="DejaVu Sans"/>
                          <a:ea typeface="DejaVu Sans"/>
                          <a:cs typeface="DejaVu Sans"/>
                        </a:rPr>
                        <a:t>Validación</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Elegir arquitectura e hiperparámetros</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Período posterior al entrenamiento</a:t>
                      </a:r>
                    </a:p>
                  </a:txBody>
                  <a:tcPr marL="114300" marR="114300" marT="76200" marB="76200" anchor="ctr">
                    <a:solidFill>
                      <a:srgbClr val="EEF2F7"/>
                    </a:solidFill>
                  </a:tcPr>
                </a:tc>
              </a:tr>
              <a:tr h="1052513">
                <a:tc>
                  <a:txBody>
                    <a:bodyPr>
                      <a:noAutofit/>
                    </a:bodyPr>
                    <a:lstStyle/>
                    <a:p>
                      <a:r>
                        <a:rPr sz="1688" b="1">
                          <a:solidFill>
                            <a:srgbClr val="172033"/>
                          </a:solidFill>
                          <a:latin typeface="DejaVu Sans"/>
                          <a:ea typeface="DejaVu Sans"/>
                          <a:cs typeface="DejaVu Sans"/>
                        </a:rPr>
                        <a:t>Prueba final</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Estimar generalización</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Período reservado hasta cerrar el diseño</a:t>
                      </a:r>
                    </a:p>
                  </a:txBody>
                  <a:tcPr marL="114300" marR="114300" marT="76200" marB="76200" anchor="ctr">
                    <a:solidFill>
                      <a:srgbClr val="FFFFFF"/>
                    </a:solidFill>
                  </a:tcPr>
                </a:tc>
              </a:tr>
            </a:tbl>
          </a:graphicData>
        </a:graphic>
      </p:graphicFrame>
    </p:spTree>
    <p:extLst>
      <p:ext uri="{BB962C8B-B14F-4D97-AF65-F5344CB8AC3E}">
        <p14:creationId xmlns:p14="http://schemas.microsoft.com/office/powerpoint/2010/main" val="2005316197"/>
      </p:ext>
    </p:extLst>
  </p:cSld>
</p:sld>
</file>

<file path=ppt/slides/slide1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unit">
            <a:extLst xmlns:a="http://schemas.openxmlformats.org/drawingml/2006/main">
              <a:ext uri="{FF2B5EF4-FFF2-40B4-BE49-F238E27FC236}">
                <a16:creationId xmlns:a16="http://schemas.microsoft.com/office/drawing/2014/main" id="{8DC8716F-7ABC-44F6-ACDC-9B87D7D33D20}"/>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Redes neuronales</a:t>
            </a:r>
          </a:p>
        </p:txBody>
      </p:sp>
      <p:sp>
        <p:nvSpPr>
          <p:cNvPr id="2" name="title">
            <a:extLst xmlns:a="http://schemas.openxmlformats.org/drawingml/2006/main">
              <a:ext uri="{FF2B5EF4-FFF2-40B4-BE49-F238E27FC236}">
                <a16:creationId xmlns:a16="http://schemas.microsoft.com/office/drawing/2014/main" id="{D7FAAA9C-58C3-4A9E-A395-5776F9F176CE}"/>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Sobreajuste y early stopping</a:t>
            </a:r>
          </a:p>
        </p:txBody>
      </p:sp>
      <p:sp>
        <p:nvSpPr>
          <p:cNvPr id="3" name="author">
            <a:extLst xmlns:a="http://schemas.openxmlformats.org/drawingml/2006/main">
              <a:ext uri="{FF2B5EF4-FFF2-40B4-BE49-F238E27FC236}">
                <a16:creationId xmlns:a16="http://schemas.microsoft.com/office/drawing/2014/main" id="{69B7DE94-BAAC-4868-A35C-CFB9335E1031}"/>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3EFA897E-C873-46D2-8D37-F51E91287648}"/>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14 / 18</a:t>
            </a:r>
          </a:p>
        </p:txBody>
      </p:sp>
      <p:graphicFrame>
        <p:nvGraphicFramePr>
          <p:cNvPr id="11" name="Chart"/>
          <p:cNvGraphicFramePr/>
          <p:nvPr/>
        </p:nvGraphicFramePr>
        <p:xfrm>
          <a:off xmlns:a="http://schemas.openxmlformats.org/drawingml/2006/main" x="647700" y="1743075"/>
          <a:ext xmlns:a="http://schemas.openxmlformats.org/drawingml/2006/main" cx="10744200" cy="3562350"/>
        </p:xfrm>
        <a:graphic xmlns:a="http://schemas.openxmlformats.org/drawingml/2006/main">
          <a:graphicData uri="http://schemas.openxmlformats.org/drawingml/2006/chart">
            <c:chart xmlns:r="http://schemas.openxmlformats.org/officeDocument/2006/relationships" xmlns:c="http://schemas.openxmlformats.org/drawingml/2006/chart" r:id="Rf846d4853b2448ba"/>
          </a:graphicData>
        </a:graphic>
      </p:graphicFrame>
      <p:sp>
        <p:nvSpPr>
          <p:cNvPr id="6" name="chart-caption">
            <a:extLst xmlns:a="http://schemas.openxmlformats.org/drawingml/2006/main">
              <a:ext uri="{FF2B5EF4-FFF2-40B4-BE49-F238E27FC236}">
                <a16:creationId xmlns:a16="http://schemas.microsoft.com/office/drawing/2014/main" id="{ACCADD2D-EF0D-4254-8A4B-DBD2C8C7B8E2}"/>
              </a:ext>
            </a:extLst>
          </p:cNvPr>
          <p:cNvSpPr>
            <a:spLocks xmlns:a="http://schemas.openxmlformats.org/drawingml/2006/main" noGrp="1"/>
          </p:cNvSpPr>
          <p:nvPr/>
        </p:nvSpPr>
        <p:spPr>
          <a:xfrm xmlns:a="http://schemas.openxmlformats.org/drawingml/2006/main">
            <a:off x="609600" y="5657850"/>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Curvas sintéticas. La pérdida de validación mínima aparece en la época 5.</a:t>
            </a:r>
          </a:p>
        </p:txBody>
      </p:sp>
    </p:spTree>
    <p:extLst>
      <p:ext uri="{BB962C8B-B14F-4D97-AF65-F5344CB8AC3E}">
        <p14:creationId xmlns:p14="http://schemas.microsoft.com/office/powerpoint/2010/main" val="2081791581"/>
      </p:ext>
    </p:extLst>
  </p:cSld>
</p:sld>
</file>

<file path=ppt/slides/slide1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7D615518-1883-4720-AA96-DFBAE710705C}"/>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Redes neuronales</a:t>
            </a:r>
          </a:p>
        </p:txBody>
      </p:sp>
      <p:sp>
        <p:nvSpPr>
          <p:cNvPr id="2" name="title">
            <a:extLst xmlns:a="http://schemas.openxmlformats.org/drawingml/2006/main">
              <a:ext uri="{FF2B5EF4-FFF2-40B4-BE49-F238E27FC236}">
                <a16:creationId xmlns:a16="http://schemas.microsoft.com/office/drawing/2014/main" id="{8C22B8B8-10B4-45A3-B9BB-51134ECF1860}"/>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Regularización y controles</a:t>
            </a:r>
          </a:p>
        </p:txBody>
      </p:sp>
      <p:sp>
        <p:nvSpPr>
          <p:cNvPr id="3" name="author">
            <a:extLst xmlns:a="http://schemas.openxmlformats.org/drawingml/2006/main">
              <a:ext uri="{FF2B5EF4-FFF2-40B4-BE49-F238E27FC236}">
                <a16:creationId xmlns:a16="http://schemas.microsoft.com/office/drawing/2014/main" id="{E70C65B5-A105-4F5D-9F43-0C9DA2E0E443}"/>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BA89B099-ABCB-4534-A335-5592184EE380}"/>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15 / 18</a:t>
            </a:r>
          </a:p>
        </p:txBody>
      </p:sp>
      <p:sp>
        <p:nvSpPr>
          <p:cNvPr id="5" name="label-0">
            <a:extLst xmlns:a="http://schemas.openxmlformats.org/drawingml/2006/main">
              <a:ext uri="{FF2B5EF4-FFF2-40B4-BE49-F238E27FC236}">
                <a16:creationId xmlns:a16="http://schemas.microsoft.com/office/drawing/2014/main" id="{A12A5298-17BD-456A-A32C-FCC0515111AE}"/>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Capacidad del modelo</a:t>
            </a:r>
          </a:p>
        </p:txBody>
      </p:sp>
      <p:sp>
        <p:nvSpPr>
          <p:cNvPr id="6" name="body-0">
            <a:extLst xmlns:a="http://schemas.openxmlformats.org/drawingml/2006/main">
              <a:ext uri="{FF2B5EF4-FFF2-40B4-BE49-F238E27FC236}">
                <a16:creationId xmlns:a16="http://schemas.microsoft.com/office/drawing/2014/main" id="{4B025C71-5E09-4C82-9A96-E93C26AB4882}"/>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Comparar una red pequeña antes de aumentar capas o unidades. Registrar cantidad de parámetros.</a:t>
            </a:r>
          </a:p>
        </p:txBody>
      </p:sp>
      <p:sp>
        <p:nvSpPr>
          <p:cNvPr id="7" name="label-1">
            <a:extLst xmlns:a="http://schemas.openxmlformats.org/drawingml/2006/main">
              <a:ext uri="{FF2B5EF4-FFF2-40B4-BE49-F238E27FC236}">
                <a16:creationId xmlns:a16="http://schemas.microsoft.com/office/drawing/2014/main" id="{729507AF-2A49-405D-A837-671054C46629}"/>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Regularización</a:t>
            </a:r>
          </a:p>
        </p:txBody>
      </p:sp>
      <p:sp>
        <p:nvSpPr>
          <p:cNvPr id="8" name="body-1">
            <a:extLst xmlns:a="http://schemas.openxmlformats.org/drawingml/2006/main">
              <a:ext uri="{FF2B5EF4-FFF2-40B4-BE49-F238E27FC236}">
                <a16:creationId xmlns:a16="http://schemas.microsoft.com/office/drawing/2014/main" id="{308302C1-0A95-4E4F-91BF-FE5889F9A51E}"/>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Dropout y penalizaciones sobre pesos reducen algunas formas de sobreajuste. Su intensidad se elige en validación.</a:t>
            </a:r>
          </a:p>
        </p:txBody>
      </p:sp>
      <p:sp>
        <p:nvSpPr>
          <p:cNvPr id="9" name="label-2">
            <a:extLst xmlns:a="http://schemas.openxmlformats.org/drawingml/2006/main">
              <a:ext uri="{FF2B5EF4-FFF2-40B4-BE49-F238E27FC236}">
                <a16:creationId xmlns:a16="http://schemas.microsoft.com/office/drawing/2014/main" id="{DC40281C-4E03-4974-8F2C-257B80E007A5}"/>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Estabilidad</a:t>
            </a:r>
          </a:p>
        </p:txBody>
      </p:sp>
      <p:sp>
        <p:nvSpPr>
          <p:cNvPr id="10" name="body-2">
            <a:extLst xmlns:a="http://schemas.openxmlformats.org/drawingml/2006/main">
              <a:ext uri="{FF2B5EF4-FFF2-40B4-BE49-F238E27FC236}">
                <a16:creationId xmlns:a16="http://schemas.microsoft.com/office/drawing/2014/main" id="{7F0B5F9B-4CD3-4C94-8095-1FEE3234F01C}"/>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Usar varias semillas, inspeccionar curvas y conservar el mejor checkpoint de validación.</a:t>
            </a:r>
          </a:p>
        </p:txBody>
      </p:sp>
    </p:spTree>
    <p:extLst>
      <p:ext uri="{BB962C8B-B14F-4D97-AF65-F5344CB8AC3E}">
        <p14:creationId xmlns:p14="http://schemas.microsoft.com/office/powerpoint/2010/main" val="1158074780"/>
      </p:ext>
    </p:extLst>
  </p:cSld>
</p:sld>
</file>

<file path=ppt/slides/slide1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F7C07C6C-8ACA-4EEB-9D4F-F40B373E23E5}"/>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Redes neuronales</a:t>
            </a:r>
          </a:p>
        </p:txBody>
      </p:sp>
      <p:sp>
        <p:nvSpPr>
          <p:cNvPr id="2" name="title">
            <a:extLst xmlns:a="http://schemas.openxmlformats.org/drawingml/2006/main">
              <a:ext uri="{FF2B5EF4-FFF2-40B4-BE49-F238E27FC236}">
                <a16:creationId xmlns:a16="http://schemas.microsoft.com/office/drawing/2014/main" id="{1F7B546B-6838-4B9D-9085-52693FC36E94}"/>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Familias de redes</a:t>
            </a:r>
          </a:p>
        </p:txBody>
      </p:sp>
      <p:sp>
        <p:nvSpPr>
          <p:cNvPr id="3" name="author">
            <a:extLst xmlns:a="http://schemas.openxmlformats.org/drawingml/2006/main">
              <a:ext uri="{FF2B5EF4-FFF2-40B4-BE49-F238E27FC236}">
                <a16:creationId xmlns:a16="http://schemas.microsoft.com/office/drawing/2014/main" id="{66216F70-ADEB-4BDF-A983-C5AA6F3649CB}"/>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2CEC86AA-6F47-48F0-B3BB-16CF0F4E5EB4}"/>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16 / 18</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842010">
                <a:tc>
                  <a:txBody>
                    <a:bodyPr>
                      <a:noAutofit/>
                    </a:bodyPr>
                    <a:lstStyle/>
                    <a:p>
                      <a:r>
                        <a:rPr sz="1575" b="1">
                          <a:solidFill>
                            <a:srgbClr val="FFFFFF"/>
                          </a:solidFill>
                          <a:latin typeface="DejaVu Sans"/>
                          <a:ea typeface="DejaVu Sans"/>
                          <a:cs typeface="DejaVu Sans"/>
                        </a:rPr>
                        <a:t>Arquitectura</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Estructura utilizada</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Aplicación del curso</a:t>
                      </a:r>
                    </a:p>
                  </a:txBody>
                  <a:tcPr marL="114300" marR="114300" marT="76200" marB="76200" anchor="ctr">
                    <a:solidFill>
                      <a:srgbClr val="0B1020"/>
                    </a:solidFill>
                  </a:tcPr>
                </a:tc>
              </a:tr>
              <a:tr h="842010">
                <a:tc>
                  <a:txBody>
                    <a:bodyPr>
                      <a:noAutofit/>
                    </a:bodyPr>
                    <a:lstStyle/>
                    <a:p>
                      <a:r>
                        <a:rPr sz="1688" b="1">
                          <a:solidFill>
                            <a:srgbClr val="172033"/>
                          </a:solidFill>
                          <a:latin typeface="DejaVu Sans"/>
                          <a:ea typeface="DejaVu Sans"/>
                          <a:cs typeface="DejaVu Sans"/>
                        </a:rPr>
                        <a:t>MLP</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Vector de variables o ventana aplanada</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Baseline tabular de mercado y on-chain</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RNN, LSTM y GRU</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Orden de una secuencia</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Retorno, volatilidad y actividad futura</a:t>
                      </a:r>
                    </a:p>
                  </a:txBody>
                  <a:tcPr marL="114300" marR="114300" marT="76200" marB="76200" anchor="ctr">
                    <a:solidFill>
                      <a:srgbClr val="EEF2F7"/>
                    </a:solidFill>
                  </a:tcPr>
                </a:tc>
              </a:tr>
              <a:tr h="842010">
                <a:tc>
                  <a:txBody>
                    <a:bodyPr>
                      <a:noAutofit/>
                    </a:bodyPr>
                    <a:lstStyle/>
                    <a:p>
                      <a:r>
                        <a:rPr sz="1688" b="1">
                          <a:solidFill>
                            <a:srgbClr val="172033"/>
                          </a:solidFill>
                          <a:latin typeface="DejaVu Sans"/>
                          <a:ea typeface="DejaVu Sans"/>
                          <a:cs typeface="DejaVu Sans"/>
                        </a:rPr>
                        <a:t>GNN</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Vecindarios y relaciones de un grafo</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Clasificación y representaciones de transacciones</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Modelo híbrido</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Grafo por período y secuencia</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Evaluar información temporal y estructural</a:t>
                      </a:r>
                    </a:p>
                  </a:txBody>
                  <a:tcPr marL="114300" marR="114300" marT="76200" marB="76200" anchor="ctr">
                    <a:solidFill>
                      <a:srgbClr val="EEF2F7"/>
                    </a:solidFill>
                  </a:tcPr>
                </a:tc>
              </a:tr>
            </a:tbl>
          </a:graphicData>
        </a:graphic>
      </p:graphicFrame>
    </p:spTree>
    <p:extLst>
      <p:ext uri="{BB962C8B-B14F-4D97-AF65-F5344CB8AC3E}">
        <p14:creationId xmlns:p14="http://schemas.microsoft.com/office/powerpoint/2010/main" val="1726343521"/>
      </p:ext>
    </p:extLst>
  </p:cSld>
</p:sld>
</file>

<file path=ppt/slides/slide1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11021726-3A33-4A01-8DF5-9DD6B46E7471}"/>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Redes neuronales</a:t>
            </a:r>
          </a:p>
        </p:txBody>
      </p:sp>
      <p:sp>
        <p:nvSpPr>
          <p:cNvPr id="2" name="title">
            <a:extLst xmlns:a="http://schemas.openxmlformats.org/drawingml/2006/main">
              <a:ext uri="{FF2B5EF4-FFF2-40B4-BE49-F238E27FC236}">
                <a16:creationId xmlns:a16="http://schemas.microsoft.com/office/drawing/2014/main" id="{3656C0A3-F35A-447C-9463-EBB5679BA6CA}"/>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Actividad de comprensión</a:t>
            </a:r>
          </a:p>
        </p:txBody>
      </p:sp>
      <p:sp>
        <p:nvSpPr>
          <p:cNvPr id="3" name="author">
            <a:extLst xmlns:a="http://schemas.openxmlformats.org/drawingml/2006/main">
              <a:ext uri="{FF2B5EF4-FFF2-40B4-BE49-F238E27FC236}">
                <a16:creationId xmlns:a16="http://schemas.microsoft.com/office/drawing/2014/main" id="{106A5DB9-DE06-4319-9F68-D2ADC328B80D}"/>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2D5E3921-6070-4B40-9FB7-48454C7DF645}"/>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17 / 18</a:t>
            </a:r>
          </a:p>
        </p:txBody>
      </p:sp>
      <p:sp>
        <p:nvSpPr>
          <p:cNvPr id="5" name="label-0">
            <a:extLst xmlns:a="http://schemas.openxmlformats.org/drawingml/2006/main">
              <a:ext uri="{FF2B5EF4-FFF2-40B4-BE49-F238E27FC236}">
                <a16:creationId xmlns:a16="http://schemas.microsoft.com/office/drawing/2014/main" id="{35C04D13-FB39-4188-9113-7E25202D2192}"/>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Problema</a:t>
            </a:r>
          </a:p>
        </p:txBody>
      </p:sp>
      <p:sp>
        <p:nvSpPr>
          <p:cNvPr id="6" name="body-0">
            <a:extLst xmlns:a="http://schemas.openxmlformats.org/drawingml/2006/main">
              <a:ext uri="{FF2B5EF4-FFF2-40B4-BE49-F238E27FC236}">
                <a16:creationId xmlns:a16="http://schemas.microsoft.com/office/drawing/2014/main" id="{F983CC51-297B-4ACA-B900-FBFEEC9698B8}"/>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Una red recibe retorno, volumen y gas de los últimos 30 días para estimar el retorno del día siguiente.</a:t>
            </a:r>
          </a:p>
        </p:txBody>
      </p:sp>
      <p:sp>
        <p:nvSpPr>
          <p:cNvPr id="7" name="label-1">
            <a:extLst xmlns:a="http://schemas.openxmlformats.org/drawingml/2006/main">
              <a:ext uri="{FF2B5EF4-FFF2-40B4-BE49-F238E27FC236}">
                <a16:creationId xmlns:a16="http://schemas.microsoft.com/office/drawing/2014/main" id="{44646C13-346D-4D5F-8D4F-2C82F53EF1AF}"/>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Análisis</a:t>
            </a:r>
          </a:p>
        </p:txBody>
      </p:sp>
      <p:sp>
        <p:nvSpPr>
          <p:cNvPr id="8" name="body-1">
            <a:extLst xmlns:a="http://schemas.openxmlformats.org/drawingml/2006/main">
              <a:ext uri="{FF2B5EF4-FFF2-40B4-BE49-F238E27FC236}">
                <a16:creationId xmlns:a16="http://schemas.microsoft.com/office/drawing/2014/main" id="{43DB7669-138A-4CD6-9D8B-D44BEB5F769C}"/>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Identificar entradas, objetivo, salida, pérdida y baseline. Explicar cómo separar entrenamiento y prueba.</a:t>
            </a:r>
          </a:p>
        </p:txBody>
      </p:sp>
      <p:sp>
        <p:nvSpPr>
          <p:cNvPr id="9" name="label-2">
            <a:extLst xmlns:a="http://schemas.openxmlformats.org/drawingml/2006/main">
              <a:ext uri="{FF2B5EF4-FFF2-40B4-BE49-F238E27FC236}">
                <a16:creationId xmlns:a16="http://schemas.microsoft.com/office/drawing/2014/main" id="{832419AA-6414-4E5A-9459-45ADE3C4907E}"/>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Discusión</a:t>
            </a:r>
          </a:p>
        </p:txBody>
      </p:sp>
      <p:sp>
        <p:nvSpPr>
          <p:cNvPr id="10" name="body-2">
            <a:extLst xmlns:a="http://schemas.openxmlformats.org/drawingml/2006/main">
              <a:ext uri="{FF2B5EF4-FFF2-40B4-BE49-F238E27FC236}">
                <a16:creationId xmlns:a16="http://schemas.microsoft.com/office/drawing/2014/main" id="{C6E8C382-DDD2-4E2F-B30A-661F723F8920}"/>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¿Qué evidencia permitiría justificar una LSTM frente a una MLP con la misma ventana?</a:t>
            </a:r>
          </a:p>
        </p:txBody>
      </p:sp>
    </p:spTree>
    <p:extLst>
      <p:ext uri="{BB962C8B-B14F-4D97-AF65-F5344CB8AC3E}">
        <p14:creationId xmlns:p14="http://schemas.microsoft.com/office/powerpoint/2010/main" val="677857049"/>
      </p:ext>
    </p:extLst>
  </p:cSld>
</p:sld>
</file>

<file path=ppt/slides/slide1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5" name="unit">
            <a:extLst xmlns:a="http://schemas.openxmlformats.org/drawingml/2006/main">
              <a:ext uri="{FF2B5EF4-FFF2-40B4-BE49-F238E27FC236}">
                <a16:creationId xmlns:a16="http://schemas.microsoft.com/office/drawing/2014/main" id="{24382387-A0D6-44A6-93AB-F9EA68837351}"/>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Redes neuronales</a:t>
            </a:r>
          </a:p>
        </p:txBody>
      </p:sp>
      <p:sp>
        <p:nvSpPr>
          <p:cNvPr id="2" name="title">
            <a:extLst xmlns:a="http://schemas.openxmlformats.org/drawingml/2006/main">
              <a:ext uri="{FF2B5EF4-FFF2-40B4-BE49-F238E27FC236}">
                <a16:creationId xmlns:a16="http://schemas.microsoft.com/office/drawing/2014/main" id="{FD3DF72C-E587-4506-B068-1462BE10DC75}"/>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Bibliografía y documentación</a:t>
            </a:r>
          </a:p>
        </p:txBody>
      </p:sp>
      <p:sp>
        <p:nvSpPr>
          <p:cNvPr id="3" name="author">
            <a:extLst xmlns:a="http://schemas.openxmlformats.org/drawingml/2006/main">
              <a:ext uri="{FF2B5EF4-FFF2-40B4-BE49-F238E27FC236}">
                <a16:creationId xmlns:a16="http://schemas.microsoft.com/office/drawing/2014/main" id="{E4260288-6C95-404F-8169-1BEB484EB180}"/>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3F795E2C-21AC-4B87-B187-ABFE86090C81}"/>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18 / 18</a:t>
            </a:r>
          </a:p>
        </p:txBody>
      </p:sp>
      <p:sp>
        <p:nvSpPr>
          <p:cNvPr id="5" name="reference-0">
            <a:extLst xmlns:a="http://schemas.openxmlformats.org/drawingml/2006/main">
              <a:ext uri="{FF2B5EF4-FFF2-40B4-BE49-F238E27FC236}">
                <a16:creationId xmlns:a16="http://schemas.microsoft.com/office/drawing/2014/main" id="{884C919C-60CF-4459-83A5-30CD451E2856}"/>
              </a:ext>
            </a:extLst>
          </p:cNvPr>
          <p:cNvSpPr>
            <a:spLocks xmlns:a="http://schemas.openxmlformats.org/drawingml/2006/main" noGrp="1"/>
          </p:cNvSpPr>
          <p:nvPr/>
        </p:nvSpPr>
        <p:spPr>
          <a:xfrm xmlns:a="http://schemas.openxmlformats.org/drawingml/2006/main">
            <a:off x="609600" y="18383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Goodfellow, Bengio y Courville (2016). Deep Learning, capítulo 8</a:t>
            </a:r>
          </a:p>
        </p:txBody>
      </p:sp>
      <p:sp>
        <p:nvSpPr>
          <p:cNvPr id="6" name="reference-url-0">
            <a:extLst xmlns:a="http://schemas.openxmlformats.org/drawingml/2006/main">
              <a:ext uri="{FF2B5EF4-FFF2-40B4-BE49-F238E27FC236}">
                <a16:creationId xmlns:a16="http://schemas.microsoft.com/office/drawing/2014/main" id="{068C5689-5D29-410D-82C7-6DC90F56DB1C}"/>
              </a:ext>
            </a:extLst>
          </p:cNvPr>
          <p:cNvSpPr>
            <a:spLocks xmlns:a="http://schemas.openxmlformats.org/drawingml/2006/main" noGrp="1"/>
          </p:cNvSpPr>
          <p:nvPr/>
        </p:nvSpPr>
        <p:spPr>
          <a:xfrm xmlns:a="http://schemas.openxmlformats.org/drawingml/2006/main">
            <a:off x="609600" y="22098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0369A1"/>
                </a:solidFill>
                <a:latin typeface="DejaVu Sans"/>
                <a:ea typeface="DejaVu Sans"/>
                <a:cs typeface="DejaVu Sans"/>
              </a:defRPr>
            </a:pPr>
            <a:r>
              <a:rPr sz="1275" b="0">
                <a:solidFill>
                  <a:srgbClr val="0369A1"/>
                </a:solidFill>
                <a:latin typeface="DejaVu Sans"/>
                <a:ea typeface="DejaVu Sans"/>
                <a:cs typeface="DejaVu Sans"/>
                <a:hlinkClick xmlns:r="http://schemas.openxmlformats.org/officeDocument/2006/relationships" r:id="R65a7d8bebc8447bb"/>
              </a:rPr>
              <a:t>https://www.deeplearningbook.org/contents/optimization.html</a:t>
            </a:r>
          </a:p>
        </p:txBody>
      </p:sp>
      <p:sp>
        <p:nvSpPr>
          <p:cNvPr id="7" name="reference-1">
            <a:extLst xmlns:a="http://schemas.openxmlformats.org/drawingml/2006/main">
              <a:ext uri="{FF2B5EF4-FFF2-40B4-BE49-F238E27FC236}">
                <a16:creationId xmlns:a16="http://schemas.microsoft.com/office/drawing/2014/main" id="{9E0A7695-2EDA-48A8-B6D6-33AC06642831}"/>
              </a:ext>
            </a:extLst>
          </p:cNvPr>
          <p:cNvSpPr>
            <a:spLocks xmlns:a="http://schemas.openxmlformats.org/drawingml/2006/main" noGrp="1"/>
          </p:cNvSpPr>
          <p:nvPr/>
        </p:nvSpPr>
        <p:spPr>
          <a:xfrm xmlns:a="http://schemas.openxmlformats.org/drawingml/2006/main">
            <a:off x="609600" y="26384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Hochreiter y Schmidhuber (1997). Long Short-Term Memory</a:t>
            </a:r>
          </a:p>
        </p:txBody>
      </p:sp>
      <p:sp>
        <p:nvSpPr>
          <p:cNvPr id="8" name="reference-url-1">
            <a:extLst xmlns:a="http://schemas.openxmlformats.org/drawingml/2006/main">
              <a:ext uri="{FF2B5EF4-FFF2-40B4-BE49-F238E27FC236}">
                <a16:creationId xmlns:a16="http://schemas.microsoft.com/office/drawing/2014/main" id="{DD4EE3B3-82D8-4072-BFAA-75CD9D2B1DC5}"/>
              </a:ext>
            </a:extLst>
          </p:cNvPr>
          <p:cNvSpPr>
            <a:spLocks xmlns:a="http://schemas.openxmlformats.org/drawingml/2006/main" noGrp="1"/>
          </p:cNvSpPr>
          <p:nvPr/>
        </p:nvSpPr>
        <p:spPr>
          <a:xfrm xmlns:a="http://schemas.openxmlformats.org/drawingml/2006/main">
            <a:off x="609600" y="30099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0369A1"/>
                </a:solidFill>
                <a:latin typeface="DejaVu Sans"/>
                <a:ea typeface="DejaVu Sans"/>
                <a:cs typeface="DejaVu Sans"/>
              </a:defRPr>
            </a:pPr>
            <a:r>
              <a:rPr sz="1275" b="0">
                <a:solidFill>
                  <a:srgbClr val="0369A1"/>
                </a:solidFill>
                <a:latin typeface="DejaVu Sans"/>
                <a:ea typeface="DejaVu Sans"/>
                <a:cs typeface="DejaVu Sans"/>
                <a:hlinkClick xmlns:r="http://schemas.openxmlformats.org/officeDocument/2006/relationships" r:id="Rf10aa2b2367c40d8"/>
              </a:rPr>
              <a:t>https://www.bioinf.jku.at/publications/older/2604.pdf</a:t>
            </a:r>
          </a:p>
        </p:txBody>
      </p:sp>
      <p:sp>
        <p:nvSpPr>
          <p:cNvPr id="9" name="reference-2">
            <a:extLst xmlns:a="http://schemas.openxmlformats.org/drawingml/2006/main">
              <a:ext uri="{FF2B5EF4-FFF2-40B4-BE49-F238E27FC236}">
                <a16:creationId xmlns:a16="http://schemas.microsoft.com/office/drawing/2014/main" id="{2128FF96-1C52-4A35-BA7D-B65536C010AA}"/>
              </a:ext>
            </a:extLst>
          </p:cNvPr>
          <p:cNvSpPr>
            <a:spLocks xmlns:a="http://schemas.openxmlformats.org/drawingml/2006/main" noGrp="1"/>
          </p:cNvSpPr>
          <p:nvPr/>
        </p:nvSpPr>
        <p:spPr>
          <a:xfrm xmlns:a="http://schemas.openxmlformats.org/drawingml/2006/main">
            <a:off x="609600" y="3438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PyTorch. LSTM: ecuaciones, estados y dimensiones</a:t>
            </a:r>
          </a:p>
        </p:txBody>
      </p:sp>
      <p:sp>
        <p:nvSpPr>
          <p:cNvPr id="10" name="reference-url-2">
            <a:extLst xmlns:a="http://schemas.openxmlformats.org/drawingml/2006/main">
              <a:ext uri="{FF2B5EF4-FFF2-40B4-BE49-F238E27FC236}">
                <a16:creationId xmlns:a16="http://schemas.microsoft.com/office/drawing/2014/main" id="{29DFFBE7-5FCA-4E93-820B-BEE5EEDBD22A}"/>
              </a:ext>
            </a:extLst>
          </p:cNvPr>
          <p:cNvSpPr>
            <a:spLocks xmlns:a="http://schemas.openxmlformats.org/drawingml/2006/main" noGrp="1"/>
          </p:cNvSpPr>
          <p:nvPr/>
        </p:nvSpPr>
        <p:spPr>
          <a:xfrm xmlns:a="http://schemas.openxmlformats.org/drawingml/2006/main">
            <a:off x="609600" y="38100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0369A1"/>
                </a:solidFill>
                <a:latin typeface="DejaVu Sans"/>
                <a:ea typeface="DejaVu Sans"/>
                <a:cs typeface="DejaVu Sans"/>
              </a:defRPr>
            </a:pPr>
            <a:r>
              <a:rPr sz="1275" b="0">
                <a:solidFill>
                  <a:srgbClr val="0369A1"/>
                </a:solidFill>
                <a:latin typeface="DejaVu Sans"/>
                <a:ea typeface="DejaVu Sans"/>
                <a:cs typeface="DejaVu Sans"/>
                <a:hlinkClick xmlns:r="http://schemas.openxmlformats.org/officeDocument/2006/relationships" r:id="R2b0d102794184289"/>
              </a:rPr>
              <a:t>https://docs.pytorch.org/docs/stable/generated/torch.nn.LSTM.html</a:t>
            </a:r>
          </a:p>
        </p:txBody>
      </p:sp>
      <p:sp>
        <p:nvSpPr>
          <p:cNvPr id="11" name="reference-3">
            <a:extLst xmlns:a="http://schemas.openxmlformats.org/drawingml/2006/main">
              <a:ext uri="{FF2B5EF4-FFF2-40B4-BE49-F238E27FC236}">
                <a16:creationId xmlns:a16="http://schemas.microsoft.com/office/drawing/2014/main" id="{14F1CF5C-9D1C-43EC-81C6-5A8DE3EAB62F}"/>
              </a:ext>
            </a:extLst>
          </p:cNvPr>
          <p:cNvSpPr>
            <a:spLocks xmlns:a="http://schemas.openxmlformats.org/drawingml/2006/main" noGrp="1"/>
          </p:cNvSpPr>
          <p:nvPr/>
        </p:nvSpPr>
        <p:spPr>
          <a:xfrm xmlns:a="http://schemas.openxmlformats.org/drawingml/2006/main">
            <a:off x="609600" y="42386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Cho et al. (2014). Learning Phrase Representations using RNN Encoder-Decoder</a:t>
            </a:r>
          </a:p>
        </p:txBody>
      </p:sp>
      <p:sp>
        <p:nvSpPr>
          <p:cNvPr id="12" name="reference-url-3">
            <a:extLst xmlns:a="http://schemas.openxmlformats.org/drawingml/2006/main">
              <a:ext uri="{FF2B5EF4-FFF2-40B4-BE49-F238E27FC236}">
                <a16:creationId xmlns:a16="http://schemas.microsoft.com/office/drawing/2014/main" id="{4AD5E748-775A-411A-BB65-A23AE3384313}"/>
              </a:ext>
            </a:extLst>
          </p:cNvPr>
          <p:cNvSpPr>
            <a:spLocks xmlns:a="http://schemas.openxmlformats.org/drawingml/2006/main" noGrp="1"/>
          </p:cNvSpPr>
          <p:nvPr/>
        </p:nvSpPr>
        <p:spPr>
          <a:xfrm xmlns:a="http://schemas.openxmlformats.org/drawingml/2006/main">
            <a:off x="609600" y="4610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0369A1"/>
                </a:solidFill>
                <a:latin typeface="DejaVu Sans"/>
                <a:ea typeface="DejaVu Sans"/>
                <a:cs typeface="DejaVu Sans"/>
              </a:defRPr>
            </a:pPr>
            <a:r>
              <a:rPr sz="1275" b="0">
                <a:solidFill>
                  <a:srgbClr val="0369A1"/>
                </a:solidFill>
                <a:latin typeface="DejaVu Sans"/>
                <a:ea typeface="DejaVu Sans"/>
                <a:cs typeface="DejaVu Sans"/>
                <a:hlinkClick xmlns:r="http://schemas.openxmlformats.org/officeDocument/2006/relationships" r:id="R3d36f17bfadd4958"/>
              </a:rPr>
              <a:t>https://arxiv.org/abs/1406.1078</a:t>
            </a:r>
          </a:p>
        </p:txBody>
      </p:sp>
      <p:sp>
        <p:nvSpPr>
          <p:cNvPr id="13" name="reference-4">
            <a:extLst xmlns:a="http://schemas.openxmlformats.org/drawingml/2006/main">
              <a:ext uri="{FF2B5EF4-FFF2-40B4-BE49-F238E27FC236}">
                <a16:creationId xmlns:a16="http://schemas.microsoft.com/office/drawing/2014/main" id="{270266D6-9944-4F85-B99E-3CE8FE8FF371}"/>
              </a:ext>
            </a:extLst>
          </p:cNvPr>
          <p:cNvSpPr>
            <a:spLocks xmlns:a="http://schemas.openxmlformats.org/drawingml/2006/main" noGrp="1"/>
          </p:cNvSpPr>
          <p:nvPr/>
        </p:nvSpPr>
        <p:spPr>
          <a:xfrm xmlns:a="http://schemas.openxmlformats.org/drawingml/2006/main">
            <a:off x="609600" y="50387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Kipf y Welling (2017). Semi-Supervised Classification with GCN</a:t>
            </a:r>
          </a:p>
        </p:txBody>
      </p:sp>
      <p:sp>
        <p:nvSpPr>
          <p:cNvPr id="14" name="reference-url-4">
            <a:extLst xmlns:a="http://schemas.openxmlformats.org/drawingml/2006/main">
              <a:ext uri="{FF2B5EF4-FFF2-40B4-BE49-F238E27FC236}">
                <a16:creationId xmlns:a16="http://schemas.microsoft.com/office/drawing/2014/main" id="{801D3554-76CF-4501-BF19-A22BC86742DD}"/>
              </a:ext>
            </a:extLst>
          </p:cNvPr>
          <p:cNvSpPr>
            <a:spLocks xmlns:a="http://schemas.openxmlformats.org/drawingml/2006/main" noGrp="1"/>
          </p:cNvSpPr>
          <p:nvPr/>
        </p:nvSpPr>
        <p:spPr>
          <a:xfrm xmlns:a="http://schemas.openxmlformats.org/drawingml/2006/main">
            <a:off x="609600" y="54102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0369A1"/>
                </a:solidFill>
                <a:latin typeface="DejaVu Sans"/>
                <a:ea typeface="DejaVu Sans"/>
                <a:cs typeface="DejaVu Sans"/>
              </a:defRPr>
            </a:pPr>
            <a:r>
              <a:rPr sz="1275" b="0">
                <a:solidFill>
                  <a:srgbClr val="0369A1"/>
                </a:solidFill>
                <a:latin typeface="DejaVu Sans"/>
                <a:ea typeface="DejaVu Sans"/>
                <a:cs typeface="DejaVu Sans"/>
                <a:hlinkClick xmlns:r="http://schemas.openxmlformats.org/officeDocument/2006/relationships" r:id="R2944340d1c0c400d"/>
              </a:rPr>
              <a:t>https://arxiv.org/abs/1609.02907</a:t>
            </a:r>
          </a:p>
        </p:txBody>
      </p:sp>
    </p:spTree>
    <p:extLst>
      <p:ext uri="{BB962C8B-B14F-4D97-AF65-F5344CB8AC3E}">
        <p14:creationId xmlns:p14="http://schemas.microsoft.com/office/powerpoint/2010/main" val="9789736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2026-10-02T13:02:00.2630000Z</dcterms:created>
  <dcterms:modified xsi:type="dcterms:W3CDTF">2026-10-02T13:02:00.2630000Z</dcterms:modified>
</coreProperties>
</file>