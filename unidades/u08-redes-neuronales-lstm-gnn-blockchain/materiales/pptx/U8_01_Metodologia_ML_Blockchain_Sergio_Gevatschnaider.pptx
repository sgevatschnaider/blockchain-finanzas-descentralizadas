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82c747613f4003" /><Relationship Type="http://schemas.openxmlformats.org/officeDocument/2006/relationships/extended-properties" Target="/docProps/app.xml" Id="R12c037e3f7f94f60" /><Relationship Type="http://schemas.openxmlformats.org/officeDocument/2006/relationships/officeDocument" Target="/ppt/presentation.xml" Id="R7a72a11c89c84a75" /></Relationships>
</file>

<file path=ppt/presentation.xml><?xml version="1.0" encoding="utf-8"?>
<p:presentation xmlns:p="http://schemas.openxmlformats.org/presentationml/2006/main">
  <p:sldMasterIdLst>
    <p:sldMasterId xmlns:r="http://schemas.openxmlformats.org/officeDocument/2006/relationships" id="2147483648" r:id="Rfab54b3d2f1d44ea"/>
    <p:sldMasterId xmlns:r="http://schemas.openxmlformats.org/officeDocument/2006/relationships" id="2147483649" r:id="Rf8151e2614ef4859"/>
  </p:sldMasterIdLst>
  <p:notesMasterIdLst>
    <p:notesMasterId xmlns:r="http://schemas.openxmlformats.org/officeDocument/2006/relationships" r:id="R554fc3ccf47b431c"/>
  </p:notesMasterIdLst>
  <p:sldIdLst>
    <p:sldId xmlns:r="http://schemas.openxmlformats.org/officeDocument/2006/relationships" id="256" r:id="R56ae0e926e4e4374"/>
    <p:sldId xmlns:r="http://schemas.openxmlformats.org/officeDocument/2006/relationships" id="257" r:id="R00dd5c03d6c64fd8"/>
    <p:sldId xmlns:r="http://schemas.openxmlformats.org/officeDocument/2006/relationships" id="258" r:id="R53aee92bad354d59"/>
    <p:sldId xmlns:r="http://schemas.openxmlformats.org/officeDocument/2006/relationships" id="259" r:id="R2b9e468da81b483a"/>
    <p:sldId xmlns:r="http://schemas.openxmlformats.org/officeDocument/2006/relationships" id="260" r:id="R5c9d7174b135440e"/>
    <p:sldId xmlns:r="http://schemas.openxmlformats.org/officeDocument/2006/relationships" id="261" r:id="R9066b62a17ca4cff"/>
    <p:sldId xmlns:r="http://schemas.openxmlformats.org/officeDocument/2006/relationships" id="262" r:id="R807b9e16e5fb449d"/>
    <p:sldId xmlns:r="http://schemas.openxmlformats.org/officeDocument/2006/relationships" id="263" r:id="R46d100035e664029"/>
    <p:sldId xmlns:r="http://schemas.openxmlformats.org/officeDocument/2006/relationships" id="264" r:id="R244ae4e011f14bae"/>
    <p:sldId xmlns:r="http://schemas.openxmlformats.org/officeDocument/2006/relationships" id="265" r:id="R2fc50771d1714162"/>
    <p:sldId xmlns:r="http://schemas.openxmlformats.org/officeDocument/2006/relationships" id="266" r:id="R7ee935f74ab54776"/>
    <p:sldId xmlns:r="http://schemas.openxmlformats.org/officeDocument/2006/relationships" id="267" r:id="Ra90f64e0ce5f4002"/>
    <p:sldId xmlns:r="http://schemas.openxmlformats.org/officeDocument/2006/relationships" id="268" r:id="R28b16849bee7413b"/>
    <p:sldId xmlns:r="http://schemas.openxmlformats.org/officeDocument/2006/relationships" id="269" r:id="Re4aba8c8a0cd4fa4"/>
    <p:sldId xmlns:r="http://schemas.openxmlformats.org/officeDocument/2006/relationships" id="270" r:id="R34befdfc9e2c414f"/>
    <p:sldId xmlns:r="http://schemas.openxmlformats.org/officeDocument/2006/relationships" id="271" r:id="Rd51af7d7e08d4e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4f14e5ce9540b8" /><Relationship Type="http://schemas.openxmlformats.org/officeDocument/2006/relationships/slideMaster" Target="/ppt/slideMasters/slideMaster1.xml" Id="Rfab54b3d2f1d44ea" /><Relationship Type="http://schemas.openxmlformats.org/officeDocument/2006/relationships/slideMaster" Target="/ppt/slideMasters/slideMaster2.xml" Id="Rf8151e2614ef4859" /><Relationship Type="http://schemas.openxmlformats.org/officeDocument/2006/relationships/notesMaster" Target="/ppt/notesMasters/notesMaster1.xml" Id="R554fc3ccf47b431c" /><Relationship Type="http://schemas.openxmlformats.org/officeDocument/2006/relationships/presProps" Target="/ppt/presProps.xml" Id="Rb9083cebfcf3453c" /><Relationship Type="http://schemas.openxmlformats.org/officeDocument/2006/relationships/tableStyles" Target="/ppt/tableStyles.xml" Id="R3db57c3d920a4031" /><Relationship Type="http://schemas.openxmlformats.org/officeDocument/2006/relationships/slide" Target="/ppt/slides/slide1.xml" Id="R56ae0e926e4e4374" /><Relationship Type="http://schemas.openxmlformats.org/officeDocument/2006/relationships/slide" Target="/ppt/slides/slide2.xml" Id="R00dd5c03d6c64fd8" /><Relationship Type="http://schemas.openxmlformats.org/officeDocument/2006/relationships/slide" Target="/ppt/slides/slide3.xml" Id="R53aee92bad354d59" /><Relationship Type="http://schemas.openxmlformats.org/officeDocument/2006/relationships/slide" Target="/ppt/slides/slide4.xml" Id="R2b9e468da81b483a" /><Relationship Type="http://schemas.openxmlformats.org/officeDocument/2006/relationships/slide" Target="/ppt/slides/slide5.xml" Id="R5c9d7174b135440e" /><Relationship Type="http://schemas.openxmlformats.org/officeDocument/2006/relationships/slide" Target="/ppt/slides/slide6.xml" Id="R9066b62a17ca4cff" /><Relationship Type="http://schemas.openxmlformats.org/officeDocument/2006/relationships/slide" Target="/ppt/slides/slide7.xml" Id="R807b9e16e5fb449d" /><Relationship Type="http://schemas.openxmlformats.org/officeDocument/2006/relationships/slide" Target="/ppt/slides/slide8.xml" Id="R46d100035e664029" /><Relationship Type="http://schemas.openxmlformats.org/officeDocument/2006/relationships/slide" Target="/ppt/slides/slide9.xml" Id="R244ae4e011f14bae" /><Relationship Type="http://schemas.openxmlformats.org/officeDocument/2006/relationships/slide" Target="/ppt/slides/slide10.xml" Id="R2fc50771d1714162" /><Relationship Type="http://schemas.openxmlformats.org/officeDocument/2006/relationships/slide" Target="/ppt/slides/slide11.xml" Id="R7ee935f74ab54776" /><Relationship Type="http://schemas.openxmlformats.org/officeDocument/2006/relationships/slide" Target="/ppt/slides/slide12.xml" Id="Ra90f64e0ce5f4002" /><Relationship Type="http://schemas.openxmlformats.org/officeDocument/2006/relationships/slide" Target="/ppt/slides/slide13.xml" Id="R28b16849bee7413b" /><Relationship Type="http://schemas.openxmlformats.org/officeDocument/2006/relationships/slide" Target="/ppt/slides/slide14.xml" Id="Re4aba8c8a0cd4fa4" /><Relationship Type="http://schemas.openxmlformats.org/officeDocument/2006/relationships/slide" Target="/ppt/slides/slide15.xml" Id="R34befdfc9e2c414f" /><Relationship Type="http://schemas.openxmlformats.org/officeDocument/2006/relationships/slide" Target="/ppt/slides/slide16.xml" Id="Rd51af7d7e08d4e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af61d4b380d149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5fb7a97c4f4b7f" /><Relationship Type="http://schemas.openxmlformats.org/officeDocument/2006/relationships/notesMaster" Target="/ppt/notesMasters/notesMaster1.xml" Id="R80178e1bf0fd49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424a3e6e7b4109" /><Relationship Type="http://schemas.openxmlformats.org/officeDocument/2006/relationships/notesMaster" Target="/ppt/notesMasters/notesMaster1.xml" Id="Rb44c0b6809cd4e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ae68ee16f344fe" /><Relationship Type="http://schemas.openxmlformats.org/officeDocument/2006/relationships/notesMaster" Target="/ppt/notesMasters/notesMaster1.xml" Id="R45d2cd6e87c140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82727e26334b75" /><Relationship Type="http://schemas.openxmlformats.org/officeDocument/2006/relationships/notesMaster" Target="/ppt/notesMasters/notesMaster1.xml" Id="Rd4c50879924544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da8309079b4dfa" /><Relationship Type="http://schemas.openxmlformats.org/officeDocument/2006/relationships/notesMaster" Target="/ppt/notesMasters/notesMaster1.xml" Id="R711d21964fc545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82748f20c04a51" /><Relationship Type="http://schemas.openxmlformats.org/officeDocument/2006/relationships/notesMaster" Target="/ppt/notesMasters/notesMaster1.xml" Id="R8bc62ec4c04b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abbab9b0fc4982" /><Relationship Type="http://schemas.openxmlformats.org/officeDocument/2006/relationships/notesMaster" Target="/ppt/notesMasters/notesMaster1.xml" Id="Rc17c892d246e4c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bf51f3066b4c5f" /><Relationship Type="http://schemas.openxmlformats.org/officeDocument/2006/relationships/notesMaster" Target="/ppt/notesMasters/notesMaster1.xml" Id="R6b091a38b4d84e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0d9819df4c4f75" /><Relationship Type="http://schemas.openxmlformats.org/officeDocument/2006/relationships/notesMaster" Target="/ppt/notesMasters/notesMaster1.xml" Id="R5665027fd6dc4c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aae0d2df9c4e31" /><Relationship Type="http://schemas.openxmlformats.org/officeDocument/2006/relationships/notesMaster" Target="/ppt/notesMasters/notesMaster1.xml" Id="R3d2fed0b47f346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1999c7e5fc4758" /><Relationship Type="http://schemas.openxmlformats.org/officeDocument/2006/relationships/notesMaster" Target="/ppt/notesMasters/notesMaster1.xml" Id="Rf12c5eddd5894c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3a29bc7d3c4f80" /><Relationship Type="http://schemas.openxmlformats.org/officeDocument/2006/relationships/notesMaster" Target="/ppt/notesMasters/notesMaster1.xml" Id="R4a8119ec04d040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7b3588fdd449dd" /><Relationship Type="http://schemas.openxmlformats.org/officeDocument/2006/relationships/notesMaster" Target="/ppt/notesMasters/notesMaster1.xml" Id="Reda07a4255db42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56702a98f14852" /><Relationship Type="http://schemas.openxmlformats.org/officeDocument/2006/relationships/notesMaster" Target="/ppt/notesMasters/notesMaster1.xml" Id="Rdb947e083b4b4c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713d1789f342f1" /><Relationship Type="http://schemas.openxmlformats.org/officeDocument/2006/relationships/notesMaster" Target="/ppt/notesMasters/notesMaster1.xml" Id="Rfabcdf9e50f04d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0cdceca1d04787" /><Relationship Type="http://schemas.openxmlformats.org/officeDocument/2006/relationships/notesMaster" Target="/ppt/notesMasters/notesMaster1.xml" Id="Rf877faaef21c48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unidad estudia fuentes complementarias. Un token negociado en un mercado tiene información distinta de la actividad de su red. El análisis necesita explicitar unidad de observación, frecuencia, cobertura y tarea. Un cambio en una métrica on-chain puede depender de la medición y del protocolo, además de la actividad económica.</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pregunta debe poder responderse con los datos y el protocolo de evaluación. Una propuesta posible es evaluar si las variables on-chain disponibles al cierre mejoran la estimación de volatilidad posterior. La superioridad de un modelo es una hipótesis que se somete a prueba, no un resultado asumido.</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Los retornos pueden reducir tendencias de nivel, pero no garantizan estacionariedad. Para una clasificación con banda neutral se fija un umbral en entrenamiento. Los regímenes pueden derivarse de reglas observables o de un modelo, y la regla debe distinguir análisis retrospectivo de una decisión en tiempo real.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fórmula define explícitamente un objetivo docente y no una única convención universal. También se usa la suma de retornos al cuadrado o una varianza centrada. Se documentan frecuencia, H, unidades y anualización. Si se entrenara al corte c, sólo se incluyen objetivos cuyo período de realización termine como máximo en c. GARCH pronostica varianza condicional y su comparación exige un target compatible.</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Moiz y Raza (2026). Deep learning and GARCH family models</a:t>
            </a:r>
            <a:endParaRPr sz="1800" b="0" u="none" strike="noStrike">
              <a:solidFill>
                <a:srgbClr val="000000"/>
              </a:solidFill>
              <a:latin typeface="Arial"/>
              <a:ea typeface="Arial"/>
              <a:cs typeface="Arial"/>
            </a:endParaRPr>
          </a:p>
          <a:p xmlns:a="http://schemas.openxmlformats.org/drawingml/2006/main">
            <a:pPr indent="0">
              <a:buNone/>
            </a:pPr>
            <a:r>
              <a:t>https://mf-journal.com/article/view/370</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Se conserva la comparación BTC/ETH del material original. Los indicadores requieren especificar unidad, agregación, cobertura y fuente. Direcciones activas no equivalen a usuarios únicos. Hash rate es una estimación y puede suavizarse. Staking y burn pertenecen a la economía de Ethereum. Las métricas de L1 no agotan la actividad de L2. Las variables exógenas, macro y sentimiento, requieren su propio reloj de publicación.</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Un dato con fecha de referencia t puede publicarse en t+1 o revisarse después. Una unión por fecha sin ese control puede introducir fuga. El as-of join utiliza la información disponible a la fecha de decisión. Para datos on-chain se diferencia inclusión de bloque, confirmación, extracción y disponibilidad en la fuente utilizada.</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Los productos del pipeline permiten reconstruir una conclusión. Se conserva el principio del material original: exportar datos y resultados de un cálculo definido, y presentar esos artefactos sin duplicar silenciosamente el método. Un simulador didáctico puede usar datos sintéticos identificados como tales. Un visor de resultados reales debe indicar el experimento del que procede.</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lista representa alternativas y no una escalera universal de superioridad. ARIMA y GARCH modelan aspectos diferentes. Transformer se puede agregar como comparación temporal si el tamaño del dato y el presupuesto lo justifican. En clasificación se informa una referencia de tasa base y el desempeño de la clase relevante.</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Expanding window conserva toda la historia y rolling window limita la historia usada. La elección afecta costo y adaptación a cambios. Los bloques de prueba deben tener duración comparable si se agregan métricas. El modelo y las transformaciones se ajustan sin usar el bloque evaluado. La selección de hiperparámetros se realiza dentro del pasado disponible, mediante validación temporal.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scikit-learn. TimeSeriesSplit</a:t>
            </a:r>
            <a:endParaRPr sz="1800" b="0" u="none" strike="noStrike">
              <a:solidFill>
                <a:srgbClr val="000000"/>
              </a:solidFill>
              <a:latin typeface="Arial"/>
              <a:ea typeface="Arial"/>
              <a:cs typeface="Arial"/>
            </a:endParaRPr>
          </a:p>
          <a:p xmlns:a="http://schemas.openxmlformats.org/drawingml/2006/main">
            <a:pPr indent="0">
              <a:buNone/>
            </a:pPr>
            <a:r>
              <a:t>https://scikit-learn.org/stable/modules/generated/sklearn.model_selection.TimeSeriesSplit.html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purga depende del intervalo real de información de cada objetivo. Un gap fijo es una aproximación que debe justificarse. Las ventanas de entrada de prueba pueden utilizar historia ya observada antes del corte. Compartir historia pasada de entrada no equivale por sí mismo a fuga. Lo decisivo es no utilizar futuros objetivos, futuros eventos o transformaciones ajustadas con el período de evaluación.</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fuga puede aumentar artificialmente métricas, aunque su efecto concreto depende del dato. Un experimento pedagógico compara diseños válidos e inválidos sin presentar una magnitud universal del sesgo. Random split puede evaluar un problema diferente al pronóstico temporal y no sirve para estimar prospectivamente el desempeño de esta tarea.</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scikit-learn. Common pitfalls and recommended practices</a:t>
            </a:r>
            <a:endParaRPr sz="1800" b="0" u="none" strike="noStrike">
              <a:solidFill>
                <a:srgbClr val="000000"/>
              </a:solidFill>
              <a:latin typeface="Arial"/>
              <a:ea typeface="Arial"/>
              <a:cs typeface="Arial"/>
            </a:endParaRPr>
          </a:p>
          <a:p xmlns:a="http://schemas.openxmlformats.org/drawingml/2006/main">
            <a:pPr indent="0">
              <a:buNone/>
            </a:pPr>
            <a:r>
              <a:t>https://scikit-learn.org/stable/common_pitfalls.html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QLIKE tiene convenciones equivalentes hasta términos que no dependen del pronóstico. Aquí se declara la forma normalizada para varianzas positivas. Se requiere tratar ceros explícitamente. Las métricas de trading evalúan una regla de decisiones y no reemplazan las métricas del pronóstico. Sharpe necesita período, tasa de referencia, frecuencia y método de anualización coherentes.</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metrics.csv y predictions.csv son ejemplos de productos útiles. feature_importance.csv, shap_values.csv y graph_metrics.json documentan análisis adicionales cuando existen. Una semilla no garantiza identidad bit a bit en todos los dispositivos. Para comparar modelos se calculan diferencias sobre los mismos períodos y se evalúa su estabilidad, evitando seleccionar únicamente el mejor fold.</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propuesta es una actividad académica y no un resultado ya obtenido. Se puede comenzar con un dataset pequeño o sintético explícito. La evidencia requerida incluye cronología, esquema, transformaciones ajustadas por fold, predicciones y análisis de errores. El proyecto debe poder obtener una conclusión válida aunque el modelo complejo no mejore al baseline.</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ampliar y contrastar el método. Los resultados de los artículos pertenecen al experimento de sus autores.</a:t>
            </a:r>
          </a:p>
          <a:p xmlns:a="http://schemas.openxmlformats.org/drawingml/2006/main">
            <a:r>
              <a:t/>
            </a:r>
          </a:p>
          <a:p xmlns:a="http://schemas.openxmlformats.org/drawingml/2006/main">
            <a:r>
              <a:t>scikit-learn. TimeSeriesSplit</a:t>
            </a:r>
          </a:p>
          <a:p xmlns:a="http://schemas.openxmlformats.org/drawingml/2006/main">
            <a:r>
              <a:t>https://scikit-learn.org/stable/modules/generated/sklearn.model_selection.TimeSeriesSplit.html</a:t>
            </a:r>
          </a:p>
          <a:p xmlns:a="http://schemas.openxmlformats.org/drawingml/2006/main">
            <a:r>
              <a:t/>
            </a:r>
          </a:p>
          <a:p xmlns:a="http://schemas.openxmlformats.org/drawingml/2006/main">
            <a:r>
              <a:t>scikit-learn. Common pitfalls and recommended practices</a:t>
            </a:r>
          </a:p>
          <a:p xmlns:a="http://schemas.openxmlformats.org/drawingml/2006/main">
            <a:r>
              <a:t>https://scikit-learn.org/stable/common_pitfalls.html</a:t>
            </a:r>
          </a:p>
          <a:p xmlns:a="http://schemas.openxmlformats.org/drawingml/2006/main">
            <a:r>
              <a:t/>
            </a:r>
          </a:p>
          <a:p xmlns:a="http://schemas.openxmlformats.org/drawingml/2006/main">
            <a:r>
              <a:t>Moiz y Raza (2026). Deep learning and GARCH family models</a:t>
            </a:r>
          </a:p>
          <a:p xmlns:a="http://schemas.openxmlformats.org/drawingml/2006/main">
            <a:r>
              <a:t>https://mf-journal.com/article/view/370</a:t>
            </a:r>
          </a:p>
          <a:p xmlns:a="http://schemas.openxmlformats.org/drawingml/2006/main">
            <a:r>
              <a:t/>
            </a:r>
          </a:p>
          <a:p xmlns:a="http://schemas.openxmlformats.org/drawingml/2006/main">
            <a:r>
              <a:t>Weber et al. (2019). Anti-Money Laundering in Bitcoin</a:t>
            </a:r>
          </a:p>
          <a:p xmlns:a="http://schemas.openxmlformats.org/drawingml/2006/main">
            <a:r>
              <a:t>https://arxiv.org/abs/1908.02591</a:t>
            </a:r>
          </a:p>
          <a:p xmlns:a="http://schemas.openxmlformats.org/drawingml/2006/main">
            <a:r>
              <a:t/>
            </a:r>
          </a:p>
          <a:p xmlns:a="http://schemas.openxmlformats.org/drawingml/2006/main">
            <a:r>
              <a:t>Lundberg y Lee (2017). A Unified Approach to Interpreting Model Predictions</a:t>
            </a:r>
          </a:p>
          <a:p xmlns:a="http://schemas.openxmlformats.org/drawingml/2006/main">
            <a:r>
              <a:t>https://arxiv.org/abs/1705.07874</a:t>
            </a:r>
          </a:p>
          <a:p xmlns:a="http://schemas.openxmlformats.org/drawingml/2006/main">
            <a:r>
              <a:t/>
            </a:r>
          </a:p>
          <a:p xmlns:a="http://schemas.openxmlformats.org/drawingml/2006/main">
            <a:r>
              <a:t>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2.xml" Id="R6e3c2d7fccce4e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391c7577c789400b" /></Relationships>
</file>

<file path=ppt/slideLayouts/slideLayout1.xml><?xml version="1.0" encoding="utf-8"?>
<p:sldLayout xmlns:p="http://schemas.openxmlformats.org/presentationml/2006/main" type="blank" preserve="1">
  <p:cSld name="U8_MASTER">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title" preserve="1">
  <p:cSld name="U8_MASTER">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21C9607B-1DD2-4E62-A846-5F142F0B716D}"/>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buNone/>
            </a:pPr>
            <a:endParaRPr sz="1800" b="0" u="none" strike="noStrike">
              <a:solidFill>
                <a:schemeClr val="dk1"/>
              </a:solidFill>
              <a:latin typeface="Aptos"/>
              <a:ea typeface="Aptos"/>
              <a:cs typeface="Aptos"/>
            </a:endParaRPr>
          </a:p>
        </p:txBody>
      </p:sp>
      <p:sp>
        <p:nvSpPr>
          <p:cNvPr id="3" name="PlaceHolder 2">
            <a:extLst xmlns:a="http://schemas.openxmlformats.org/drawingml/2006/main">
              <a:ext uri="{FF2B5EF4-FFF2-40B4-BE49-F238E27FC236}">
                <a16:creationId xmlns:a16="http://schemas.microsoft.com/office/drawing/2014/main" id="{27F4107E-2940-4923-867F-A2B7F6F8742F}"/>
              </a:ext>
            </a:extLst>
          </p:cNvPr>
          <p:cNvSpPr>
            <a:spLocks xmlns:a="http://schemas.openxmlformats.org/drawingml/2006/main" noGrp="1"/>
          </p:cNvSpPr>
          <p:nvPr>
            <p:ph type="subTitle"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buNone/>
            </a:pPr>
            <a:endParaRPr sz="3200" b="0" u="none" strike="noStrik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05fadb769349e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42eb615a36d47ea" /><Relationship Type="http://schemas.openxmlformats.org/officeDocument/2006/relationships/slideLayout" Target="/ppt/slideLayouts/slideLayout1.xml" Id="R1baf40f02fd04626" /><Relationship Type="http://schemas.openxmlformats.org/officeDocument/2006/relationships/slideLayout" Target="/ppt/slideLayouts/slideLayout2.xml" Id="R7512c02c7c5b401a"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E7551284-FD78-4EFB-A021-D9E819FE2DB1}"/>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Aptos"/>
                <a:ea typeface="Aptos"/>
                <a:cs typeface="Aptos"/>
              </a:rPr>
              <a:t>Click to edit the title text format</a:t>
            </a:r>
            <a:endParaRPr sz="1800" b="0" u="none" strike="noStrike">
              <a:solidFill>
                <a:schemeClr val="dk1"/>
              </a:solidFill>
              <a:latin typeface="Aptos"/>
              <a:ea typeface="Aptos"/>
              <a:cs typeface="Aptos"/>
            </a:endParaRPr>
          </a:p>
        </p:txBody>
      </p:sp>
      <p:sp>
        <p:nvSpPr>
          <p:cNvPr id="4" name="PlaceHolder 2">
            <a:extLst xmlns:a="http://schemas.openxmlformats.org/drawingml/2006/main">
              <a:ext uri="{FF2B5EF4-FFF2-40B4-BE49-F238E27FC236}">
                <a16:creationId xmlns:a16="http://schemas.microsoft.com/office/drawing/2014/main" id="{4F632E6C-E51C-4B3E-86F9-582182186B9E}"/>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spcBef>
                <a:spcPts val="1417"/>
              </a:spcBef>
              <a:buClr>
                <a:srgbClr val="000000"/>
              </a:buClr>
              <a:buSzPct val="45000"/>
              <a:buFont typeface="Wingdings"/>
              <a:buChar char=""/>
            </a:pPr>
            <a:r>
              <a:rPr sz="3200" b="0" u="none" strike="noStrike">
                <a:solidFill>
                  <a:schemeClr val="dk1"/>
                </a:solidFill>
                <a:latin typeface="Aptos"/>
                <a:ea typeface="Aptos"/>
                <a:cs typeface="Aptos"/>
              </a:rPr>
              <a:t>Click to edit the outline text format</a:t>
            </a:r>
            <a:endParaRPr sz="3200" b="0" u="none" strike="noStrike">
              <a:solidFill>
                <a:schemeClr val="dk1"/>
              </a:solidFill>
              <a:latin typeface="Aptos"/>
              <a:ea typeface="Aptos"/>
              <a:cs typeface="Aptos"/>
            </a:endParaRPr>
          </a:p>
          <a:p xmlns:a="http://schemas.openxmlformats.org/drawingml/2006/main">
            <a:pPr marL="864000" lvl="1" indent="-324000">
              <a:spcBef>
                <a:spcPts val="1134"/>
              </a:spcBef>
              <a:buClr>
                <a:srgbClr val="000000"/>
              </a:buClr>
              <a:buSzPct val="75000"/>
              <a:buFont typeface="Symbol"/>
              <a:buChar char=""/>
            </a:pPr>
            <a:r>
              <a:rPr sz="2400" b="0" u="none" strike="noStrike">
                <a:solidFill>
                  <a:schemeClr val="dk1"/>
                </a:solidFill>
                <a:latin typeface="Aptos"/>
                <a:ea typeface="Aptos"/>
                <a:cs typeface="Aptos"/>
              </a:rPr>
              <a:t>Second Outline Level</a:t>
            </a:r>
            <a:endParaRPr sz="2400" b="0" u="none" strike="noStrike">
              <a:solidFill>
                <a:schemeClr val="dk1"/>
              </a:solidFill>
              <a:latin typeface="Aptos"/>
              <a:ea typeface="Aptos"/>
              <a:cs typeface="Aptos"/>
            </a:endParaRPr>
          </a:p>
          <a:p xmlns:a="http://schemas.openxmlformats.org/drawingml/2006/main">
            <a:pPr marL="1296000" lvl="2" indent="-288000">
              <a:spcBef>
                <a:spcPts val="850"/>
              </a:spcBef>
              <a:buClr>
                <a:srgbClr val="000000"/>
              </a:buClr>
              <a:buSzPct val="45000"/>
              <a:buFont typeface="Wingdings"/>
              <a:buChar char=""/>
            </a:pPr>
            <a:r>
              <a:rPr sz="2000" b="0" u="none" strike="noStrike">
                <a:solidFill>
                  <a:schemeClr val="dk1"/>
                </a:solidFill>
                <a:latin typeface="Aptos"/>
                <a:ea typeface="Aptos"/>
                <a:cs typeface="Aptos"/>
              </a:rPr>
              <a:t>Third Outline Level</a:t>
            </a:r>
            <a:endParaRPr sz="2000" b="0" u="none" strike="noStrike">
              <a:solidFill>
                <a:schemeClr val="dk1"/>
              </a:solidFill>
              <a:latin typeface="Aptos"/>
              <a:ea typeface="Aptos"/>
              <a:cs typeface="Aptos"/>
            </a:endParaRPr>
          </a:p>
          <a:p xmlns:a="http://schemas.openxmlformats.org/drawingml/2006/main">
            <a:pPr marL="1728000" lvl="3" indent="-216000">
              <a:spcBef>
                <a:spcPts val="567"/>
              </a:spcBef>
              <a:buClr>
                <a:srgbClr val="000000"/>
              </a:buClr>
              <a:buSzPct val="75000"/>
              <a:buFont typeface="Symbol"/>
              <a:buChar char=""/>
            </a:pPr>
            <a:r>
              <a:rPr sz="2000" b="0" u="none" strike="noStrike">
                <a:solidFill>
                  <a:schemeClr val="dk1"/>
                </a:solidFill>
                <a:latin typeface="Aptos"/>
                <a:ea typeface="Aptos"/>
                <a:cs typeface="Aptos"/>
              </a:rPr>
              <a:t>Fourth Outline Level</a:t>
            </a:r>
            <a:endParaRPr sz="2000" b="0" u="none" strike="noStrike">
              <a:solidFill>
                <a:schemeClr val="dk1"/>
              </a:solidFill>
              <a:latin typeface="Aptos"/>
              <a:ea typeface="Aptos"/>
              <a:cs typeface="Aptos"/>
            </a:endParaRPr>
          </a:p>
          <a:p xmlns:a="http://schemas.openxmlformats.org/drawingml/2006/main">
            <a:pPr marL="2160000" lvl="4"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Fifth Outline Level</a:t>
            </a:r>
            <a:endParaRPr sz="2000" b="0" u="none" strike="noStrike">
              <a:solidFill>
                <a:schemeClr val="dk1"/>
              </a:solidFill>
              <a:latin typeface="Aptos"/>
              <a:ea typeface="Aptos"/>
              <a:cs typeface="Aptos"/>
            </a:endParaRPr>
          </a:p>
          <a:p xmlns:a="http://schemas.openxmlformats.org/drawingml/2006/main">
            <a:pPr marL="2592000" lvl="5"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Sixth Outline Level</a:t>
            </a:r>
            <a:endParaRPr sz="2000" b="0" u="none" strike="noStrike">
              <a:solidFill>
                <a:schemeClr val="dk1"/>
              </a:solidFill>
              <a:latin typeface="Aptos"/>
              <a:ea typeface="Aptos"/>
              <a:cs typeface="Aptos"/>
            </a:endParaRPr>
          </a:p>
          <a:p xmlns:a="http://schemas.openxmlformats.org/drawingml/2006/main">
            <a:pPr marL="3024000" lvl="6"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Seventh Outline Level</a:t>
            </a:r>
            <a:endParaRPr sz="2000" b="0" u="none" strike="noStrike">
              <a:solidFill>
                <a:schemeClr val="dk1"/>
              </a:solidFill>
              <a:latin typeface="Aptos"/>
              <a:ea typeface="Aptos"/>
              <a:cs typeface="Aptos"/>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0" r:id="R1baf40f02fd04626"/>
    <p:sldLayoutId xmlns:r="http://schemas.openxmlformats.org/officeDocument/2006/relationships" id="2147483651" r:id="R7512c02c7c5b401a"/>
  </p:sldLayoutIdLst>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e149bd20588430f" /><Relationship Type="http://schemas.openxmlformats.org/officeDocument/2006/relationships/notesSlide" Target="/ppt/notesSlides/notesSlide1.xml" Id="Rab5e3bd9045144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20658e9412403f" /><Relationship Type="http://schemas.openxmlformats.org/officeDocument/2006/relationships/notesSlide" Target="/ppt/notesSlides/notesSlide2.xml" Id="R5d8795fc9efe4f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3e385ae140428b" /><Relationship Type="http://schemas.openxmlformats.org/officeDocument/2006/relationships/notesSlide" Target="/ppt/notesSlides/notesSlide3.xml" Id="R2d2722e7a6384a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556a2ca2c24bd2" /><Relationship Type="http://schemas.openxmlformats.org/officeDocument/2006/relationships/notesSlide" Target="/ppt/notesSlides/notesSlide4.xml" Id="Re8d875f1b6454b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003e042cf24b1e" /><Relationship Type="http://schemas.openxmlformats.org/officeDocument/2006/relationships/notesSlide" Target="/ppt/notesSlides/notesSlide5.xml" Id="Ra0e90856bb9442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1448b3f8d74caa" /><Relationship Type="http://schemas.openxmlformats.org/officeDocument/2006/relationships/notesSlide" Target="/ppt/notesSlides/notesSlide6.xml" Id="Rda47287d81d840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628a8c0bdd4229" /><Relationship Type="http://schemas.openxmlformats.org/officeDocument/2006/relationships/notesSlide" Target="/ppt/notesSlides/notesSlide7.xml" Id="R7397a8daca7b47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eb9173175d49f3" /><Relationship Type="http://schemas.openxmlformats.org/officeDocument/2006/relationships/notesSlide" Target="/ppt/notesSlides/notesSlide8.xml" Id="Rd3a719a6b89543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32e425d6074a9a" /><Relationship Type="http://schemas.openxmlformats.org/officeDocument/2006/relationships/notesSlide" Target="/ppt/notesSlides/notesSlide9.xml" Id="R5b5b70e79c494f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4b3045ca4643f4" /><Relationship Type="http://schemas.openxmlformats.org/officeDocument/2006/relationships/notesSlide" Target="/ppt/notesSlides/notesSlide10.xml" Id="Re152b9b17b844c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4af130c73945fc" /><Relationship Type="http://schemas.openxmlformats.org/officeDocument/2006/relationships/notesSlide" Target="/ppt/notesSlides/notesSlide11.xml" Id="Ree5c6b3462b544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1a91206657746bb" /><Relationship Type="http://schemas.openxmlformats.org/officeDocument/2006/relationships/notesSlide" Target="/ppt/notesSlides/notesSlide12.xml" Id="R3098d58b92ea42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fa9a4f591742a1" /><Relationship Type="http://schemas.openxmlformats.org/officeDocument/2006/relationships/notesSlide" Target="/ppt/notesSlides/notesSlide13.xml" Id="R43b92b5b1f554a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71fd5688654fd1" /><Relationship Type="http://schemas.openxmlformats.org/officeDocument/2006/relationships/notesSlide" Target="/ppt/notesSlides/notesSlide14.xml" Id="Rcff6189fc53241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c82359392d46ed" /><Relationship Type="http://schemas.openxmlformats.org/officeDocument/2006/relationships/notesSlide" Target="/ppt/notesSlides/notesSlide15.xml" Id="Ra1d5ed87930340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e4597294244ad7" /><Relationship Type="http://schemas.openxmlformats.org/officeDocument/2006/relationships/hyperlink" Target="https://scikit-learn.org/stable/modules/generated/sklearn.model_selection.TimeSeriesSplit.html" TargetMode="External" Id="R4a800571153c4bd9" /><Relationship Type="http://schemas.openxmlformats.org/officeDocument/2006/relationships/hyperlink" Target="https://scikit-learn.org/stable/common_pitfalls.html" TargetMode="External" Id="Rea9057b76d1646ba" /><Relationship Type="http://schemas.openxmlformats.org/officeDocument/2006/relationships/hyperlink" Target="https://mf-journal.com/article/view/370" TargetMode="External" Id="R57ca56926af24bdc" /><Relationship Type="http://schemas.openxmlformats.org/officeDocument/2006/relationships/hyperlink" Target="https://arxiv.org/abs/1908.02591" TargetMode="External" Id="R3387ad8398a84985" /><Relationship Type="http://schemas.openxmlformats.org/officeDocument/2006/relationships/hyperlink" Target="https://arxiv.org/abs/1705.07874" TargetMode="External" Id="R42b8d1d741414951" /><Relationship Type="http://schemas.openxmlformats.org/officeDocument/2006/relationships/notesSlide" Target="/ppt/notesSlides/notesSlide16.xml" Id="R942ccb2c9b744c5f"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6" name="author">
            <a:extLst xmlns:a="http://schemas.openxmlformats.org/drawingml/2006/main">
              <a:ext uri="{FF2B5EF4-FFF2-40B4-BE49-F238E27FC236}">
                <a16:creationId xmlns:a16="http://schemas.microsoft.com/office/drawing/2014/main" id="{981FC52C-F432-4C28-ACCC-53ED5F63BB3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Material elaborado por el profesor Sergio Gevatschnaider.</a:t>
            </a:r>
          </a:p>
        </p:txBody>
      </p:sp>
      <p:sp>
        <p:nvSpPr>
          <p:cNvPr id="2" name="page">
            <a:extLst xmlns:a="http://schemas.openxmlformats.org/drawingml/2006/main">
              <a:ext uri="{FF2B5EF4-FFF2-40B4-BE49-F238E27FC236}">
                <a16:creationId xmlns:a16="http://schemas.microsoft.com/office/drawing/2014/main" id="{095A421A-D039-45F7-B24A-5F6C64C8F71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01 / 16</a:t>
            </a:r>
          </a:p>
        </p:txBody>
      </p:sp>
      <p:sp>
        <p:nvSpPr>
          <p:cNvPr id="3" name="cover-unit">
            <a:extLst xmlns:a="http://schemas.openxmlformats.org/drawingml/2006/main">
              <a:ext uri="{FF2B5EF4-FFF2-40B4-BE49-F238E27FC236}">
                <a16:creationId xmlns:a16="http://schemas.microsoft.com/office/drawing/2014/main" id="{C12BDFDA-754C-483C-BD95-F025E238AEE4}"/>
              </a:ext>
            </a:extLst>
          </p:cNvPr>
          <p:cNvSpPr>
            <a:spLocks xmlns:a="http://schemas.openxmlformats.org/drawingml/2006/main" noGrp="1"/>
          </p:cNvSpPr>
          <p:nvPr/>
        </p:nvSpPr>
        <p:spPr>
          <a:xfrm xmlns:a="http://schemas.openxmlformats.org/drawingml/2006/main">
            <a:off x="609600" y="10096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369A1"/>
                </a:solidFill>
                <a:latin typeface="DejaVu Sans"/>
                <a:ea typeface="DejaVu Sans"/>
                <a:cs typeface="DejaVu Sans"/>
              </a:defRPr>
            </a:pPr>
            <a:r>
              <a:rPr sz="1875" b="1">
                <a:solidFill>
                  <a:srgbClr val="0369A1"/>
                </a:solidFill>
                <a:latin typeface="DejaVu Sans"/>
                <a:ea typeface="DejaVu Sans"/>
                <a:cs typeface="DejaVu Sans"/>
              </a:rPr>
              <a:t>UNIDAD 8</a:t>
            </a:r>
          </a:p>
        </p:txBody>
      </p:sp>
      <p:sp>
        <p:nvSpPr>
          <p:cNvPr id="4" name="cover-title">
            <a:extLst xmlns:a="http://schemas.openxmlformats.org/drawingml/2006/main">
              <a:ext uri="{FF2B5EF4-FFF2-40B4-BE49-F238E27FC236}">
                <a16:creationId xmlns:a16="http://schemas.microsoft.com/office/drawing/2014/main" id="{74AB0ECF-5302-4A08-91D4-E80B71CF47F8}"/>
              </a:ext>
            </a:extLst>
          </p:cNvPr>
          <p:cNvSpPr>
            <a:spLocks xmlns:a="http://schemas.openxmlformats.org/drawingml/2006/main" noGrp="1"/>
          </p:cNvSpPr>
          <p:nvPr/>
        </p:nvSpPr>
        <p:spPr>
          <a:xfrm xmlns:a="http://schemas.openxmlformats.org/drawingml/2006/main">
            <a:off x="609600" y="2143125"/>
            <a:ext cx="10934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Metodología de ML en blockchain</a:t>
            </a:r>
          </a:p>
        </p:txBody>
      </p:sp>
      <p:sp>
        <p:nvSpPr>
          <p:cNvPr id="5" name="cover-subtitle">
            <a:extLst xmlns:a="http://schemas.openxmlformats.org/drawingml/2006/main">
              <a:ext uri="{FF2B5EF4-FFF2-40B4-BE49-F238E27FC236}">
                <a16:creationId xmlns:a16="http://schemas.microsoft.com/office/drawing/2014/main" id="{9A9626A0-2964-447D-B1E2-6757A31002FB}"/>
              </a:ext>
            </a:extLst>
          </p:cNvPr>
          <p:cNvSpPr>
            <a:spLocks xmlns:a="http://schemas.openxmlformats.org/drawingml/2006/main" noGrp="1"/>
          </p:cNvSpPr>
          <p:nvPr/>
        </p:nvSpPr>
        <p:spPr>
          <a:xfrm xmlns:a="http://schemas.openxmlformats.org/drawingml/2006/main">
            <a:off x="609600" y="42481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CBD5E1"/>
                </a:solidFill>
                <a:latin typeface="DejaVu Sans"/>
                <a:ea typeface="DejaVu Sans"/>
                <a:cs typeface="DejaVu Sans"/>
              </a:defRPr>
            </a:pPr>
            <a:r>
              <a:rPr sz="2175" b="0">
                <a:solidFill>
                  <a:srgbClr val="CBD5E1"/>
                </a:solidFill>
                <a:latin typeface="DejaVu Sans"/>
                <a:ea typeface="DejaVu Sans"/>
                <a:cs typeface="DejaVu Sans"/>
              </a:rPr>
              <a:t>Datos de Bitcoin y Ethereum, validación temporal y evidencia reproducible</a:t>
            </a:r>
          </a:p>
        </p:txBody>
      </p:sp>
    </p:spTree>
    <p:extLst>
      <p:ext uri="{BB962C8B-B14F-4D97-AF65-F5344CB8AC3E}">
        <p14:creationId xmlns:p14="http://schemas.microsoft.com/office/powerpoint/2010/main" val="631943022"/>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6E68895C-D4F4-442D-AE4F-968E1FFE6416}"/>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30249580-32C6-4105-8FEC-CBE80BBCAFA5}"/>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Mercado, actividad y estructura</a:t>
            </a:r>
          </a:p>
        </p:txBody>
      </p:sp>
      <p:sp>
        <p:nvSpPr>
          <p:cNvPr id="3" name="author">
            <a:extLst xmlns:a="http://schemas.openxmlformats.org/drawingml/2006/main">
              <a:ext uri="{FF2B5EF4-FFF2-40B4-BE49-F238E27FC236}">
                <a16:creationId xmlns:a16="http://schemas.microsoft.com/office/drawing/2014/main" id="{F477B270-FEC7-4981-B474-60CC8C1FE865}"/>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6508B189-5E38-4D55-87C9-E43EB3B5D8D5}"/>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02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1052513">
                <a:tc>
                  <a:txBody>
                    <a:bodyPr>
                      <a:noAutofit/>
                    </a:bodyPr>
                    <a:lstStyle/>
                    <a:p>
                      <a:r>
                        <a:rPr sz="1575" b="1">
                          <a:solidFill>
                            <a:srgbClr val="FFFFFF"/>
                          </a:solidFill>
                          <a:latin typeface="DejaVu Sans"/>
                          <a:ea typeface="DejaVu Sans"/>
                          <a:cs typeface="DejaVu Sans"/>
                        </a:rPr>
                        <a:t>Dimensión</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Observación</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Pregunta de análisis</a:t>
                      </a:r>
                    </a:p>
                  </a:txBody>
                  <a:tcPr marL="114300" marR="114300" marT="76200" marB="76200" anchor="ctr">
                    <a:solidFill>
                      <a:srgbClr val="0B1020"/>
                    </a:solidFill>
                  </a:tcPr>
                </a:tc>
              </a:tr>
              <a:tr h="1052513">
                <a:tc>
                  <a:txBody>
                    <a:bodyPr>
                      <a:noAutofit/>
                    </a:bodyPr>
                    <a:lstStyle/>
                    <a:p>
                      <a:r>
                        <a:rPr sz="1688" b="1">
                          <a:solidFill>
                            <a:srgbClr val="172033"/>
                          </a:solidFill>
                          <a:latin typeface="DejaVu Sans"/>
                          <a:ea typeface="DejaVu Sans"/>
                          <a:cs typeface="DejaVu Sans"/>
                        </a:rPr>
                        <a:t>Mercado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Precios, retornos, volumen y liquidez</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¿Qué información mejora una estimación futura?</a:t>
                      </a:r>
                    </a:p>
                  </a:txBody>
                  <a:tcPr marL="114300" marR="114300" marT="76200" marB="76200" anchor="ctr">
                    <a:solidFill>
                      <a:srgbClr val="FFFFFF"/>
                    </a:solidFill>
                  </a:tcPr>
                </a:tc>
              </a:tr>
              <a:tr h="1052513">
                <a:tc>
                  <a:txBody>
                    <a:bodyPr>
                      <a:noAutofit/>
                    </a:bodyPr>
                    <a:lstStyle/>
                    <a:p>
                      <a:r>
                        <a:rPr sz="1688" b="1">
                          <a:solidFill>
                            <a:srgbClr val="172033"/>
                          </a:solidFill>
                          <a:latin typeface="DejaVu Sans"/>
                          <a:ea typeface="DejaVu Sans"/>
                          <a:cs typeface="DejaVu Sans"/>
                        </a:rPr>
                        <a:t>Actividad on-chain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Transacciones, fees, gas y uso de contratos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¿Cómo cambia la utilización de la red?</a:t>
                      </a:r>
                    </a:p>
                  </a:txBody>
                  <a:tcPr marL="114300" marR="114300" marT="76200" marB="76200" anchor="ctr">
                    <a:solidFill>
                      <a:srgbClr val="EEF2F7"/>
                    </a:solidFill>
                  </a:tcPr>
                </a:tc>
              </a:tr>
              <a:tr h="1052513">
                <a:tc>
                  <a:txBody>
                    <a:bodyPr>
                      <a:noAutofit/>
                    </a:bodyPr>
                    <a:lstStyle/>
                    <a:p>
                      <a:r>
                        <a:rPr sz="1688" b="1">
                          <a:solidFill>
                            <a:srgbClr val="172033"/>
                          </a:solidFill>
                          <a:latin typeface="DejaVu Sans"/>
                          <a:ea typeface="DejaVu Sans"/>
                          <a:cs typeface="DejaVu Sans"/>
                        </a:rPr>
                        <a:t>Estructura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Conexiones entre transacciones o cuentas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¿Qué aporta el vecindario de un nodo?</a:t>
                      </a:r>
                    </a:p>
                  </a:txBody>
                  <a:tcPr marL="114300" marR="114300" marT="76200" marB="76200" anchor="ctr">
                    <a:solidFill>
                      <a:srgbClr val="FFFFFF"/>
                    </a:solidFill>
                  </a:tcPr>
                </a:tc>
              </a:tr>
            </a:tbl>
          </a:graphicData>
        </a:graphic>
      </p:graphicFrame>
    </p:spTree>
    <p:extLst>
      <p:ext uri="{BB962C8B-B14F-4D97-AF65-F5344CB8AC3E}">
        <p14:creationId xmlns:p14="http://schemas.microsoft.com/office/powerpoint/2010/main" val="847180634"/>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24A214A6-D70D-4F0D-8A72-44171631818D}"/>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7A70CE65-2077-4430-BC15-A5E6FA7EEC39}"/>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Formulación del experimento</a:t>
            </a:r>
          </a:p>
        </p:txBody>
      </p:sp>
      <p:sp>
        <p:nvSpPr>
          <p:cNvPr id="3" name="author">
            <a:extLst xmlns:a="http://schemas.openxmlformats.org/drawingml/2006/main">
              <a:ext uri="{FF2B5EF4-FFF2-40B4-BE49-F238E27FC236}">
                <a16:creationId xmlns:a16="http://schemas.microsoft.com/office/drawing/2014/main" id="{303E3FC7-245F-4279-8594-64C78C186D7A}"/>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6B4792FC-15B8-4730-9511-483B44CE63F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03 / 16</a:t>
            </a:r>
          </a:p>
        </p:txBody>
      </p:sp>
      <p:sp>
        <p:nvSpPr>
          <p:cNvPr id="5" name="label-0">
            <a:extLst xmlns:a="http://schemas.openxmlformats.org/drawingml/2006/main">
              <a:ext uri="{FF2B5EF4-FFF2-40B4-BE49-F238E27FC236}">
                <a16:creationId xmlns:a16="http://schemas.microsoft.com/office/drawing/2014/main" id="{466D0A62-7FF5-4555-9EC3-9752090FB74F}"/>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Unidad de observación</a:t>
            </a:r>
          </a:p>
        </p:txBody>
      </p:sp>
      <p:sp>
        <p:nvSpPr>
          <p:cNvPr id="6" name="body-0">
            <a:extLst xmlns:a="http://schemas.openxmlformats.org/drawingml/2006/main">
              <a:ext uri="{FF2B5EF4-FFF2-40B4-BE49-F238E27FC236}">
                <a16:creationId xmlns:a16="http://schemas.microsoft.com/office/drawing/2014/main" id="{A151F566-1937-4337-92AC-0F0FBA32253E}"/>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Definir si cada fila es un día, una transacción, una dirección o un snapshot de grafo.</a:t>
            </a:r>
          </a:p>
        </p:txBody>
      </p:sp>
      <p:sp>
        <p:nvSpPr>
          <p:cNvPr id="7" name="label-1">
            <a:extLst xmlns:a="http://schemas.openxmlformats.org/drawingml/2006/main">
              <a:ext uri="{FF2B5EF4-FFF2-40B4-BE49-F238E27FC236}">
                <a16:creationId xmlns:a16="http://schemas.microsoft.com/office/drawing/2014/main" id="{76DC37F3-86EE-456F-A55E-64C7525E7A7D}"/>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Momento de decisión</a:t>
            </a:r>
          </a:p>
        </p:txBody>
      </p:sp>
      <p:sp>
        <p:nvSpPr>
          <p:cNvPr id="8" name="body-1">
            <a:extLst xmlns:a="http://schemas.openxmlformats.org/drawingml/2006/main">
              <a:ext uri="{FF2B5EF4-FFF2-40B4-BE49-F238E27FC236}">
                <a16:creationId xmlns:a16="http://schemas.microsoft.com/office/drawing/2014/main" id="{B15C8464-E9B6-40B1-B01F-CD1CC2F4420D}"/>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Fijar qué información está disponible cuando se calcula la predicción.</a:t>
            </a:r>
          </a:p>
        </p:txBody>
      </p:sp>
      <p:sp>
        <p:nvSpPr>
          <p:cNvPr id="9" name="label-2">
            <a:extLst xmlns:a="http://schemas.openxmlformats.org/drawingml/2006/main">
              <a:ext uri="{FF2B5EF4-FFF2-40B4-BE49-F238E27FC236}">
                <a16:creationId xmlns:a16="http://schemas.microsoft.com/office/drawing/2014/main" id="{B0EACD3D-F2C7-4C30-9ABE-0452AC3BDA46}"/>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Comparación</a:t>
            </a:r>
          </a:p>
        </p:txBody>
      </p:sp>
      <p:sp>
        <p:nvSpPr>
          <p:cNvPr id="10" name="body-2">
            <a:extLst xmlns:a="http://schemas.openxmlformats.org/drawingml/2006/main">
              <a:ext uri="{FF2B5EF4-FFF2-40B4-BE49-F238E27FC236}">
                <a16:creationId xmlns:a16="http://schemas.microsoft.com/office/drawing/2014/main" id="{C74DA868-D956-4F45-817F-AB1F0DBB902F}"/>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Precisar objetivo, horizonte, baseline y métrica antes de seleccionar una arquitectura.</a:t>
            </a:r>
          </a:p>
        </p:txBody>
      </p:sp>
    </p:spTree>
    <p:extLst>
      <p:ext uri="{BB962C8B-B14F-4D97-AF65-F5344CB8AC3E}">
        <p14:creationId xmlns:p14="http://schemas.microsoft.com/office/powerpoint/2010/main" val="1244311483"/>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55192B75-DC6F-4630-82D0-F155607F88CE}"/>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22A5827C-0257-4571-A16A-DD0B3CF750D4}"/>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Variables objetivo</a:t>
            </a:r>
          </a:p>
        </p:txBody>
      </p:sp>
      <p:sp>
        <p:nvSpPr>
          <p:cNvPr id="3" name="author">
            <a:extLst xmlns:a="http://schemas.openxmlformats.org/drawingml/2006/main">
              <a:ext uri="{FF2B5EF4-FFF2-40B4-BE49-F238E27FC236}">
                <a16:creationId xmlns:a16="http://schemas.microsoft.com/office/drawing/2014/main" id="{C76AB648-5B60-4604-8DE9-98EADE9A5506}"/>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52E16FA6-5A3F-4F51-94FD-9083F780EE7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04 / 16</a:t>
            </a:r>
          </a:p>
        </p:txBody>
      </p:sp>
      <p:sp>
        <p:nvSpPr>
          <p:cNvPr id="5" name="equation-0">
            <a:extLst xmlns:a="http://schemas.openxmlformats.org/drawingml/2006/main">
              <a:ext uri="{FF2B5EF4-FFF2-40B4-BE49-F238E27FC236}">
                <a16:creationId xmlns:a16="http://schemas.microsoft.com/office/drawing/2014/main" id="{4F2F287A-D852-4CCD-9CB6-845FC2EA8E09}"/>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rₜ = ln(Pₜ / Pₜ₋₁)</a:t>
            </a:r>
          </a:p>
        </p:txBody>
      </p:sp>
      <p:sp>
        <p:nvSpPr>
          <p:cNvPr id="6" name="equation-1">
            <a:extLst xmlns:a="http://schemas.openxmlformats.org/drawingml/2006/main">
              <a:ext uri="{FF2B5EF4-FFF2-40B4-BE49-F238E27FC236}">
                <a16:creationId xmlns:a16="http://schemas.microsoft.com/office/drawing/2014/main" id="{1E57D333-2661-4F91-BBE3-73D0929C4E4E}"/>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dₜ₊₁ = 1[rₜ₊₁ &gt; 0]</a:t>
            </a:r>
          </a:p>
        </p:txBody>
      </p:sp>
      <p:sp>
        <p:nvSpPr>
          <p:cNvPr id="7" name="label-0">
            <a:extLst xmlns:a="http://schemas.openxmlformats.org/drawingml/2006/main">
              <a:ext uri="{FF2B5EF4-FFF2-40B4-BE49-F238E27FC236}">
                <a16:creationId xmlns:a16="http://schemas.microsoft.com/office/drawing/2014/main" id="{ED84D5EB-B703-4CA9-AADE-1A86FD0BF1FC}"/>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Regresión y clasificación</a:t>
            </a:r>
          </a:p>
        </p:txBody>
      </p:sp>
      <p:sp>
        <p:nvSpPr>
          <p:cNvPr id="8" name="body-0">
            <a:extLst xmlns:a="http://schemas.openxmlformats.org/drawingml/2006/main">
              <a:ext uri="{FF2B5EF4-FFF2-40B4-BE49-F238E27FC236}">
                <a16:creationId xmlns:a16="http://schemas.microsoft.com/office/drawing/2014/main" id="{30BF4825-2083-4ED4-9FD5-D54F8D098960}"/>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El retorno es un valor continuo. La dirección necesita definir qué ocurre con los retornos iguales a cero o cercanos a cero.</a:t>
            </a:r>
          </a:p>
        </p:txBody>
      </p:sp>
      <p:sp>
        <p:nvSpPr>
          <p:cNvPr id="9" name="label-1">
            <a:extLst xmlns:a="http://schemas.openxmlformats.org/drawingml/2006/main">
              <a:ext uri="{FF2B5EF4-FFF2-40B4-BE49-F238E27FC236}">
                <a16:creationId xmlns:a16="http://schemas.microsoft.com/office/drawing/2014/main" id="{E9A9EBE7-925B-4011-B32B-50256DF5A0D2}"/>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Volatilidad y régimen</a:t>
            </a:r>
          </a:p>
        </p:txBody>
      </p:sp>
      <p:sp>
        <p:nvSpPr>
          <p:cNvPr id="10" name="body-1">
            <a:extLst xmlns:a="http://schemas.openxmlformats.org/drawingml/2006/main">
              <a:ext uri="{FF2B5EF4-FFF2-40B4-BE49-F238E27FC236}">
                <a16:creationId xmlns:a16="http://schemas.microsoft.com/office/drawing/2014/main" id="{13DB9F3D-2033-4032-9AF2-5DC0DF6C1968}"/>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El riesgo y el estado del mercado requieren definiciones operativas diferentes del precio.</a:t>
            </a:r>
          </a:p>
        </p:txBody>
      </p:sp>
    </p:spTree>
    <p:extLst>
      <p:ext uri="{BB962C8B-B14F-4D97-AF65-F5344CB8AC3E}">
        <p14:creationId xmlns:p14="http://schemas.microsoft.com/office/powerpoint/2010/main" val="1179999099"/>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54857C70-A050-45BB-B145-0368EEF4BB59}"/>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408293D0-F3AA-49A2-9CDB-ECB7F2CFA5F8}"/>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Un objetivo de varianza realizada</a:t>
            </a:r>
          </a:p>
        </p:txBody>
      </p:sp>
      <p:sp>
        <p:nvSpPr>
          <p:cNvPr id="3" name="author">
            <a:extLst xmlns:a="http://schemas.openxmlformats.org/drawingml/2006/main">
              <a:ext uri="{FF2B5EF4-FFF2-40B4-BE49-F238E27FC236}">
                <a16:creationId xmlns:a16="http://schemas.microsoft.com/office/drawing/2014/main" id="{2945CED7-059E-4748-BFCD-71E59EA37126}"/>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374BB097-5B9B-4CE0-BB16-899C8A0AF7C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05 / 16</a:t>
            </a:r>
          </a:p>
        </p:txBody>
      </p:sp>
      <p:sp>
        <p:nvSpPr>
          <p:cNvPr id="5" name="equation-0">
            <a:extLst xmlns:a="http://schemas.openxmlformats.org/drawingml/2006/main">
              <a:ext uri="{FF2B5EF4-FFF2-40B4-BE49-F238E27FC236}">
                <a16:creationId xmlns:a16="http://schemas.microsoft.com/office/drawing/2014/main" id="{711BBDCF-6AA0-421D-8E08-D8E6C8BB989F}"/>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vₜ,H = (1/H) Σⱼ₌₁ᴴ r²ₜ₊ⱼ</a:t>
            </a:r>
          </a:p>
        </p:txBody>
      </p:sp>
      <p:sp>
        <p:nvSpPr>
          <p:cNvPr id="6" name="equation-1">
            <a:extLst xmlns:a="http://schemas.openxmlformats.org/drawingml/2006/main">
              <a:ext uri="{FF2B5EF4-FFF2-40B4-BE49-F238E27FC236}">
                <a16:creationId xmlns:a16="http://schemas.microsoft.com/office/drawing/2014/main" id="{F7A90D7F-6745-4A4A-9FA1-DB8A249428DE}"/>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σₜ,H = √vₜ,H</a:t>
            </a:r>
          </a:p>
        </p:txBody>
      </p:sp>
      <p:sp>
        <p:nvSpPr>
          <p:cNvPr id="7" name="label-0">
            <a:extLst xmlns:a="http://schemas.openxmlformats.org/drawingml/2006/main">
              <a:ext uri="{FF2B5EF4-FFF2-40B4-BE49-F238E27FC236}">
                <a16:creationId xmlns:a16="http://schemas.microsoft.com/office/drawing/2014/main" id="{57E64EB9-DA8A-457F-BFDD-63D8AE07D13D}"/>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Definición del ejemplo</a:t>
            </a:r>
          </a:p>
        </p:txBody>
      </p:sp>
      <p:sp>
        <p:nvSpPr>
          <p:cNvPr id="8" name="body-0">
            <a:extLst xmlns:a="http://schemas.openxmlformats.org/drawingml/2006/main">
              <a:ext uri="{FF2B5EF4-FFF2-40B4-BE49-F238E27FC236}">
                <a16:creationId xmlns:a16="http://schemas.microsoft.com/office/drawing/2014/main" id="{CDFD3B0E-D495-4823-95DF-048D3AFFD825}"/>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Varianza realizada media sobre los próximos H retornos, usando una aproximación de media cero.</a:t>
            </a:r>
          </a:p>
        </p:txBody>
      </p:sp>
      <p:sp>
        <p:nvSpPr>
          <p:cNvPr id="9" name="label-1">
            <a:extLst xmlns:a="http://schemas.openxmlformats.org/drawingml/2006/main">
              <a:ext uri="{FF2B5EF4-FFF2-40B4-BE49-F238E27FC236}">
                <a16:creationId xmlns:a16="http://schemas.microsoft.com/office/drawing/2014/main" id="{7BB31B14-C50E-41FA-89DD-049D19158515}"/>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Disponibilidad de la etiqueta</a:t>
            </a:r>
          </a:p>
        </p:txBody>
      </p:sp>
      <p:sp>
        <p:nvSpPr>
          <p:cNvPr id="10" name="body-1">
            <a:extLst xmlns:a="http://schemas.openxmlformats.org/drawingml/2006/main">
              <a:ext uri="{FF2B5EF4-FFF2-40B4-BE49-F238E27FC236}">
                <a16:creationId xmlns:a16="http://schemas.microsoft.com/office/drawing/2014/main" id="{D6EBFDFD-D52C-48A1-A54D-BF48706670B3}"/>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El objetivo asociado al instante t se conoce recién al completar el horizonte H.</a:t>
            </a:r>
          </a:p>
        </p:txBody>
      </p:sp>
    </p:spTree>
    <p:extLst>
      <p:ext uri="{BB962C8B-B14F-4D97-AF65-F5344CB8AC3E}">
        <p14:creationId xmlns:p14="http://schemas.microsoft.com/office/powerpoint/2010/main" val="462471215"/>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37736269-AB00-412F-8DD5-6820EA7C39A0}"/>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FF73CE82-2B47-4729-B84E-5DFCCFDC9B3D}"/>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Variables de Bitcoin y Ethereum</a:t>
            </a:r>
          </a:p>
        </p:txBody>
      </p:sp>
      <p:sp>
        <p:nvSpPr>
          <p:cNvPr id="3" name="author">
            <a:extLst xmlns:a="http://schemas.openxmlformats.org/drawingml/2006/main">
              <a:ext uri="{FF2B5EF4-FFF2-40B4-BE49-F238E27FC236}">
                <a16:creationId xmlns:a16="http://schemas.microsoft.com/office/drawing/2014/main" id="{46D1723D-958B-4DC5-8FB8-63501D5F2756}"/>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367E53E6-F667-4710-BECE-D043D966451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06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Familia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Bitcoin</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Ethereum</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Mercado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OHLCV, spread y liquidez</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OHLCV, liquidez CEX y DEX</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Red</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Fees, UTXO, dificultad y hash rate estimado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Gas, base fee, burn y staking</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Actividad</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Transacciones y direcciones activas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Transferencias, contratos y actividad de L2</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Medición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Dirección, UTXO y entidad son unidades distintas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Cuenta, contrato, evento y llamada son unidades distintas</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235216680"/>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48AAA0FB-7100-4BE9-A694-140605276AB9}"/>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4E3DF1D5-8463-4547-802F-1155C4DE8186}"/>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Calidad y disponibilidad del dato</a:t>
            </a:r>
          </a:p>
        </p:txBody>
      </p:sp>
      <p:sp>
        <p:nvSpPr>
          <p:cNvPr id="3" name="author">
            <a:extLst xmlns:a="http://schemas.openxmlformats.org/drawingml/2006/main">
              <a:ext uri="{FF2B5EF4-FFF2-40B4-BE49-F238E27FC236}">
                <a16:creationId xmlns:a16="http://schemas.microsoft.com/office/drawing/2014/main" id="{D66488D6-AA46-48A6-AC51-76E13E87A355}"/>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E8280546-9F1B-4B9F-8172-9748EB3E2A26}"/>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07 / 16</a:t>
            </a:r>
          </a:p>
        </p:txBody>
      </p:sp>
      <p:sp>
        <p:nvSpPr>
          <p:cNvPr id="5" name="label-0">
            <a:extLst xmlns:a="http://schemas.openxmlformats.org/drawingml/2006/main">
              <a:ext uri="{FF2B5EF4-FFF2-40B4-BE49-F238E27FC236}">
                <a16:creationId xmlns:a16="http://schemas.microsoft.com/office/drawing/2014/main" id="{E367957B-902F-4759-923F-1364CB0D4A89}"/>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Tiempo de evento y de publicación</a:t>
            </a:r>
          </a:p>
        </p:txBody>
      </p:sp>
      <p:sp>
        <p:nvSpPr>
          <p:cNvPr id="6" name="body-0">
            <a:extLst xmlns:a="http://schemas.openxmlformats.org/drawingml/2006/main">
              <a:ext uri="{FF2B5EF4-FFF2-40B4-BE49-F238E27FC236}">
                <a16:creationId xmlns:a16="http://schemas.microsoft.com/office/drawing/2014/main" id="{F8A1211E-719B-4D3E-BC61-8D6F53438CDB}"/>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Guardar cuándo ocurrió un evento y cuándo la fuente permitió observarlo. Las revisiones posteriores requieren seguimiento.</a:t>
            </a:r>
          </a:p>
        </p:txBody>
      </p:sp>
      <p:sp>
        <p:nvSpPr>
          <p:cNvPr id="7" name="label-1">
            <a:extLst xmlns:a="http://schemas.openxmlformats.org/drawingml/2006/main">
              <a:ext uri="{FF2B5EF4-FFF2-40B4-BE49-F238E27FC236}">
                <a16:creationId xmlns:a16="http://schemas.microsoft.com/office/drawing/2014/main" id="{ADE83D2B-6346-47A7-BF62-06E50973DC38}"/>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Cobertura y consistencia</a:t>
            </a:r>
          </a:p>
        </p:txBody>
      </p:sp>
      <p:sp>
        <p:nvSpPr>
          <p:cNvPr id="8" name="body-1">
            <a:extLst xmlns:a="http://schemas.openxmlformats.org/drawingml/2006/main">
              <a:ext uri="{FF2B5EF4-FFF2-40B4-BE49-F238E27FC236}">
                <a16:creationId xmlns:a16="http://schemas.microsoft.com/office/drawing/2014/main" id="{B6519633-ABEB-45C1-9643-26475B562591}"/>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Documentar mercado, moneda de cotización, zona horaria, frecuencia, faltantes y duplicados.</a:t>
            </a:r>
          </a:p>
        </p:txBody>
      </p:sp>
      <p:sp>
        <p:nvSpPr>
          <p:cNvPr id="9" name="label-2">
            <a:extLst xmlns:a="http://schemas.openxmlformats.org/drawingml/2006/main">
              <a:ext uri="{FF2B5EF4-FFF2-40B4-BE49-F238E27FC236}">
                <a16:creationId xmlns:a16="http://schemas.microsoft.com/office/drawing/2014/main" id="{318E444F-D453-46E9-8D1F-EF9D1AADE300}"/>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Agregaciones causales</a:t>
            </a:r>
          </a:p>
        </p:txBody>
      </p:sp>
      <p:sp>
        <p:nvSpPr>
          <p:cNvPr id="10" name="body-2">
            <a:extLst xmlns:a="http://schemas.openxmlformats.org/drawingml/2006/main">
              <a:ext uri="{FF2B5EF4-FFF2-40B4-BE49-F238E27FC236}">
                <a16:creationId xmlns:a16="http://schemas.microsoft.com/office/drawing/2014/main" id="{C46145D8-DBEE-484D-B45B-4D70EA342513}"/>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Calcular ventanas hasta el instante de decisión. Registrar retrasos, confirmaciones y criterios de cierre.</a:t>
            </a:r>
          </a:p>
        </p:txBody>
      </p:sp>
    </p:spTree>
    <p:extLst>
      <p:ext uri="{BB962C8B-B14F-4D97-AF65-F5344CB8AC3E}">
        <p14:creationId xmlns:p14="http://schemas.microsoft.com/office/powerpoint/2010/main" val="887814093"/>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6E1F1D7C-9106-4F85-BA6B-5BD339DB81F4}"/>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954F3A58-AE05-45E3-A901-9B7B6711E0CA}"/>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Pipeline del experimento</a:t>
            </a:r>
          </a:p>
        </p:txBody>
      </p:sp>
      <p:sp>
        <p:nvSpPr>
          <p:cNvPr id="3" name="author">
            <a:extLst xmlns:a="http://schemas.openxmlformats.org/drawingml/2006/main">
              <a:ext uri="{FF2B5EF4-FFF2-40B4-BE49-F238E27FC236}">
                <a16:creationId xmlns:a16="http://schemas.microsoft.com/office/drawing/2014/main" id="{B7FA2497-9AC2-40D4-ABF6-47C49E05D7D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B326B155-57A8-47A1-B901-09D794A10491}"/>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08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701675">
                <a:tc>
                  <a:txBody>
                    <a:bodyPr>
                      <a:noAutofit/>
                    </a:bodyPr>
                    <a:lstStyle/>
                    <a:p>
                      <a:r>
                        <a:rPr sz="1575" b="1">
                          <a:solidFill>
                            <a:srgbClr val="FFFFFF"/>
                          </a:solidFill>
                          <a:latin typeface="DejaVu Sans"/>
                          <a:ea typeface="DejaVu Sans"/>
                          <a:cs typeface="DejaVu Sans"/>
                        </a:rPr>
                        <a:t>Etapa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Producto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Control</a:t>
                      </a:r>
                    </a:p>
                  </a:txBody>
                  <a:tcPr marL="114300" marR="114300" marT="76200" marB="76200" anchor="ctr">
                    <a:solidFill>
                      <a:srgbClr val="0B1020"/>
                    </a:solidFill>
                  </a:tcPr>
                </a:tc>
              </a:tr>
              <a:tr h="701675">
                <a:tc>
                  <a:txBody>
                    <a:bodyPr>
                      <a:noAutofit/>
                    </a:bodyPr>
                    <a:lstStyle/>
                    <a:p>
                      <a:r>
                        <a:rPr sz="1688" b="1">
                          <a:solidFill>
                            <a:srgbClr val="172033"/>
                          </a:solidFill>
                          <a:latin typeface="DejaVu Sans"/>
                          <a:ea typeface="DejaVu Sans"/>
                          <a:cs typeface="DejaVu Sans"/>
                        </a:rPr>
                        <a:t>Ingesta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Datos originales y metadatos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Fuente, fecha, esquema y hash</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Preparación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Características y objetivos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Disponibilidad, faltantes y unidades</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Validación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Folds temporales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Horizonte y maduración de etiquetas</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Modelado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Predicciones fuera de muestra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Mismos datos y presupuesto comparable</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Resultados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Métricas y errores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Trazabilidad hasta cada observación</a:t>
                      </a:r>
                    </a:p>
                  </a:txBody>
                  <a:tcPr marL="114300" marR="114300" marT="76200" marB="76200" anchor="ctr">
                    <a:solidFill>
                      <a:srgbClr val="FFFFFF"/>
                    </a:solidFill>
                  </a:tcPr>
                </a:tc>
              </a:tr>
            </a:tbl>
          </a:graphicData>
        </a:graphic>
      </p:graphicFrame>
    </p:spTree>
    <p:extLst>
      <p:ext uri="{BB962C8B-B14F-4D97-AF65-F5344CB8AC3E}">
        <p14:creationId xmlns:p14="http://schemas.microsoft.com/office/powerpoint/2010/main" val="1383293277"/>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903586CD-77D1-4055-A180-E4DCFAF89F8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8E6344E0-8605-426B-8E22-2FC6FF8B893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Baselines según la tarea</a:t>
            </a:r>
          </a:p>
        </p:txBody>
      </p:sp>
      <p:sp>
        <p:nvSpPr>
          <p:cNvPr id="3" name="author">
            <a:extLst xmlns:a="http://schemas.openxmlformats.org/drawingml/2006/main">
              <a:ext uri="{FF2B5EF4-FFF2-40B4-BE49-F238E27FC236}">
                <a16:creationId xmlns:a16="http://schemas.microsoft.com/office/drawing/2014/main" id="{AC6D2D24-2CC3-4033-AC3E-8F346A62061B}"/>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8BDF4962-B8A7-496B-948D-2DFA1A718D7D}"/>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09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701675">
                <a:tc>
                  <a:txBody>
                    <a:bodyPr>
                      <a:noAutofit/>
                    </a:bodyPr>
                    <a:lstStyle/>
                    <a:p>
                      <a:r>
                        <a:rPr sz="1575" b="1">
                          <a:solidFill>
                            <a:srgbClr val="FFFFFF"/>
                          </a:solidFill>
                          <a:latin typeface="DejaVu Sans"/>
                          <a:ea typeface="DejaVu Sans"/>
                          <a:cs typeface="DejaVu Sans"/>
                        </a:rPr>
                        <a:t>Modelo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Pregunta que permite contrastar</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Condición de comparación</a:t>
                      </a:r>
                    </a:p>
                  </a:txBody>
                  <a:tcPr marL="114300" marR="114300" marT="76200" marB="76200" anchor="ctr">
                    <a:solidFill>
                      <a:srgbClr val="0B1020"/>
                    </a:solidFill>
                  </a:tcPr>
                </a:tc>
              </a:tr>
              <a:tr h="701675">
                <a:tc>
                  <a:txBody>
                    <a:bodyPr>
                      <a:noAutofit/>
                    </a:bodyPr>
                    <a:lstStyle/>
                    <a:p>
                      <a:r>
                        <a:rPr sz="1688" b="1">
                          <a:solidFill>
                            <a:srgbClr val="172033"/>
                          </a:solidFill>
                          <a:latin typeface="DejaVu Sans"/>
                          <a:ea typeface="DejaVu Sans"/>
                          <a:cs typeface="DejaVu Sans"/>
                        </a:rPr>
                        <a:t>Naive o constante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¿Se supera una referencia mínima?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Precio previo, retorno cero o tasa base</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ARIMA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¿Existe estructura temporal lineal?</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Mismo objetivo y horizonte</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GARCH</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¿Persiste la varianza condicional?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Target y escala de riesgo compatibles</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RF o XGBoost</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¿Aportan relaciones tabulares no lineales?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Mismas variables y folds</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LSTM, GRU o GNN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¿Aporta la estructura temporal o relacional?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Ablación, costo y estabilidad</a:t>
                      </a:r>
                    </a:p>
                  </a:txBody>
                  <a:tcPr marL="114300" marR="114300" marT="76200" marB="76200" anchor="ctr">
                    <a:solidFill>
                      <a:srgbClr val="FFFFFF"/>
                    </a:solidFill>
                  </a:tcPr>
                </a:tc>
              </a:tr>
            </a:tbl>
          </a:graphicData>
        </a:graphic>
      </p:graphicFrame>
    </p:spTree>
    <p:extLst>
      <p:ext uri="{BB962C8B-B14F-4D97-AF65-F5344CB8AC3E}">
        <p14:creationId xmlns:p14="http://schemas.microsoft.com/office/powerpoint/2010/main" val="240651729"/>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7FEC90D7-4984-4348-948D-1CC5E61F6D1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4EAB4229-E6CA-47ED-9C15-37E5BBE4DA18}"/>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Validación walk-forward</a:t>
            </a:r>
          </a:p>
        </p:txBody>
      </p:sp>
      <p:sp>
        <p:nvSpPr>
          <p:cNvPr id="3" name="author">
            <a:extLst xmlns:a="http://schemas.openxmlformats.org/drawingml/2006/main">
              <a:ext uri="{FF2B5EF4-FFF2-40B4-BE49-F238E27FC236}">
                <a16:creationId xmlns:a16="http://schemas.microsoft.com/office/drawing/2014/main" id="{1045AC1C-F225-489E-A37D-DE24E148A11C}"/>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8589262-B730-4B6C-9683-1D71549D9D46}"/>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10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Fold</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Entrenamiento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Validación y prueba</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1</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Período inicial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Bloque posterior</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2</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Período inicial ampliado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Siguiente bloque posterior</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3</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Período inicial ampliado nuevamente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Nuevo bloque posterior</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Alternativa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Ventana móvil de tamaño fijo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Bloque posterior a la ventana</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905601626"/>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AA90E353-CDFB-4E55-AD93-B9E9CF85C741}"/>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663C2194-D56C-42EB-9847-9F3E9921058B}"/>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Horizontes superpuestos y purga</a:t>
            </a:r>
          </a:p>
        </p:txBody>
      </p:sp>
      <p:sp>
        <p:nvSpPr>
          <p:cNvPr id="3" name="author">
            <a:extLst xmlns:a="http://schemas.openxmlformats.org/drawingml/2006/main">
              <a:ext uri="{FF2B5EF4-FFF2-40B4-BE49-F238E27FC236}">
                <a16:creationId xmlns:a16="http://schemas.microsoft.com/office/drawing/2014/main" id="{CBDA3A07-46AF-484F-8FBE-FCF20A6EB136}"/>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00543D76-FE03-4F02-971F-33B1D614B67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11 / 16</a:t>
            </a:r>
          </a:p>
        </p:txBody>
      </p:sp>
      <p:sp>
        <p:nvSpPr>
          <p:cNvPr id="5" name="equation-0">
            <a:extLst xmlns:a="http://schemas.openxmlformats.org/drawingml/2006/main">
              <a:ext uri="{FF2B5EF4-FFF2-40B4-BE49-F238E27FC236}">
                <a16:creationId xmlns:a16="http://schemas.microsoft.com/office/drawing/2014/main" id="{FEDABC27-25FC-4974-B412-1233C84C5848}"/>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Etiqueta del ejemplo t: retornos de t+1 a t+H</a:t>
            </a:r>
          </a:p>
        </p:txBody>
      </p:sp>
      <p:sp>
        <p:nvSpPr>
          <p:cNvPr id="6" name="equation-1">
            <a:extLst xmlns:a="http://schemas.openxmlformats.org/drawingml/2006/main">
              <a:ext uri="{FF2B5EF4-FFF2-40B4-BE49-F238E27FC236}">
                <a16:creationId xmlns:a16="http://schemas.microsoft.com/office/drawing/2014/main" id="{74B06CC3-4A72-4664-BA8F-1CF94F62F17E}"/>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Condición de entrenamiento al corte c: t + H ≤ c</a:t>
            </a:r>
          </a:p>
        </p:txBody>
      </p:sp>
      <p:sp>
        <p:nvSpPr>
          <p:cNvPr id="7" name="label-0">
            <a:extLst xmlns:a="http://schemas.openxmlformats.org/drawingml/2006/main">
              <a:ext uri="{FF2B5EF4-FFF2-40B4-BE49-F238E27FC236}">
                <a16:creationId xmlns:a16="http://schemas.microsoft.com/office/drawing/2014/main" id="{6366B065-C137-4075-94D7-B40696EEC96B}"/>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Frontera temporal</a:t>
            </a:r>
          </a:p>
        </p:txBody>
      </p:sp>
      <p:sp>
        <p:nvSpPr>
          <p:cNvPr id="8" name="body-0">
            <a:extLst xmlns:a="http://schemas.openxmlformats.org/drawingml/2006/main">
              <a:ext uri="{FF2B5EF4-FFF2-40B4-BE49-F238E27FC236}">
                <a16:creationId xmlns:a16="http://schemas.microsoft.com/office/drawing/2014/main" id="{CBDBC873-02E1-4B84-9CF5-09D7102602A5}"/>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Una fila anterior al corte puede tener un objetivo que usa información posterior al corte.</a:t>
            </a:r>
          </a:p>
        </p:txBody>
      </p:sp>
      <p:sp>
        <p:nvSpPr>
          <p:cNvPr id="9" name="label-1">
            <a:extLst xmlns:a="http://schemas.openxmlformats.org/drawingml/2006/main">
              <a:ext uri="{FF2B5EF4-FFF2-40B4-BE49-F238E27FC236}">
                <a16:creationId xmlns:a16="http://schemas.microsoft.com/office/drawing/2014/main" id="{35E56DB5-7079-4B6C-9B6E-3A7F274655D3}"/>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Control</a:t>
            </a:r>
          </a:p>
        </p:txBody>
      </p:sp>
      <p:sp>
        <p:nvSpPr>
          <p:cNvPr id="10" name="body-1">
            <a:extLst xmlns:a="http://schemas.openxmlformats.org/drawingml/2006/main">
              <a:ext uri="{FF2B5EF4-FFF2-40B4-BE49-F238E27FC236}">
                <a16:creationId xmlns:a16="http://schemas.microsoft.com/office/drawing/2014/main" id="{9D0EC787-F553-4851-8956-A7CBC14B6961}"/>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Purgar ejemplos con etiquetas aún no observadas y definir el gap según horizonte y disponibilidad.</a:t>
            </a:r>
          </a:p>
        </p:txBody>
      </p:sp>
    </p:spTree>
    <p:extLst>
      <p:ext uri="{BB962C8B-B14F-4D97-AF65-F5344CB8AC3E}">
        <p14:creationId xmlns:p14="http://schemas.microsoft.com/office/powerpoint/2010/main" val="1822998821"/>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ABE1B691-278C-47D3-96C4-D6AD274887E4}"/>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4FC184F8-ED37-46DB-B786-79D0ADCE31D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Fuga de información</a:t>
            </a:r>
          </a:p>
        </p:txBody>
      </p:sp>
      <p:sp>
        <p:nvSpPr>
          <p:cNvPr id="3" name="author">
            <a:extLst xmlns:a="http://schemas.openxmlformats.org/drawingml/2006/main">
              <a:ext uri="{FF2B5EF4-FFF2-40B4-BE49-F238E27FC236}">
                <a16:creationId xmlns:a16="http://schemas.microsoft.com/office/drawing/2014/main" id="{E28A2955-C454-4126-96D6-A9C4AB38B1FA}"/>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36BB52EE-3682-4010-A7B3-FEDE99F5CFEC}"/>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12 / 16</a:t>
            </a:r>
          </a:p>
        </p:txBody>
      </p:sp>
      <p:sp>
        <p:nvSpPr>
          <p:cNvPr id="5" name="label-0">
            <a:extLst xmlns:a="http://schemas.openxmlformats.org/drawingml/2006/main">
              <a:ext uri="{FF2B5EF4-FFF2-40B4-BE49-F238E27FC236}">
                <a16:creationId xmlns:a16="http://schemas.microsoft.com/office/drawing/2014/main" id="{A0410392-BA71-4F6A-8F4E-4BBD9AAE3DEC}"/>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Transformaciones</a:t>
            </a:r>
          </a:p>
        </p:txBody>
      </p:sp>
      <p:sp>
        <p:nvSpPr>
          <p:cNvPr id="6" name="body-0">
            <a:extLst xmlns:a="http://schemas.openxmlformats.org/drawingml/2006/main">
              <a:ext uri="{FF2B5EF4-FFF2-40B4-BE49-F238E27FC236}">
                <a16:creationId xmlns:a16="http://schemas.microsoft.com/office/drawing/2014/main" id="{4BC0EF36-B509-425B-BE4D-A4393B95BCB2}"/>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Ajustar scaler, imputación, selección de variables o embeddings con todo el período introduce información del test.</a:t>
            </a:r>
          </a:p>
        </p:txBody>
      </p:sp>
      <p:sp>
        <p:nvSpPr>
          <p:cNvPr id="7" name="label-1">
            <a:extLst xmlns:a="http://schemas.openxmlformats.org/drawingml/2006/main">
              <a:ext uri="{FF2B5EF4-FFF2-40B4-BE49-F238E27FC236}">
                <a16:creationId xmlns:a16="http://schemas.microsoft.com/office/drawing/2014/main" id="{354FD354-C7AF-4EC0-96A9-EA39C5304FE9}"/>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Construcción del objetivo</a:t>
            </a:r>
          </a:p>
        </p:txBody>
      </p:sp>
      <p:sp>
        <p:nvSpPr>
          <p:cNvPr id="8" name="body-1">
            <a:extLst xmlns:a="http://schemas.openxmlformats.org/drawingml/2006/main">
              <a:ext uri="{FF2B5EF4-FFF2-40B4-BE49-F238E27FC236}">
                <a16:creationId xmlns:a16="http://schemas.microsoft.com/office/drawing/2014/main" id="{5BF3DB55-06B8-453A-A496-846DA590C2B2}"/>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Desplazar mal el target, usar una ventana centrada o unir una publicación futura contamina el experimento.</a:t>
            </a:r>
          </a:p>
        </p:txBody>
      </p:sp>
      <p:sp>
        <p:nvSpPr>
          <p:cNvPr id="9" name="label-2">
            <a:extLst xmlns:a="http://schemas.openxmlformats.org/drawingml/2006/main">
              <a:ext uri="{FF2B5EF4-FFF2-40B4-BE49-F238E27FC236}">
                <a16:creationId xmlns:a16="http://schemas.microsoft.com/office/drawing/2014/main" id="{827E88BE-83B5-48F4-90E3-9D7C39A2B081}"/>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Selección del modelo</a:t>
            </a:r>
          </a:p>
        </p:txBody>
      </p:sp>
      <p:sp>
        <p:nvSpPr>
          <p:cNvPr id="10" name="body-2">
            <a:extLst xmlns:a="http://schemas.openxmlformats.org/drawingml/2006/main">
              <a:ext uri="{FF2B5EF4-FFF2-40B4-BE49-F238E27FC236}">
                <a16:creationId xmlns:a16="http://schemas.microsoft.com/office/drawing/2014/main" id="{FFC74B70-3A8C-44DC-A00E-6CDF19C8ECD6}"/>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Elegir hiperparámetros o reglas después de mirar el test convierte la prueba en parte del ajuste.</a:t>
            </a:r>
          </a:p>
        </p:txBody>
      </p:sp>
    </p:spTree>
    <p:extLst>
      <p:ext uri="{BB962C8B-B14F-4D97-AF65-F5344CB8AC3E}">
        <p14:creationId xmlns:p14="http://schemas.microsoft.com/office/powerpoint/2010/main" val="889189459"/>
      </p:ext>
    </p:extLst>
  </p:cSld>
</p:sld>
</file>

<file path=ppt/slides/slide1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54068BA2-0525-422F-8CA0-04C6180094DF}"/>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F70A8015-C8C7-4039-BC26-65B76F7DB607}"/>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Métricas y unidades</a:t>
            </a:r>
          </a:p>
        </p:txBody>
      </p:sp>
      <p:sp>
        <p:nvSpPr>
          <p:cNvPr id="3" name="author">
            <a:extLst xmlns:a="http://schemas.openxmlformats.org/drawingml/2006/main">
              <a:ext uri="{FF2B5EF4-FFF2-40B4-BE49-F238E27FC236}">
                <a16:creationId xmlns:a16="http://schemas.microsoft.com/office/drawing/2014/main" id="{9D4C73F8-F957-4C4B-B574-631AFE845967}"/>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E193A527-1F1B-4251-927F-6A41F6D2CA3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13 / 16</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701675">
                <a:tc>
                  <a:txBody>
                    <a:bodyPr>
                      <a:noAutofit/>
                    </a:bodyPr>
                    <a:lstStyle/>
                    <a:p>
                      <a:r>
                        <a:rPr sz="1575" b="1">
                          <a:solidFill>
                            <a:srgbClr val="FFFFFF"/>
                          </a:solidFill>
                          <a:latin typeface="DejaVu Sans"/>
                          <a:ea typeface="DejaVu Sans"/>
                          <a:cs typeface="DejaVu Sans"/>
                        </a:rPr>
                        <a:t>Tarea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Métrica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Lectura</a:t>
                      </a:r>
                    </a:p>
                  </a:txBody>
                  <a:tcPr marL="114300" marR="114300" marT="76200" marB="76200" anchor="ctr">
                    <a:solidFill>
                      <a:srgbClr val="0B1020"/>
                    </a:solidFill>
                  </a:tcPr>
                </a:tc>
              </a:tr>
              <a:tr h="701675">
                <a:tc>
                  <a:txBody>
                    <a:bodyPr>
                      <a:noAutofit/>
                    </a:bodyPr>
                    <a:lstStyle/>
                    <a:p>
                      <a:r>
                        <a:rPr sz="1688" b="1">
                          <a:solidFill>
                            <a:srgbClr val="172033"/>
                          </a:solidFill>
                          <a:latin typeface="DejaVu Sans"/>
                          <a:ea typeface="DejaVu Sans"/>
                          <a:cs typeface="DejaVu Sans"/>
                        </a:rPr>
                        <a:t>Regresión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MAE y RMSE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Magnitud del error en unidades del objetivo</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Dirección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Acierto de signo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Comparación con tasa base y banda neutral</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Varianza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QLIKE</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y/v̂ - ln(y/v̂) - 1, con y y v̂ positivos</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Clasificación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Precision, recall, F1 y PR-AUC</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Desempeño de la clase relevante y umbral</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Estrategia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Sharpe y drawdown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Riesgo y costos bajo supuestos explícitos</a:t>
                      </a:r>
                    </a:p>
                  </a:txBody>
                  <a:tcPr marL="114300" marR="114300" marT="76200" marB="76200" anchor="ctr">
                    <a:solidFill>
                      <a:srgbClr val="FFFFFF"/>
                    </a:solidFill>
                  </a:tcPr>
                </a:tc>
              </a:tr>
            </a:tbl>
          </a:graphicData>
        </a:graphic>
      </p:graphicFrame>
    </p:spTree>
    <p:extLst>
      <p:ext uri="{BB962C8B-B14F-4D97-AF65-F5344CB8AC3E}">
        <p14:creationId xmlns:p14="http://schemas.microsoft.com/office/powerpoint/2010/main" val="898825179"/>
      </p:ext>
    </p:extLst>
  </p:cSld>
</p:sld>
</file>

<file path=ppt/slides/slide1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755FF5FA-C11D-4261-BFA2-1AB4701C2DF5}"/>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46747364-78E8-412D-BB28-9983C3AB4C93}"/>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Reproducibilidad y análisis de errores</a:t>
            </a:r>
          </a:p>
        </p:txBody>
      </p:sp>
      <p:sp>
        <p:nvSpPr>
          <p:cNvPr id="3" name="author">
            <a:extLst xmlns:a="http://schemas.openxmlformats.org/drawingml/2006/main">
              <a:ext uri="{FF2B5EF4-FFF2-40B4-BE49-F238E27FC236}">
                <a16:creationId xmlns:a16="http://schemas.microsoft.com/office/drawing/2014/main" id="{6051046D-5616-4537-BAE6-DF11F4C4818E}"/>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5D78FE7-183C-485B-B3F9-53E49B45AFC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14 / 16</a:t>
            </a:r>
          </a:p>
        </p:txBody>
      </p:sp>
      <p:sp>
        <p:nvSpPr>
          <p:cNvPr id="5" name="label-0">
            <a:extLst xmlns:a="http://schemas.openxmlformats.org/drawingml/2006/main">
              <a:ext uri="{FF2B5EF4-FFF2-40B4-BE49-F238E27FC236}">
                <a16:creationId xmlns:a16="http://schemas.microsoft.com/office/drawing/2014/main" id="{DE1EB61E-0C99-486B-8FFF-05CA9BDDBB62}"/>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Registro del experimento</a:t>
            </a:r>
          </a:p>
        </p:txBody>
      </p:sp>
      <p:sp>
        <p:nvSpPr>
          <p:cNvPr id="6" name="body-0">
            <a:extLst xmlns:a="http://schemas.openxmlformats.org/drawingml/2006/main">
              <a:ext uri="{FF2B5EF4-FFF2-40B4-BE49-F238E27FC236}">
                <a16:creationId xmlns:a16="http://schemas.microsoft.com/office/drawing/2014/main" id="{E916BB1E-2CC7-4D72-AD8B-6E12A21C6B93}"/>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Versiones, semillas, fechas de corte, configuración y checksum del dato.</a:t>
            </a:r>
          </a:p>
        </p:txBody>
      </p:sp>
      <p:sp>
        <p:nvSpPr>
          <p:cNvPr id="7" name="label-1">
            <a:extLst xmlns:a="http://schemas.openxmlformats.org/drawingml/2006/main">
              <a:ext uri="{FF2B5EF4-FFF2-40B4-BE49-F238E27FC236}">
                <a16:creationId xmlns:a16="http://schemas.microsoft.com/office/drawing/2014/main" id="{7EF1DD96-0EC8-4A89-AB95-6B850BDD21F6}"/>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Resultados verificables</a:t>
            </a:r>
          </a:p>
        </p:txBody>
      </p:sp>
      <p:sp>
        <p:nvSpPr>
          <p:cNvPr id="8" name="body-1">
            <a:extLst xmlns:a="http://schemas.openxmlformats.org/drawingml/2006/main">
              <a:ext uri="{FF2B5EF4-FFF2-40B4-BE49-F238E27FC236}">
                <a16:creationId xmlns:a16="http://schemas.microsoft.com/office/drawing/2014/main" id="{DEE6CF38-1E35-4327-B040-E5A7F90CA235}"/>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Predicciones con fecha, valor observado, modelo y fold. Métricas por período y por objetivo.</a:t>
            </a:r>
          </a:p>
        </p:txBody>
      </p:sp>
      <p:sp>
        <p:nvSpPr>
          <p:cNvPr id="9" name="label-2">
            <a:extLst xmlns:a="http://schemas.openxmlformats.org/drawingml/2006/main">
              <a:ext uri="{FF2B5EF4-FFF2-40B4-BE49-F238E27FC236}">
                <a16:creationId xmlns:a16="http://schemas.microsoft.com/office/drawing/2014/main" id="{D3ECB430-9773-434B-9C6E-2DA65A551BC4}"/>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Interpretación</a:t>
            </a:r>
          </a:p>
        </p:txBody>
      </p:sp>
      <p:sp>
        <p:nvSpPr>
          <p:cNvPr id="10" name="body-2">
            <a:extLst xmlns:a="http://schemas.openxmlformats.org/drawingml/2006/main">
              <a:ext uri="{FF2B5EF4-FFF2-40B4-BE49-F238E27FC236}">
                <a16:creationId xmlns:a16="http://schemas.microsoft.com/office/drawing/2014/main" id="{6F775E69-7578-4C8B-B61E-1B4AEA02CC3F}"/>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Comparar errores en episodios de estrés, congestión o cambios de régimen y reportar la variabilidad.</a:t>
            </a:r>
          </a:p>
        </p:txBody>
      </p:sp>
    </p:spTree>
    <p:extLst>
      <p:ext uri="{BB962C8B-B14F-4D97-AF65-F5344CB8AC3E}">
        <p14:creationId xmlns:p14="http://schemas.microsoft.com/office/powerpoint/2010/main" val="1232447887"/>
      </p:ext>
    </p:extLst>
  </p:cSld>
</p:sld>
</file>

<file path=ppt/slides/slide1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C88E295D-CC59-42A4-95A9-0858D9CE3EB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1C5AEF99-5838-4318-9AAA-A773D40F8F43}"/>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Actividad metodológica BTC/ETH</a:t>
            </a:r>
          </a:p>
        </p:txBody>
      </p:sp>
      <p:sp>
        <p:nvSpPr>
          <p:cNvPr id="3" name="author">
            <a:extLst xmlns:a="http://schemas.openxmlformats.org/drawingml/2006/main">
              <a:ext uri="{FF2B5EF4-FFF2-40B4-BE49-F238E27FC236}">
                <a16:creationId xmlns:a16="http://schemas.microsoft.com/office/drawing/2014/main" id="{4B272416-05E0-4BAC-BF42-93CAEA380942}"/>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A420B9C5-C1AF-4C3B-9E71-51645CEC506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15 / 16</a:t>
            </a:r>
          </a:p>
        </p:txBody>
      </p:sp>
      <p:sp>
        <p:nvSpPr>
          <p:cNvPr id="5" name="label-0">
            <a:extLst xmlns:a="http://schemas.openxmlformats.org/drawingml/2006/main">
              <a:ext uri="{FF2B5EF4-FFF2-40B4-BE49-F238E27FC236}">
                <a16:creationId xmlns:a16="http://schemas.microsoft.com/office/drawing/2014/main" id="{0D997DE8-BC23-4DCE-A8C9-173D6EC0827B}"/>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Diseño</a:t>
            </a:r>
          </a:p>
        </p:txBody>
      </p:sp>
      <p:sp>
        <p:nvSpPr>
          <p:cNvPr id="6" name="body-0">
            <a:extLst xmlns:a="http://schemas.openxmlformats.org/drawingml/2006/main">
              <a:ext uri="{FF2B5EF4-FFF2-40B4-BE49-F238E27FC236}">
                <a16:creationId xmlns:a16="http://schemas.microsoft.com/office/drawing/2014/main" id="{2E87EA20-CA3D-4F03-9181-850F95261F38}"/>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Definir un objetivo de volatilidad diaria y seleccionar variables de mercado y on-chain disponibles al cierre.</a:t>
            </a:r>
          </a:p>
        </p:txBody>
      </p:sp>
      <p:sp>
        <p:nvSpPr>
          <p:cNvPr id="7" name="label-1">
            <a:extLst xmlns:a="http://schemas.openxmlformats.org/drawingml/2006/main">
              <a:ext uri="{FF2B5EF4-FFF2-40B4-BE49-F238E27FC236}">
                <a16:creationId xmlns:a16="http://schemas.microsoft.com/office/drawing/2014/main" id="{35CB3CA1-1D16-4E45-B550-04FE6B771FD0}"/>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Experimento</a:t>
            </a:r>
          </a:p>
        </p:txBody>
      </p:sp>
      <p:sp>
        <p:nvSpPr>
          <p:cNvPr id="8" name="body-1">
            <a:extLst xmlns:a="http://schemas.openxmlformats.org/drawingml/2006/main">
              <a:ext uri="{FF2B5EF4-FFF2-40B4-BE49-F238E27FC236}">
                <a16:creationId xmlns:a16="http://schemas.microsoft.com/office/drawing/2014/main" id="{9114BA7C-CDE2-4DF1-8697-ED199643A915}"/>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Comparar una referencia de riesgo con un modelo tabular y una red temporal mediante los mismos folds.</a:t>
            </a:r>
          </a:p>
        </p:txBody>
      </p:sp>
      <p:sp>
        <p:nvSpPr>
          <p:cNvPr id="9" name="label-2">
            <a:extLst xmlns:a="http://schemas.openxmlformats.org/drawingml/2006/main">
              <a:ext uri="{FF2B5EF4-FFF2-40B4-BE49-F238E27FC236}">
                <a16:creationId xmlns:a16="http://schemas.microsoft.com/office/drawing/2014/main" id="{5C69423B-5ED8-4062-B3ED-CFF1F838CF9D}"/>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369A1"/>
                </a:solidFill>
                <a:latin typeface="DejaVu Sans"/>
                <a:ea typeface="DejaVu Sans"/>
                <a:cs typeface="DejaVu Sans"/>
              </a:defRPr>
            </a:pPr>
            <a:r>
              <a:rPr sz="2025" b="1">
                <a:solidFill>
                  <a:srgbClr val="0369A1"/>
                </a:solidFill>
                <a:latin typeface="DejaVu Sans"/>
                <a:ea typeface="DejaVu Sans"/>
                <a:cs typeface="DejaVu Sans"/>
              </a:rPr>
              <a:t>Defensa</a:t>
            </a:r>
          </a:p>
        </p:txBody>
      </p:sp>
      <p:sp>
        <p:nvSpPr>
          <p:cNvPr id="10" name="body-2">
            <a:extLst xmlns:a="http://schemas.openxmlformats.org/drawingml/2006/main">
              <a:ext uri="{FF2B5EF4-FFF2-40B4-BE49-F238E27FC236}">
                <a16:creationId xmlns:a16="http://schemas.microsoft.com/office/drawing/2014/main" id="{132910B1-514E-4DAC-AFE6-B841A0C18948}"/>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Justificar horizonte, retrasos, métricas, familias de variables y límites de generalización.</a:t>
            </a:r>
          </a:p>
        </p:txBody>
      </p:sp>
    </p:spTree>
    <p:extLst>
      <p:ext uri="{BB962C8B-B14F-4D97-AF65-F5344CB8AC3E}">
        <p14:creationId xmlns:p14="http://schemas.microsoft.com/office/powerpoint/2010/main" val="791099303"/>
      </p:ext>
    </p:extLst>
  </p:cSld>
</p:sld>
</file>

<file path=ppt/slides/slide1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5" name="unit">
            <a:extLst xmlns:a="http://schemas.openxmlformats.org/drawingml/2006/main">
              <a:ext uri="{FF2B5EF4-FFF2-40B4-BE49-F238E27FC236}">
                <a16:creationId xmlns:a16="http://schemas.microsoft.com/office/drawing/2014/main" id="{E17CC04D-03B3-48D7-A049-C212C9F4692E}"/>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369A1"/>
                </a:solidFill>
                <a:latin typeface="DejaVu Sans"/>
                <a:ea typeface="DejaVu Sans"/>
                <a:cs typeface="DejaVu Sans"/>
              </a:defRPr>
            </a:pPr>
            <a:r>
              <a:rPr sz="1350" b="1">
                <a:solidFill>
                  <a:srgbClr val="0369A1"/>
                </a:solidFill>
                <a:latin typeface="DejaVu Sans"/>
                <a:ea typeface="DejaVu Sans"/>
                <a:cs typeface="DejaVu Sans"/>
              </a:rPr>
              <a:t>UNIDAD 8   Metodología</a:t>
            </a:r>
          </a:p>
        </p:txBody>
      </p:sp>
      <p:sp>
        <p:nvSpPr>
          <p:cNvPr id="2" name="title">
            <a:extLst xmlns:a="http://schemas.openxmlformats.org/drawingml/2006/main">
              <a:ext uri="{FF2B5EF4-FFF2-40B4-BE49-F238E27FC236}">
                <a16:creationId xmlns:a16="http://schemas.microsoft.com/office/drawing/2014/main" id="{25276E74-C156-41FF-A321-87B90C9811CD}"/>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Bibliografía y documentación</a:t>
            </a:r>
          </a:p>
        </p:txBody>
      </p:sp>
      <p:sp>
        <p:nvSpPr>
          <p:cNvPr id="3" name="author">
            <a:extLst xmlns:a="http://schemas.openxmlformats.org/drawingml/2006/main">
              <a:ext uri="{FF2B5EF4-FFF2-40B4-BE49-F238E27FC236}">
                <a16:creationId xmlns:a16="http://schemas.microsoft.com/office/drawing/2014/main" id="{0AD8BB2D-49EA-44BF-9571-4BB014BD913C}"/>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BD50B186-221B-4E6B-92B0-28FD5FD5CC7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16 / 16</a:t>
            </a:r>
          </a:p>
        </p:txBody>
      </p:sp>
      <p:sp>
        <p:nvSpPr>
          <p:cNvPr id="5" name="reference-0">
            <a:extLst xmlns:a="http://schemas.openxmlformats.org/drawingml/2006/main">
              <a:ext uri="{FF2B5EF4-FFF2-40B4-BE49-F238E27FC236}">
                <a16:creationId xmlns:a16="http://schemas.microsoft.com/office/drawing/2014/main" id="{B2B46C81-94B1-43B7-B216-FA52CADEE271}"/>
              </a:ext>
            </a:extLst>
          </p:cNvPr>
          <p:cNvSpPr>
            <a:spLocks xmlns:a="http://schemas.openxmlformats.org/drawingml/2006/main" noGrp="1"/>
          </p:cNvSpPr>
          <p:nvPr/>
        </p:nvSpPr>
        <p:spPr>
          <a:xfrm xmlns:a="http://schemas.openxmlformats.org/drawingml/2006/main">
            <a:off x="609600" y="1838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scikit-learn. TimeSeriesSplit</a:t>
            </a:r>
          </a:p>
        </p:txBody>
      </p:sp>
      <p:sp>
        <p:nvSpPr>
          <p:cNvPr id="6" name="reference-url-0">
            <a:extLst xmlns:a="http://schemas.openxmlformats.org/drawingml/2006/main">
              <a:ext uri="{FF2B5EF4-FFF2-40B4-BE49-F238E27FC236}">
                <a16:creationId xmlns:a16="http://schemas.microsoft.com/office/drawing/2014/main" id="{E06D3A1B-BAC1-49FC-BFBE-6383C6012035}"/>
              </a:ext>
            </a:extLst>
          </p:cNvPr>
          <p:cNvSpPr>
            <a:spLocks xmlns:a="http://schemas.openxmlformats.org/drawingml/2006/main" noGrp="1"/>
          </p:cNvSpPr>
          <p:nvPr/>
        </p:nvSpPr>
        <p:spPr>
          <a:xfrm xmlns:a="http://schemas.openxmlformats.org/drawingml/2006/main">
            <a:off x="609600" y="220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4a800571153c4bd9"/>
              </a:rPr>
              <a:t>https://scikit-learn.org/stable/modules/generated/sklearn.model_selection.TimeSeriesSplit.html</a:t>
            </a:r>
          </a:p>
        </p:txBody>
      </p:sp>
      <p:sp>
        <p:nvSpPr>
          <p:cNvPr id="7" name="reference-1">
            <a:extLst xmlns:a="http://schemas.openxmlformats.org/drawingml/2006/main">
              <a:ext uri="{FF2B5EF4-FFF2-40B4-BE49-F238E27FC236}">
                <a16:creationId xmlns:a16="http://schemas.microsoft.com/office/drawing/2014/main" id="{00FE1AB2-5B15-4348-87CC-193FD7519139}"/>
              </a:ext>
            </a:extLst>
          </p:cNvPr>
          <p:cNvSpPr>
            <a:spLocks xmlns:a="http://schemas.openxmlformats.org/drawingml/2006/main" noGrp="1"/>
          </p:cNvSpPr>
          <p:nvPr/>
        </p:nvSpPr>
        <p:spPr>
          <a:xfrm xmlns:a="http://schemas.openxmlformats.org/drawingml/2006/main">
            <a:off x="609600" y="26384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scikit-learn. Common pitfalls and recommended practices</a:t>
            </a:r>
          </a:p>
        </p:txBody>
      </p:sp>
      <p:sp>
        <p:nvSpPr>
          <p:cNvPr id="8" name="reference-url-1">
            <a:extLst xmlns:a="http://schemas.openxmlformats.org/drawingml/2006/main">
              <a:ext uri="{FF2B5EF4-FFF2-40B4-BE49-F238E27FC236}">
                <a16:creationId xmlns:a16="http://schemas.microsoft.com/office/drawing/2014/main" id="{3120D849-2D6D-4BD5-9885-68C56E81F299}"/>
              </a:ext>
            </a:extLst>
          </p:cNvPr>
          <p:cNvSpPr>
            <a:spLocks xmlns:a="http://schemas.openxmlformats.org/drawingml/2006/main" noGrp="1"/>
          </p:cNvSpPr>
          <p:nvPr/>
        </p:nvSpPr>
        <p:spPr>
          <a:xfrm xmlns:a="http://schemas.openxmlformats.org/drawingml/2006/main">
            <a:off x="609600" y="3009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ea9057b76d1646ba"/>
              </a:rPr>
              <a:t>https://scikit-learn.org/stable/common_pitfalls.html</a:t>
            </a:r>
          </a:p>
        </p:txBody>
      </p:sp>
      <p:sp>
        <p:nvSpPr>
          <p:cNvPr id="9" name="reference-2">
            <a:extLst xmlns:a="http://schemas.openxmlformats.org/drawingml/2006/main">
              <a:ext uri="{FF2B5EF4-FFF2-40B4-BE49-F238E27FC236}">
                <a16:creationId xmlns:a16="http://schemas.microsoft.com/office/drawing/2014/main" id="{512CC26D-A00F-40CE-9465-FBA96E30B2DF}"/>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Moiz y Raza (2026). Deep learning and GARCH family models</a:t>
            </a:r>
          </a:p>
        </p:txBody>
      </p:sp>
      <p:sp>
        <p:nvSpPr>
          <p:cNvPr id="10" name="reference-url-2">
            <a:extLst xmlns:a="http://schemas.openxmlformats.org/drawingml/2006/main">
              <a:ext uri="{FF2B5EF4-FFF2-40B4-BE49-F238E27FC236}">
                <a16:creationId xmlns:a16="http://schemas.microsoft.com/office/drawing/2014/main" id="{96CE373C-B299-4033-980D-EEAC4191A570}"/>
              </a:ext>
            </a:extLst>
          </p:cNvPr>
          <p:cNvSpPr>
            <a:spLocks xmlns:a="http://schemas.openxmlformats.org/drawingml/2006/main" noGrp="1"/>
          </p:cNvSpPr>
          <p:nvPr/>
        </p:nvSpPr>
        <p:spPr>
          <a:xfrm xmlns:a="http://schemas.openxmlformats.org/drawingml/2006/main">
            <a:off x="609600" y="3810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57ca56926af24bdc"/>
              </a:rPr>
              <a:t>https://mf-journal.com/article/view/370</a:t>
            </a:r>
          </a:p>
        </p:txBody>
      </p:sp>
      <p:sp>
        <p:nvSpPr>
          <p:cNvPr id="11" name="reference-3">
            <a:extLst xmlns:a="http://schemas.openxmlformats.org/drawingml/2006/main">
              <a:ext uri="{FF2B5EF4-FFF2-40B4-BE49-F238E27FC236}">
                <a16:creationId xmlns:a16="http://schemas.microsoft.com/office/drawing/2014/main" id="{2E70EF0A-5745-4D0E-8AA7-2599CD030F51}"/>
              </a:ext>
            </a:extLst>
          </p:cNvPr>
          <p:cNvSpPr>
            <a:spLocks xmlns:a="http://schemas.openxmlformats.org/drawingml/2006/main" noGrp="1"/>
          </p:cNvSpPr>
          <p:nvPr/>
        </p:nvSpPr>
        <p:spPr>
          <a:xfrm xmlns:a="http://schemas.openxmlformats.org/drawingml/2006/main">
            <a:off x="609600" y="4238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Weber et al. (2019). Anti-Money Laundering in Bitcoin</a:t>
            </a:r>
          </a:p>
        </p:txBody>
      </p:sp>
      <p:sp>
        <p:nvSpPr>
          <p:cNvPr id="12" name="reference-url-3">
            <a:extLst xmlns:a="http://schemas.openxmlformats.org/drawingml/2006/main">
              <a:ext uri="{FF2B5EF4-FFF2-40B4-BE49-F238E27FC236}">
                <a16:creationId xmlns:a16="http://schemas.microsoft.com/office/drawing/2014/main" id="{CFE91B55-BBD6-4319-A86F-EEF5BBF90934}"/>
              </a:ext>
            </a:extLst>
          </p:cNvPr>
          <p:cNvSpPr>
            <a:spLocks xmlns:a="http://schemas.openxmlformats.org/drawingml/2006/main" noGrp="1"/>
          </p:cNvSpPr>
          <p:nvPr/>
        </p:nvSpPr>
        <p:spPr>
          <a:xfrm xmlns:a="http://schemas.openxmlformats.org/drawingml/2006/main">
            <a:off x="609600" y="4610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3387ad8398a84985"/>
              </a:rPr>
              <a:t>https://arxiv.org/abs/1908.02591</a:t>
            </a:r>
          </a:p>
        </p:txBody>
      </p:sp>
      <p:sp>
        <p:nvSpPr>
          <p:cNvPr id="13" name="reference-4">
            <a:extLst xmlns:a="http://schemas.openxmlformats.org/drawingml/2006/main">
              <a:ext uri="{FF2B5EF4-FFF2-40B4-BE49-F238E27FC236}">
                <a16:creationId xmlns:a16="http://schemas.microsoft.com/office/drawing/2014/main" id="{7A5F50D6-E4EB-4239-AA85-94DE3185B5BB}"/>
              </a:ext>
            </a:extLst>
          </p:cNvPr>
          <p:cNvSpPr>
            <a:spLocks xmlns:a="http://schemas.openxmlformats.org/drawingml/2006/main" noGrp="1"/>
          </p:cNvSpPr>
          <p:nvPr/>
        </p:nvSpPr>
        <p:spPr>
          <a:xfrm xmlns:a="http://schemas.openxmlformats.org/drawingml/2006/main">
            <a:off x="609600" y="50387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Lundberg y Lee (2017). A Unified Approach to Interpreting Model Predictions</a:t>
            </a:r>
          </a:p>
        </p:txBody>
      </p:sp>
      <p:sp>
        <p:nvSpPr>
          <p:cNvPr id="14" name="reference-url-4">
            <a:extLst xmlns:a="http://schemas.openxmlformats.org/drawingml/2006/main">
              <a:ext uri="{FF2B5EF4-FFF2-40B4-BE49-F238E27FC236}">
                <a16:creationId xmlns:a16="http://schemas.microsoft.com/office/drawing/2014/main" id="{72C69104-3E98-4DEF-9B4E-E2CA2D8D1A6A}"/>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0369A1"/>
                </a:solidFill>
                <a:latin typeface="DejaVu Sans"/>
                <a:ea typeface="DejaVu Sans"/>
                <a:cs typeface="DejaVu Sans"/>
              </a:defRPr>
            </a:pPr>
            <a:r>
              <a:rPr sz="1275" b="0">
                <a:solidFill>
                  <a:srgbClr val="0369A1"/>
                </a:solidFill>
                <a:latin typeface="DejaVu Sans"/>
                <a:ea typeface="DejaVu Sans"/>
                <a:cs typeface="DejaVu Sans"/>
                <a:hlinkClick xmlns:r="http://schemas.openxmlformats.org/officeDocument/2006/relationships" r:id="R42b8d1d741414951"/>
              </a:rPr>
              <a:t>https://arxiv.org/abs/1705.07874</a:t>
            </a:r>
          </a:p>
        </p:txBody>
      </p:sp>
    </p:spTree>
    <p:extLst>
      <p:ext uri="{BB962C8B-B14F-4D97-AF65-F5344CB8AC3E}">
        <p14:creationId xmlns:p14="http://schemas.microsoft.com/office/powerpoint/2010/main" val="611070852"/>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2026-10-02T13:02:06.1910000Z</dcterms:created>
  <dcterms:modified xsi:type="dcterms:W3CDTF">2026-10-02T13:02:06.1910000Z</dcterms:modified>
</coreProperties>
</file>