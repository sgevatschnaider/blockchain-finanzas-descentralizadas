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984418bff64ae4" /><Relationship Type="http://schemas.openxmlformats.org/officeDocument/2006/relationships/extended-properties" Target="/docProps/app.xml" Id="Ra4ecdbbd77434047" /><Relationship Type="http://schemas.openxmlformats.org/officeDocument/2006/relationships/officeDocument" Target="/ppt/presentation.xml" Id="R76d7bd617c1b4fda" /></Relationships>
</file>

<file path=ppt/presentation.xml><?xml version="1.0" encoding="utf-8"?>
<p:presentation xmlns:p="http://schemas.openxmlformats.org/presentationml/2006/main">
  <p:sldMasterIdLst>
    <p:sldMasterId xmlns:r="http://schemas.openxmlformats.org/officeDocument/2006/relationships" id="2147483648" r:id="R25b55dd8875841ac"/>
  </p:sldMasterIdLst>
  <p:notesMasterIdLst>
    <p:notesMasterId xmlns:r="http://schemas.openxmlformats.org/officeDocument/2006/relationships" r:id="R515e1a69db0d4de1"/>
  </p:notesMasterIdLst>
  <p:sldIdLst>
    <p:sldId xmlns:r="http://schemas.openxmlformats.org/officeDocument/2006/relationships" id="256" r:id="R00447b73e61d40b0"/>
    <p:sldId xmlns:r="http://schemas.openxmlformats.org/officeDocument/2006/relationships" id="257" r:id="R3f42a5ec9e824198"/>
    <p:sldId xmlns:r="http://schemas.openxmlformats.org/officeDocument/2006/relationships" id="258" r:id="Rb33f305489174205"/>
    <p:sldId xmlns:r="http://schemas.openxmlformats.org/officeDocument/2006/relationships" id="259" r:id="Rc9b688dff16346ef"/>
    <p:sldId xmlns:r="http://schemas.openxmlformats.org/officeDocument/2006/relationships" id="260" r:id="Rccaeb780ec7e46c5"/>
    <p:sldId xmlns:r="http://schemas.openxmlformats.org/officeDocument/2006/relationships" id="261" r:id="Re2b7e602d7c74b9f"/>
    <p:sldId xmlns:r="http://schemas.openxmlformats.org/officeDocument/2006/relationships" id="262" r:id="R8058cc6b596547f1"/>
    <p:sldId xmlns:r="http://schemas.openxmlformats.org/officeDocument/2006/relationships" id="263" r:id="Rdb23bbba5c7041dd"/>
    <p:sldId xmlns:r="http://schemas.openxmlformats.org/officeDocument/2006/relationships" id="264" r:id="Re9c047a51a5c41b2"/>
    <p:sldId xmlns:r="http://schemas.openxmlformats.org/officeDocument/2006/relationships" id="265" r:id="R382b17ce95bb45cf"/>
    <p:sldId xmlns:r="http://schemas.openxmlformats.org/officeDocument/2006/relationships" id="266" r:id="R0a026f392a0a4a15"/>
    <p:sldId xmlns:r="http://schemas.openxmlformats.org/officeDocument/2006/relationships" id="267" r:id="Rc872ab67d3894c31"/>
    <p:sldId xmlns:r="http://schemas.openxmlformats.org/officeDocument/2006/relationships" id="268" r:id="R90464ac66e27458d"/>
    <p:sldId xmlns:r="http://schemas.openxmlformats.org/officeDocument/2006/relationships" id="269" r:id="R53b908005383414d"/>
    <p:sldId xmlns:r="http://schemas.openxmlformats.org/officeDocument/2006/relationships" id="270" r:id="Re5fefa2de8504bd3"/>
    <p:sldId xmlns:r="http://schemas.openxmlformats.org/officeDocument/2006/relationships" id="271" r:id="R1a96c53f8bb748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99291f5492406e" /><Relationship Type="http://schemas.openxmlformats.org/officeDocument/2006/relationships/slideMaster" Target="/ppt/slideMasters/slideMaster1.xml" Id="R25b55dd8875841ac" /><Relationship Type="http://schemas.openxmlformats.org/officeDocument/2006/relationships/notesMaster" Target="/ppt/notesMasters/notesMaster1.xml" Id="R515e1a69db0d4de1" /><Relationship Type="http://schemas.openxmlformats.org/officeDocument/2006/relationships/presProps" Target="/ppt/presProps.xml" Id="R2585b214a2484c45" /><Relationship Type="http://schemas.openxmlformats.org/officeDocument/2006/relationships/tableStyles" Target="/ppt/tableStyles.xml" Id="R9b0b14e2b69d4121" /><Relationship Type="http://schemas.openxmlformats.org/officeDocument/2006/relationships/slide" Target="/ppt/slides/slide1.xml" Id="R00447b73e61d40b0" /><Relationship Type="http://schemas.openxmlformats.org/officeDocument/2006/relationships/slide" Target="/ppt/slides/slide2.xml" Id="R3f42a5ec9e824198" /><Relationship Type="http://schemas.openxmlformats.org/officeDocument/2006/relationships/slide" Target="/ppt/slides/slide3.xml" Id="Rb33f305489174205" /><Relationship Type="http://schemas.openxmlformats.org/officeDocument/2006/relationships/slide" Target="/ppt/slides/slide4.xml" Id="Rc9b688dff16346ef" /><Relationship Type="http://schemas.openxmlformats.org/officeDocument/2006/relationships/slide" Target="/ppt/slides/slide5.xml" Id="Rccaeb780ec7e46c5" /><Relationship Type="http://schemas.openxmlformats.org/officeDocument/2006/relationships/slide" Target="/ppt/slides/slide6.xml" Id="Re2b7e602d7c74b9f" /><Relationship Type="http://schemas.openxmlformats.org/officeDocument/2006/relationships/slide" Target="/ppt/slides/slide7.xml" Id="R8058cc6b596547f1" /><Relationship Type="http://schemas.openxmlformats.org/officeDocument/2006/relationships/slide" Target="/ppt/slides/slide8.xml" Id="Rdb23bbba5c7041dd" /><Relationship Type="http://schemas.openxmlformats.org/officeDocument/2006/relationships/slide" Target="/ppt/slides/slide9.xml" Id="Re9c047a51a5c41b2" /><Relationship Type="http://schemas.openxmlformats.org/officeDocument/2006/relationships/slide" Target="/ppt/slides/slide10.xml" Id="R382b17ce95bb45cf" /><Relationship Type="http://schemas.openxmlformats.org/officeDocument/2006/relationships/slide" Target="/ppt/slides/slide11.xml" Id="R0a026f392a0a4a15" /><Relationship Type="http://schemas.openxmlformats.org/officeDocument/2006/relationships/slide" Target="/ppt/slides/slide12.xml" Id="Rc872ab67d3894c31" /><Relationship Type="http://schemas.openxmlformats.org/officeDocument/2006/relationships/slide" Target="/ppt/slides/slide13.xml" Id="R90464ac66e27458d" /><Relationship Type="http://schemas.openxmlformats.org/officeDocument/2006/relationships/slide" Target="/ppt/slides/slide14.xml" Id="R53b908005383414d" /><Relationship Type="http://schemas.openxmlformats.org/officeDocument/2006/relationships/slide" Target="/ppt/slides/slide15.xml" Id="Re5fefa2de8504bd3" /><Relationship Type="http://schemas.openxmlformats.org/officeDocument/2006/relationships/slide" Target="/ppt/slides/slide16.xml" Id="R1a96c53f8bb748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79fdc805f2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7bffd047254684" /><Relationship Type="http://schemas.openxmlformats.org/officeDocument/2006/relationships/notesMaster" Target="/ppt/notesMasters/notesMaster1.xml" Id="Rf511dcc733f040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fe10acd0c449ac" /><Relationship Type="http://schemas.openxmlformats.org/officeDocument/2006/relationships/notesMaster" Target="/ppt/notesMasters/notesMaster1.xml" Id="R456de775e13a43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743e507263420c" /><Relationship Type="http://schemas.openxmlformats.org/officeDocument/2006/relationships/notesMaster" Target="/ppt/notesMasters/notesMaster1.xml" Id="R8d01812663ef43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cef537862b4afb" /><Relationship Type="http://schemas.openxmlformats.org/officeDocument/2006/relationships/notesMaster" Target="/ppt/notesMasters/notesMaster1.xml" Id="Rfd06b950c4114b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42324ca5ac4085" /><Relationship Type="http://schemas.openxmlformats.org/officeDocument/2006/relationships/notesMaster" Target="/ppt/notesMasters/notesMaster1.xml" Id="Rf8594b1e6a4c41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20dfee2d2b46ae" /><Relationship Type="http://schemas.openxmlformats.org/officeDocument/2006/relationships/notesMaster" Target="/ppt/notesMasters/notesMaster1.xml" Id="Rb99c857124af4e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d995fb90f84ce6" /><Relationship Type="http://schemas.openxmlformats.org/officeDocument/2006/relationships/notesMaster" Target="/ppt/notesMasters/notesMaster1.xml" Id="Ra046cecddb294e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3a3cb19d8a47fb" /><Relationship Type="http://schemas.openxmlformats.org/officeDocument/2006/relationships/notesMaster" Target="/ppt/notesMasters/notesMaster1.xml" Id="Re18c45ba744b40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26fdc00fcb4d28" /><Relationship Type="http://schemas.openxmlformats.org/officeDocument/2006/relationships/notesMaster" Target="/ppt/notesMasters/notesMaster1.xml" Id="R494cd3ac4c6748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bf9fc1a16645bb" /><Relationship Type="http://schemas.openxmlformats.org/officeDocument/2006/relationships/notesMaster" Target="/ppt/notesMasters/notesMaster1.xml" Id="R67b3853b0ac74a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ddaa47570d4808" /><Relationship Type="http://schemas.openxmlformats.org/officeDocument/2006/relationships/notesMaster" Target="/ppt/notesMasters/notesMaster1.xml" Id="Rcf9396d65d5641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f7e50b94e84f9b" /><Relationship Type="http://schemas.openxmlformats.org/officeDocument/2006/relationships/notesMaster" Target="/ppt/notesMasters/notesMaster1.xml" Id="R486e64a2c7b04a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cb8d0c45ca4237" /><Relationship Type="http://schemas.openxmlformats.org/officeDocument/2006/relationships/notesMaster" Target="/ppt/notesMasters/notesMaster1.xml" Id="Refb60980242544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cf4760ed544e84" /><Relationship Type="http://schemas.openxmlformats.org/officeDocument/2006/relationships/notesMaster" Target="/ppt/notesMasters/notesMaster1.xml" Id="Rf9220f3a2d0b40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e1b0ea22604920" /><Relationship Type="http://schemas.openxmlformats.org/officeDocument/2006/relationships/notesMaster" Target="/ppt/notesMasters/notesMaster1.xml" Id="R5a81952a561b4a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45f23be0e94dce" /><Relationship Type="http://schemas.openxmlformats.org/officeDocument/2006/relationships/notesMaster" Target="/ppt/notesMasters/notesMaster1.xml" Id="Ra8470d28e64745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enfoque híbrido es una propuesta experimental. Una LSTM puede recibir métricas clásicas de red sin utilizar una GNN. La comparación permite estudiar si un embedding aprendido agrega valor frente a agregados sencillos. Las representaciones del tiempo y del grafo deben compartir un calendario y un protocolo de disponibilidad.</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readout o pooling faltaba en la arquitectura original si se pretendía pronosticar una variable de toda la red. Para una tarea por nodo se usa otra arquitectura y un criterio de alineación. El encoder se entrena sólo con el pasado disponible. Se puede congelar o ajustar conjuntamente con la red temporal, según el protocolo. La combinación no tiene superioridad demostrada hasta realizar la comparación.</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embeddings de modelos entrenados de forma independiente pueden cambiar de orientación y escala. Utilizarlos como si pertenecieran al mismo espacio temporal requiere un encoder común o un alineamiento justificado. Para nodos ausentes se especifica una máscara y una política, evitando inventar datos de actividad.</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 nombres de campos propuestos para documentar un experimento. Un as-of join respeta la información conocida al origen de cada predicción. El momento de extracción actual no reproduce necesariamente qué habría mostrado la fuente históricamente. Se documentan revisiones, retardos y disponibilidad de un archivo histórico.</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conservan mismos folds, objetivo, frecuencia y criterios de selección. También se prueban modelos de features tabulares como RF o XGBoost. La ablación atribuye diferencias al componente retirado dentro de este experimento, con cautela sobre interacciones y presupuesto. Se informa estabilidad por período, semillas y costo de entrenamiento.</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conserva la distinción del original entre raw data, processed data y model outputs. El resultado debe reconstruirse desde una fuente identificada y un protocolo. Un visor puede leer JSON o CSV exportados por ese cálculo. Si presenta datos sintéticos, lo indica visible y separadamente de resultados experimentales reales.</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numérico sintético, sin estimaciones de mercado. El valor base es 0,10 puntos porcentuales, la primera atribución suma 0,20 y la segunda resta 0,10. El total es 0,20. Un resumen de importancia por media del valor absoluto pierde el signo de las contribuciones locales. SHAP explica una función predictiva bajo supuestos y no establece un efecto causal.</a:t>
            </a:r>
          </a:p>
          <a:p xmlns:a="http://schemas.openxmlformats.org/drawingml/2006/main">
            <a:r>
              <a:t/>
            </a:r>
          </a:p>
          <a:p xmlns:a="http://schemas.openxmlformats.org/drawingml/2006/main">
            <a:r>
              <a:t>Fuentes y documentación:</a:t>
            </a:r>
          </a:p>
          <a:p xmlns:a="http://schemas.openxmlformats.org/drawingml/2006/main">
            <a:r>
              <a:t>Lundberg y Lee (2017). A Unified Approach to Interpreting Model Predictions</a:t>
            </a:r>
          </a:p>
          <a:p xmlns:a="http://schemas.openxmlformats.org/drawingml/2006/main">
            <a:r>
              <a:t>https://arxiv.org/abs/1705.07874</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Bull, neutral, bear, stress y recovery son ejemplos de etiquetas y requieren reglas medibles. Un cambio en las entradas no demuestra por sí mismo concept drift, entendido como un cambio en la relación condicional con el objetivo. Estimar el desempeño demanda que las nuevas etiquetas hayan madurado. Se registra costo y estabilidad del protocolo de actualización.</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ecuación usa retornos simples del activo y una aproximación de costos. La señal sólo utiliza información disponible antes de ejecutarse. Una observación al cierre no garantiza negociar a ese mismo cierre. El costo se liga al cambio de exposición y sus unidades deben ser coherentes. No se seleccionan reglas sobre el test. La fórmula no cubre financiación, leverage, liquidación, derivados ni modelos complejos de impacto.</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evaluación económica se presenta junto con la estadística. Un retorno acumulado puede ocultar pérdidas intermedias y exposición. La anualización de Sharpe depende de supuestos sobre dependencia temporal. Se reporta turnover, número de operaciones y sensibilidad a costos cuando corresponda. La actividad académica no presenta una garantía de rentabilidad.</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se concreta con objetivo, unidad y horizonte. Un proyecto puede concluir que el híbrido no mejora. Se valora la validez del experimento y la comunicación de sus límites. Los recursos elegidos responden a una hipótesis y se relacionan con los conceptos de las presentaciones.</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rúbrica conserva los pesos del material original. Suman 100 %. El resultado de rentabilidad no determina la calificación. La ciencia de datos se evalúa por diseño, calidad del dato, comparación y justificación. Debe distinguirse resultado obtenido, hipótesis y ejemplo didáctico.</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preguntas sustituyen instrucciones internas de preparación del material por una discusión académica. Se examina la coherencia entre objetivo, timestamps, arquitectura y resultados. La actividad enlaza presentaciones, práctica y proyecto mediante conceptos comunes. Los controles de un recurso visual sirven para explorar hipótesis y deben acompañarse de una interpretación.</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Como lectura aplicada, Zheng, Zhou y Song (2025) reportan ATGAT sobre un grafo de transacciones con información temporal y pérdida ponderada. Su configuración debe leerse con detalle: el paper describe un conjunto held-out reservado y no utilizado en sus experimentos. Una cifra de validación no debe presentarse como evaluación prospectiva independiente. Se usa el paper para discutir protocolo y evidencia, sin asumir superioridad general.</a:t>
            </a:r>
          </a:p>
          <a:p xmlns:a="http://schemas.openxmlformats.org/drawingml/2006/main">
            <a:r>
              <a:t/>
            </a:r>
          </a:p>
          <a:p xmlns:a="http://schemas.openxmlformats.org/drawingml/2006/main">
            <a:r>
              <a:t>Fuentes y documentación:</a:t>
            </a:r>
          </a:p>
          <a:p xmlns:a="http://schemas.openxmlformats.org/drawingml/2006/main">
            <a:r>
              <a:t>Zheng, Zhou y Song (2025). Temporal-Aware Graph Attention Network</a:t>
            </a:r>
          </a:p>
          <a:p xmlns:a="http://schemas.openxmlformats.org/drawingml/2006/main">
            <a:r>
              <a:t>https://arxiv.org/abs/2506.21382</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ampliar y contrastar el método. Los resultados de los artículos pertenecen al experimento de sus autores.</a:t>
            </a:r>
          </a:p>
          <a:p xmlns:a="http://schemas.openxmlformats.org/drawingml/2006/main">
            <a:r>
              <a:t/>
            </a:r>
          </a:p>
          <a:p xmlns:a="http://schemas.openxmlformats.org/drawingml/2006/main">
            <a:r>
              <a:t>Lundberg y Lee (2017). A Unified Approach to Interpreting Model Predictions</a:t>
            </a:r>
          </a:p>
          <a:p xmlns:a="http://schemas.openxmlformats.org/drawingml/2006/main">
            <a:r>
              <a:t>https://arxiv.org/abs/1705.07874</a:t>
            </a:r>
          </a:p>
          <a:p xmlns:a="http://schemas.openxmlformats.org/drawingml/2006/main">
            <a:r>
              <a:t/>
            </a:r>
          </a:p>
          <a:p xmlns:a="http://schemas.openxmlformats.org/drawingml/2006/main">
            <a:r>
              <a:t>Weber et al. (2019). Anti-Money Laundering in Bitcoin</a:t>
            </a:r>
          </a:p>
          <a:p xmlns:a="http://schemas.openxmlformats.org/drawingml/2006/main">
            <a:r>
              <a:t>https://arxiv.org/abs/1908.02591</a:t>
            </a:r>
          </a:p>
          <a:p xmlns:a="http://schemas.openxmlformats.org/drawingml/2006/main">
            <a:r>
              <a:t/>
            </a:r>
          </a:p>
          <a:p xmlns:a="http://schemas.openxmlformats.org/drawingml/2006/main">
            <a:r>
              <a:t>Zheng, Zhou y Song (2025). Temporal-Aware Graph Attention Network</a:t>
            </a:r>
          </a:p>
          <a:p xmlns:a="http://schemas.openxmlformats.org/drawingml/2006/main">
            <a:r>
              <a:t>https://arxiv.org/abs/2506.21382</a:t>
            </a:r>
          </a:p>
          <a:p xmlns:a="http://schemas.openxmlformats.org/drawingml/2006/main">
            <a:r>
              <a:t/>
            </a:r>
          </a:p>
          <a:p xmlns:a="http://schemas.openxmlformats.org/drawingml/2006/main">
            <a:r>
              <a:t>scikit-learn. TimeSeriesSplit</a:t>
            </a:r>
          </a:p>
          <a:p xmlns:a="http://schemas.openxmlformats.org/drawingml/2006/main">
            <a:r>
              <a:t>https://scikit-learn.org/stable/modules/generated/sklearn.model_selection.TimeSeriesSplit.html</a:t>
            </a:r>
          </a:p>
          <a:p xmlns:a="http://schemas.openxmlformats.org/drawingml/2006/main">
            <a:r>
              <a:t/>
            </a:r>
          </a:p>
          <a:p xmlns:a="http://schemas.openxmlformats.org/drawingml/2006/main">
            <a:r>
              <a:t>Moiz y Raza (2026). Deep learning and GARCH family models</a:t>
            </a:r>
          </a:p>
          <a:p xmlns:a="http://schemas.openxmlformats.org/drawingml/2006/main">
            <a:r>
              <a:t>https://mf-journal.com/article/view/370</a:t>
            </a:r>
          </a:p>
          <a:p xmlns:a="http://schemas.openxmlformats.org/drawingml/2006/main">
            <a:r>
              <a:t/>
            </a:r>
          </a:p>
          <a:p xmlns:a="http://schemas.openxmlformats.org/drawingml/2006/main">
            <a:r>
              <a:t>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ac345905b146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c093104a174d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38badc326f40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7c209053634b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8de48b724b49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0a2069abf34b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BE52860-E959-4A3B-8359-889933B317A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9ACC450-A26B-4A63-8807-F96B1C3E7D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5BF4058-637C-4FD7-BC17-60677D020E0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3B09BAF-FB89-436B-8B1E-8F4F35422F08}"/>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7260B67-8C0F-4FA8-93B1-3E4308DBCD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264574C-BC0C-4AFC-ADB4-2BB8363F276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2822EA4-C568-433F-B645-2CD1EA98A4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B0696D8-94D8-4316-A1C5-571CBAD404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7D5252E-95F6-400F-ADDB-C899017A1D9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EC670A9-9CC5-4439-ADB9-A033706C92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1CF6156-F6B5-4C63-9036-7658173B4A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EF1CE1C-5E21-437A-BBE8-02EE462A2C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A2C69AE-9D54-4C0B-A5F8-884AD6BC0A6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35E6DFC-EC4C-4C1B-9BEE-0C01FA8B81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61F0BBE-6123-481B-828C-590C59487E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9dd223f5ea496f" /><Relationship Type="http://schemas.openxmlformats.org/officeDocument/2006/relationships/slideLayout" Target="/ppt/slideLayouts/slideLayout1.xml" Id="Rb0913281e3b24ef7" /><Relationship Type="http://schemas.openxmlformats.org/officeDocument/2006/relationships/slideLayout" Target="/ppt/slideLayouts/slideLayout2.xml" Id="Rbc40e29ca36440ab" /><Relationship Type="http://schemas.openxmlformats.org/officeDocument/2006/relationships/slideLayout" Target="/ppt/slideLayouts/slideLayout3.xml" Id="R43d3f9777ca84ec6" /><Relationship Type="http://schemas.openxmlformats.org/officeDocument/2006/relationships/slideLayout" Target="/ppt/slideLayouts/slideLayout4.xml" Id="R0219a00b50764e3f" /><Relationship Type="http://schemas.openxmlformats.org/officeDocument/2006/relationships/slideLayout" Target="/ppt/slideLayouts/slideLayout5.xml" Id="Re40da5d365b54e7c" /><Relationship Type="http://schemas.openxmlformats.org/officeDocument/2006/relationships/slideLayout" Target="/ppt/slideLayouts/slideLayout6.xml" Id="R74851d8b2ad741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913281e3b24ef7"/>
    <p:sldLayoutId xmlns:r="http://schemas.openxmlformats.org/officeDocument/2006/relationships" id="2147483650" r:id="Rbc40e29ca36440ab"/>
    <p:sldLayoutId xmlns:r="http://schemas.openxmlformats.org/officeDocument/2006/relationships" id="2147483651" r:id="R43d3f9777ca84ec6"/>
    <p:sldLayoutId xmlns:r="http://schemas.openxmlformats.org/officeDocument/2006/relationships" id="2147483652" r:id="R0219a00b50764e3f"/>
    <p:sldLayoutId xmlns:r="http://schemas.openxmlformats.org/officeDocument/2006/relationships" id="2147483653" r:id="Re40da5d365b54e7c"/>
    <p:sldLayoutId xmlns:r="http://schemas.openxmlformats.org/officeDocument/2006/relationships" id="2147483654" r:id="R74851d8b2ad741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d985ef3df74ac0" /><Relationship Type="http://schemas.openxmlformats.org/officeDocument/2006/relationships/notesSlide" Target="/ppt/notesSlides/notesSlide1.xml" Id="R9bb56b75a10b44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6e8a592f664809" /><Relationship Type="http://schemas.openxmlformats.org/officeDocument/2006/relationships/notesSlide" Target="/ppt/notesSlides/notesSlide2.xml" Id="R90bd324af4b94b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6cbfb771704f90" /><Relationship Type="http://schemas.openxmlformats.org/officeDocument/2006/relationships/notesSlide" Target="/ppt/notesSlides/notesSlide3.xml" Id="R02962c53cda144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3892e3edba4e17" /><Relationship Type="http://schemas.openxmlformats.org/officeDocument/2006/relationships/notesSlide" Target="/ppt/notesSlides/notesSlide4.xml" Id="R67f3ab449bf14a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9e60e17a1e41a6" /><Relationship Type="http://schemas.openxmlformats.org/officeDocument/2006/relationships/notesSlide" Target="/ppt/notesSlides/notesSlide5.xml" Id="R9419acf2aa0e4b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562a61c001740d9" /><Relationship Type="http://schemas.openxmlformats.org/officeDocument/2006/relationships/notesSlide" Target="/ppt/notesSlides/notesSlide6.xml" Id="Recf9014f63154f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fa41e8c1f74ac8" /><Relationship Type="http://schemas.openxmlformats.org/officeDocument/2006/relationships/notesSlide" Target="/ppt/notesSlides/notesSlide7.xml" Id="Re37de119c9e841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288852774f4ac6" /><Relationship Type="http://schemas.openxmlformats.org/officeDocument/2006/relationships/notesSlide" Target="/ppt/notesSlides/notesSlide8.xml" Id="R5f75b723581c49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972974787f431d" /><Relationship Type="http://schemas.openxmlformats.org/officeDocument/2006/relationships/notesSlide" Target="/ppt/notesSlides/notesSlide9.xml" Id="R6fc70265c7ef4a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684caa08fe464a" /><Relationship Type="http://schemas.openxmlformats.org/officeDocument/2006/relationships/notesSlide" Target="/ppt/notesSlides/notesSlide10.xml" Id="R3fa382a9a6f54c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fa589140c34a09" /><Relationship Type="http://schemas.openxmlformats.org/officeDocument/2006/relationships/notesSlide" Target="/ppt/notesSlides/notesSlide11.xml" Id="Rf2426f856e924d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a10ade444fd45fa" /><Relationship Type="http://schemas.openxmlformats.org/officeDocument/2006/relationships/notesSlide" Target="/ppt/notesSlides/notesSlide12.xml" Id="R80b3bb2753014d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0ab973c84f4579" /><Relationship Type="http://schemas.openxmlformats.org/officeDocument/2006/relationships/notesSlide" Target="/ppt/notesSlides/notesSlide13.xml" Id="Rfdbb12051c0a43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af505e2c4749b5" /><Relationship Type="http://schemas.openxmlformats.org/officeDocument/2006/relationships/notesSlide" Target="/ppt/notesSlides/notesSlide14.xml" Id="R249b407e29f144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ed3fb5dd6d4fc1" /><Relationship Type="http://schemas.openxmlformats.org/officeDocument/2006/relationships/notesSlide" Target="/ppt/notesSlides/notesSlide15.xml" Id="Re9fcba5897994f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3fb59d2c64c478d" /><Relationship Type="http://schemas.openxmlformats.org/officeDocument/2006/relationships/hyperlink" Target="https://arxiv.org/abs/1705.07874" TargetMode="External" Id="R9bfb08fc3bdd4bf0" /><Relationship Type="http://schemas.openxmlformats.org/officeDocument/2006/relationships/hyperlink" Target="https://arxiv.org/abs/1908.02591" TargetMode="External" Id="R8506e285646842a8" /><Relationship Type="http://schemas.openxmlformats.org/officeDocument/2006/relationships/hyperlink" Target="https://arxiv.org/abs/2506.21382" TargetMode="External" Id="Rb0ca4decf40d48bf" /><Relationship Type="http://schemas.openxmlformats.org/officeDocument/2006/relationships/hyperlink" Target="https://scikit-learn.org/stable/modules/generated/sklearn.model_selection.TimeSeriesSplit.html" TargetMode="External" Id="Ra2083748ceb64d0d" /><Relationship Type="http://schemas.openxmlformats.org/officeDocument/2006/relationships/hyperlink" Target="https://mf-journal.com/article/view/370" TargetMode="External" Id="R32592006015f4f53" /><Relationship Type="http://schemas.openxmlformats.org/officeDocument/2006/relationships/notesSlide" Target="/ppt/notesSlides/notesSlide16.xml" Id="R4a69f6e4cfae409e"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6" name="author">
            <a:extLst xmlns:a="http://schemas.openxmlformats.org/drawingml/2006/main">
              <a:ext uri="{FF2B5EF4-FFF2-40B4-BE49-F238E27FC236}">
                <a16:creationId xmlns:a16="http://schemas.microsoft.com/office/drawing/2014/main" id="{475AE4E6-08BD-4452-B4D1-028258108DF2}"/>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Material elaborado por el profesor Sergio Gevatschnaider.</a:t>
            </a:r>
          </a:p>
        </p:txBody>
      </p:sp>
      <p:sp>
        <p:nvSpPr>
          <p:cNvPr id="2" name="page">
            <a:extLst xmlns:a="http://schemas.openxmlformats.org/drawingml/2006/main">
              <a:ext uri="{FF2B5EF4-FFF2-40B4-BE49-F238E27FC236}">
                <a16:creationId xmlns:a16="http://schemas.microsoft.com/office/drawing/2014/main" id="{CFBCD007-3B89-40A3-BD82-4D76C62CD70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01 / 16</a:t>
            </a:r>
          </a:p>
        </p:txBody>
      </p:sp>
      <p:sp>
        <p:nvSpPr>
          <p:cNvPr id="3" name="cover-unit">
            <a:extLst xmlns:a="http://schemas.openxmlformats.org/drawingml/2006/main">
              <a:ext uri="{FF2B5EF4-FFF2-40B4-BE49-F238E27FC236}">
                <a16:creationId xmlns:a16="http://schemas.microsoft.com/office/drawing/2014/main" id="{82599542-5BC5-4B75-9245-D37DBCC85405}"/>
              </a:ext>
            </a:extLst>
          </p:cNvPr>
          <p:cNvSpPr>
            <a:spLocks xmlns:a="http://schemas.openxmlformats.org/drawingml/2006/main" noGrp="1"/>
          </p:cNvSpPr>
          <p:nvPr/>
        </p:nvSpPr>
        <p:spPr>
          <a:xfrm xmlns:a="http://schemas.openxmlformats.org/drawingml/2006/main">
            <a:off x="609600" y="10096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5605"/>
                </a:solidFill>
                <a:latin typeface="DejaVu Sans"/>
                <a:ea typeface="DejaVu Sans"/>
                <a:cs typeface="DejaVu Sans"/>
              </a:defRPr>
            </a:pPr>
            <a:r>
              <a:rPr sz="1875" b="1">
                <a:solidFill>
                  <a:srgbClr val="A85605"/>
                </a:solidFill>
                <a:latin typeface="DejaVu Sans"/>
                <a:ea typeface="DejaVu Sans"/>
                <a:cs typeface="DejaVu Sans"/>
              </a:rPr>
              <a:t>UNIDAD 8</a:t>
            </a:r>
          </a:p>
        </p:txBody>
      </p:sp>
      <p:sp>
        <p:nvSpPr>
          <p:cNvPr id="4" name="cover-title">
            <a:extLst xmlns:a="http://schemas.openxmlformats.org/drawingml/2006/main">
              <a:ext uri="{FF2B5EF4-FFF2-40B4-BE49-F238E27FC236}">
                <a16:creationId xmlns:a16="http://schemas.microsoft.com/office/drawing/2014/main" id="{BE4273B3-794C-4A7C-88C3-CB98D37F28D3}"/>
              </a:ext>
            </a:extLst>
          </p:cNvPr>
          <p:cNvSpPr>
            <a:spLocks xmlns:a="http://schemas.openxmlformats.org/drawingml/2006/main" noGrp="1"/>
          </p:cNvSpPr>
          <p:nvPr/>
        </p:nvSpPr>
        <p:spPr>
          <a:xfrm xmlns:a="http://schemas.openxmlformats.org/drawingml/2006/main">
            <a:off x="609600" y="2143125"/>
            <a:ext cx="10934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Integrador LSTM y GNN</a:t>
            </a:r>
          </a:p>
        </p:txBody>
      </p:sp>
      <p:sp>
        <p:nvSpPr>
          <p:cNvPr id="5" name="cover-subtitle">
            <a:extLst xmlns:a="http://schemas.openxmlformats.org/drawingml/2006/main">
              <a:ext uri="{FF2B5EF4-FFF2-40B4-BE49-F238E27FC236}">
                <a16:creationId xmlns:a16="http://schemas.microsoft.com/office/drawing/2014/main" id="{9B223340-97E1-4A79-BF44-9AE960F80858}"/>
              </a:ext>
            </a:extLst>
          </p:cNvPr>
          <p:cNvSpPr>
            <a:spLocks xmlns:a="http://schemas.openxmlformats.org/drawingml/2006/main" noGrp="1"/>
          </p:cNvSpPr>
          <p:nvPr/>
        </p:nvSpPr>
        <p:spPr>
          <a:xfrm xmlns:a="http://schemas.openxmlformats.org/drawingml/2006/main">
            <a:off x="609600" y="42481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CBD5E1"/>
                </a:solidFill>
                <a:latin typeface="DejaVu Sans"/>
                <a:ea typeface="DejaVu Sans"/>
                <a:cs typeface="DejaVu Sans"/>
              </a:defRPr>
            </a:pPr>
            <a:r>
              <a:rPr sz="2175" b="0">
                <a:solidFill>
                  <a:srgbClr val="CBD5E1"/>
                </a:solidFill>
                <a:latin typeface="DejaVu Sans"/>
                <a:ea typeface="DejaVu Sans"/>
                <a:cs typeface="DejaVu Sans"/>
              </a:rPr>
              <a:t>Tiempo, estructura e interpretación en una investigación reproducible</a:t>
            </a:r>
          </a:p>
        </p:txBody>
      </p:sp>
    </p:spTree>
    <p:extLst>
      <p:ext uri="{BB962C8B-B14F-4D97-AF65-F5344CB8AC3E}">
        <p14:creationId xmlns:p14="http://schemas.microsoft.com/office/powerpoint/2010/main" val="1245240608"/>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0B0537DD-CEBE-4B17-B5BB-3C517F6D695F}"/>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5047464A-99CC-4F94-BC49-5D9A2618F988}"/>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Información temporal y relacional</a:t>
            </a:r>
          </a:p>
        </p:txBody>
      </p:sp>
      <p:sp>
        <p:nvSpPr>
          <p:cNvPr id="3" name="author">
            <a:extLst xmlns:a="http://schemas.openxmlformats.org/drawingml/2006/main">
              <a:ext uri="{FF2B5EF4-FFF2-40B4-BE49-F238E27FC236}">
                <a16:creationId xmlns:a16="http://schemas.microsoft.com/office/drawing/2014/main" id="{78491E79-1EAF-4061-9C20-4C3E719D9BA8}"/>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49205DB3-6F98-4223-86E9-3B740871FF46}"/>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02 / 16</a:t>
            </a:r>
          </a:p>
        </p:txBody>
      </p:sp>
      <p:sp>
        <p:nvSpPr>
          <p:cNvPr id="5" name="label-0">
            <a:extLst xmlns:a="http://schemas.openxmlformats.org/drawingml/2006/main">
              <a:ext uri="{FF2B5EF4-FFF2-40B4-BE49-F238E27FC236}">
                <a16:creationId xmlns:a16="http://schemas.microsoft.com/office/drawing/2014/main" id="{B92A464F-38EA-482C-9F70-7120B7F90E9D}"/>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Modelo temporal</a:t>
            </a:r>
          </a:p>
        </p:txBody>
      </p:sp>
      <p:sp>
        <p:nvSpPr>
          <p:cNvPr id="6" name="body-0">
            <a:extLst xmlns:a="http://schemas.openxmlformats.org/drawingml/2006/main">
              <a:ext uri="{FF2B5EF4-FFF2-40B4-BE49-F238E27FC236}">
                <a16:creationId xmlns:a16="http://schemas.microsoft.com/office/drawing/2014/main" id="{61D5518C-7B63-4D89-9070-08572A9CFA5A}"/>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Resume la secuencia de variables de mercado o actividad mediante estados aprendidos.</a:t>
            </a:r>
          </a:p>
        </p:txBody>
      </p:sp>
      <p:sp>
        <p:nvSpPr>
          <p:cNvPr id="7" name="label-1">
            <a:extLst xmlns:a="http://schemas.openxmlformats.org/drawingml/2006/main">
              <a:ext uri="{FF2B5EF4-FFF2-40B4-BE49-F238E27FC236}">
                <a16:creationId xmlns:a16="http://schemas.microsoft.com/office/drawing/2014/main" id="{2E5511D3-9356-43B1-BE3F-11983DD8C97E}"/>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Modelo de grafo</a:t>
            </a:r>
          </a:p>
        </p:txBody>
      </p:sp>
      <p:sp>
        <p:nvSpPr>
          <p:cNvPr id="8" name="body-1">
            <a:extLst xmlns:a="http://schemas.openxmlformats.org/drawingml/2006/main">
              <a:ext uri="{FF2B5EF4-FFF2-40B4-BE49-F238E27FC236}">
                <a16:creationId xmlns:a16="http://schemas.microsoft.com/office/drawing/2014/main" id="{618C51DC-AF46-4F63-9013-D8AB5791802C}"/>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Construye representaciones a partir de atributos y vecindarios definidos.</a:t>
            </a:r>
          </a:p>
        </p:txBody>
      </p:sp>
      <p:sp>
        <p:nvSpPr>
          <p:cNvPr id="9" name="label-2">
            <a:extLst xmlns:a="http://schemas.openxmlformats.org/drawingml/2006/main">
              <a:ext uri="{FF2B5EF4-FFF2-40B4-BE49-F238E27FC236}">
                <a16:creationId xmlns:a16="http://schemas.microsoft.com/office/drawing/2014/main" id="{190098AB-C734-4431-83DB-EC7CBA35EF19}"/>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Hipótesis de integración</a:t>
            </a:r>
          </a:p>
        </p:txBody>
      </p:sp>
      <p:sp>
        <p:nvSpPr>
          <p:cNvPr id="10" name="body-2">
            <a:extLst xmlns:a="http://schemas.openxmlformats.org/drawingml/2006/main">
              <a:ext uri="{FF2B5EF4-FFF2-40B4-BE49-F238E27FC236}">
                <a16:creationId xmlns:a16="http://schemas.microsoft.com/office/drawing/2014/main" id="{76CECFD5-EFF4-46E6-B750-129BFAD1C135}"/>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Evaluar si la información relacional disponible mejora la tarea temporal elegida.</a:t>
            </a:r>
          </a:p>
        </p:txBody>
      </p:sp>
    </p:spTree>
    <p:extLst>
      <p:ext uri="{BB962C8B-B14F-4D97-AF65-F5344CB8AC3E}">
        <p14:creationId xmlns:p14="http://schemas.microsoft.com/office/powerpoint/2010/main" val="1044087706"/>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2" name="unit">
            <a:extLst xmlns:a="http://schemas.openxmlformats.org/drawingml/2006/main">
              <a:ext uri="{FF2B5EF4-FFF2-40B4-BE49-F238E27FC236}">
                <a16:creationId xmlns:a16="http://schemas.microsoft.com/office/drawing/2014/main" id="{448A9322-DE6E-4F9E-A0A2-D93ED7B6C1DF}"/>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849285EB-E357-44CE-938D-A7CBCE060DB9}"/>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Arquitectura híbrida por snapshot</a:t>
            </a:r>
          </a:p>
        </p:txBody>
      </p:sp>
      <p:sp>
        <p:nvSpPr>
          <p:cNvPr id="3" name="author">
            <a:extLst xmlns:a="http://schemas.openxmlformats.org/drawingml/2006/main">
              <a:ext uri="{FF2B5EF4-FFF2-40B4-BE49-F238E27FC236}">
                <a16:creationId xmlns:a16="http://schemas.microsoft.com/office/drawing/2014/main" id="{1D78332C-5918-42F2-B607-85E4943C4C9B}"/>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055582C0-8283-44C4-ABA4-C155A2ABED7E}"/>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03 / 16</a:t>
            </a:r>
          </a:p>
        </p:txBody>
      </p:sp>
      <p:sp>
        <p:nvSpPr>
          <p:cNvPr id="5" name="equation-0">
            <a:extLst xmlns:a="http://schemas.openxmlformats.org/drawingml/2006/main">
              <a:ext uri="{FF2B5EF4-FFF2-40B4-BE49-F238E27FC236}">
                <a16:creationId xmlns:a16="http://schemas.microsoft.com/office/drawing/2014/main" id="{E95F3DA2-752D-4233-9092-165540B86B68}"/>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Hₜ = GNN(Gₜ)       zₜ = POOL(Hₜ)</a:t>
            </a:r>
          </a:p>
        </p:txBody>
      </p:sp>
      <p:sp>
        <p:nvSpPr>
          <p:cNvPr id="6" name="equation-1">
            <a:extLst xmlns:a="http://schemas.openxmlformats.org/drawingml/2006/main">
              <a:ext uri="{FF2B5EF4-FFF2-40B4-BE49-F238E27FC236}">
                <a16:creationId xmlns:a16="http://schemas.microsoft.com/office/drawing/2014/main" id="{D284835F-4578-4177-AC1E-BE701220374A}"/>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uₜ = [xₜ || zₜ]</a:t>
            </a:r>
          </a:p>
        </p:txBody>
      </p:sp>
      <p:sp>
        <p:nvSpPr>
          <p:cNvPr id="7" name="equation-2">
            <a:extLst xmlns:a="http://schemas.openxmlformats.org/drawingml/2006/main">
              <a:ext uri="{FF2B5EF4-FFF2-40B4-BE49-F238E27FC236}">
                <a16:creationId xmlns:a16="http://schemas.microsoft.com/office/drawing/2014/main" id="{67B0E8D5-A620-4EFE-9E48-2F23C14F86DF}"/>
              </a:ext>
            </a:extLst>
          </p:cNvPr>
          <p:cNvSpPr>
            <a:spLocks xmlns:a="http://schemas.openxmlformats.org/drawingml/2006/main" noGrp="1"/>
          </p:cNvSpPr>
          <p:nvPr/>
        </p:nvSpPr>
        <p:spPr>
          <a:xfrm xmlns:a="http://schemas.openxmlformats.org/drawingml/2006/main">
            <a:off x="685800" y="2857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ŷ[t+H] = HEAD(LSTM([u[t-L+1], ..., u[t]]))</a:t>
            </a:r>
          </a:p>
        </p:txBody>
      </p:sp>
      <p:sp>
        <p:nvSpPr>
          <p:cNvPr id="8" name="label-0">
            <a:extLst xmlns:a="http://schemas.openxmlformats.org/drawingml/2006/main">
              <a:ext uri="{FF2B5EF4-FFF2-40B4-BE49-F238E27FC236}">
                <a16:creationId xmlns:a16="http://schemas.microsoft.com/office/drawing/2014/main" id="{8846D300-C836-4F5D-A4AC-326CAB7B20B6}"/>
              </a:ext>
            </a:extLst>
          </p:cNvPr>
          <p:cNvSpPr>
            <a:spLocks xmlns:a="http://schemas.openxmlformats.org/drawingml/2006/main" noGrp="1"/>
          </p:cNvSpPr>
          <p:nvPr/>
        </p:nvSpPr>
        <p:spPr>
          <a:xfrm xmlns:a="http://schemas.openxmlformats.org/drawingml/2006/main">
            <a:off x="6096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Pooling</a:t>
            </a:r>
          </a:p>
        </p:txBody>
      </p:sp>
      <p:sp>
        <p:nvSpPr>
          <p:cNvPr id="9" name="body-0">
            <a:extLst xmlns:a="http://schemas.openxmlformats.org/drawingml/2006/main">
              <a:ext uri="{FF2B5EF4-FFF2-40B4-BE49-F238E27FC236}">
                <a16:creationId xmlns:a16="http://schemas.microsoft.com/office/drawing/2014/main" id="{6CD5BCC0-7B47-4A05-9E30-C082716FB7AE}"/>
              </a:ext>
            </a:extLst>
          </p:cNvPr>
          <p:cNvSpPr>
            <a:spLocks xmlns:a="http://schemas.openxmlformats.org/drawingml/2006/main" noGrp="1"/>
          </p:cNvSpPr>
          <p:nvPr/>
        </p:nvSpPr>
        <p:spPr>
          <a:xfrm xmlns:a="http://schemas.openxmlformats.org/drawingml/2006/main">
            <a:off x="6096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Convierte las representaciones de muchos nodos en un vector de tamaño fijo por período.</a:t>
            </a:r>
          </a:p>
        </p:txBody>
      </p:sp>
      <p:sp>
        <p:nvSpPr>
          <p:cNvPr id="10" name="label-1">
            <a:extLst xmlns:a="http://schemas.openxmlformats.org/drawingml/2006/main">
              <a:ext uri="{FF2B5EF4-FFF2-40B4-BE49-F238E27FC236}">
                <a16:creationId xmlns:a16="http://schemas.microsoft.com/office/drawing/2014/main" id="{9FF59E7B-5021-45B2-90E0-F129AE248201}"/>
              </a:ext>
            </a:extLst>
          </p:cNvPr>
          <p:cNvSpPr>
            <a:spLocks xmlns:a="http://schemas.openxmlformats.org/drawingml/2006/main" noGrp="1"/>
          </p:cNvSpPr>
          <p:nvPr/>
        </p:nvSpPr>
        <p:spPr>
          <a:xfrm xmlns:a="http://schemas.openxmlformats.org/drawingml/2006/main">
            <a:off x="62865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Fusión</a:t>
            </a:r>
          </a:p>
        </p:txBody>
      </p:sp>
      <p:sp>
        <p:nvSpPr>
          <p:cNvPr id="11" name="body-1">
            <a:extLst xmlns:a="http://schemas.openxmlformats.org/drawingml/2006/main">
              <a:ext uri="{FF2B5EF4-FFF2-40B4-BE49-F238E27FC236}">
                <a16:creationId xmlns:a16="http://schemas.microsoft.com/office/drawing/2014/main" id="{0A712EDD-4E36-40E2-B936-A6963A9CD873}"/>
              </a:ext>
            </a:extLst>
          </p:cNvPr>
          <p:cNvSpPr>
            <a:spLocks xmlns:a="http://schemas.openxmlformats.org/drawingml/2006/main" noGrp="1"/>
          </p:cNvSpPr>
          <p:nvPr/>
        </p:nvSpPr>
        <p:spPr>
          <a:xfrm xmlns:a="http://schemas.openxmlformats.org/drawingml/2006/main">
            <a:off x="62865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Concatena variables de mercado x con la representación del grafo z antes del modelo temporal.</a:t>
            </a:r>
          </a:p>
        </p:txBody>
      </p:sp>
    </p:spTree>
    <p:extLst>
      <p:ext uri="{BB962C8B-B14F-4D97-AF65-F5344CB8AC3E}">
        <p14:creationId xmlns:p14="http://schemas.microsoft.com/office/powerpoint/2010/main" val="859967886"/>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9792F5CB-2651-424A-99CC-CC4831FCD964}"/>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41649F92-DC28-4E47-A169-6FB76799837C}"/>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Predicción global o por nodo</a:t>
            </a:r>
          </a:p>
        </p:txBody>
      </p:sp>
      <p:sp>
        <p:nvSpPr>
          <p:cNvPr id="3" name="author">
            <a:extLst xmlns:a="http://schemas.openxmlformats.org/drawingml/2006/main">
              <a:ext uri="{FF2B5EF4-FFF2-40B4-BE49-F238E27FC236}">
                <a16:creationId xmlns:a16="http://schemas.microsoft.com/office/drawing/2014/main" id="{5E33571F-9A20-4981-BC07-DCFA034CF631}"/>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CA81739F-6C88-4AF7-863C-B01E0D11A5C6}"/>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04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Diseño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Representación temporal</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Condición</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Global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Vector agregado por snapshot</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Pooling y escala del tamaño de red</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Por nodo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Secuencia del embedding del mismo nodo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Identificadores persistentes y máscara de ausencia</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Entrenamiento separado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Encoder y modelo temporal por etapas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Representación congelada dentro del fold</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Entrenamiento conjunto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GNN y LSTM reciben una pérdida común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Presupuesto y disponibilidad controlados</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2107702496"/>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unit">
            <a:extLst xmlns:a="http://schemas.openxmlformats.org/drawingml/2006/main">
              <a:ext uri="{FF2B5EF4-FFF2-40B4-BE49-F238E27FC236}">
                <a16:creationId xmlns:a16="http://schemas.microsoft.com/office/drawing/2014/main" id="{C65EA3EC-543D-4576-97FB-54B8554AC42E}"/>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CCCED9D4-B59E-4E40-BF98-270F6900B1DF}"/>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Unión por disponibilidad</a:t>
            </a:r>
          </a:p>
        </p:txBody>
      </p:sp>
      <p:sp>
        <p:nvSpPr>
          <p:cNvPr id="3" name="author">
            <a:extLst xmlns:a="http://schemas.openxmlformats.org/drawingml/2006/main">
              <a:ext uri="{FF2B5EF4-FFF2-40B4-BE49-F238E27FC236}">
                <a16:creationId xmlns:a16="http://schemas.microsoft.com/office/drawing/2014/main" id="{5491BB03-7252-4C29-835E-A337A68D7DE0}"/>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64BDE778-CF7E-4B02-BA5A-AD771B9ABCDF}"/>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05 / 16</a:t>
            </a:r>
          </a:p>
        </p:txBody>
      </p:sp>
      <p:graphicFrame>
        <p:nvGraphicFramePr>
          <p:cNvPr id="11" name=""/>
          <p:cNvGraphicFramePr/>
          <p:nvPr/>
        </p:nvGraphicFramePr>
        <p:xfrm>
          <a:off xmlns:a="http://schemas.openxmlformats.org/drawingml/2006/main" x="609600" y="1771650"/>
          <a:ext xmlns:a="http://schemas.openxmlformats.org/drawingml/2006/main" cx="10972800" cy="3762375"/>
        </p:xfrm>
        <a:graphic xmlns:a="http://schemas.openxmlformats.org/drawingml/2006/main">
          <a:graphicData uri="http://schemas.openxmlformats.org/drawingml/2006/table">
            <a:tbl>
              <a:tblPr firstRow="1" bandRow="0"/>
              <a:tblGrid>
                <a:gridCol w="2504661"/>
                <a:gridCol w="3578087"/>
                <a:gridCol w="4890052"/>
              </a:tblGrid>
              <a:tr h="752475">
                <a:tc>
                  <a:txBody>
                    <a:bodyPr>
                      <a:noAutofit/>
                    </a:bodyPr>
                    <a:lstStyle/>
                    <a:p>
                      <a:r>
                        <a:rPr sz="1575" b="1">
                          <a:solidFill>
                            <a:srgbClr val="FFFFFF"/>
                          </a:solidFill>
                          <a:latin typeface="DejaVu Sans"/>
                          <a:ea typeface="DejaVu Sans"/>
                          <a:cs typeface="DejaVu Sans"/>
                        </a:rPr>
                        <a:t>Campo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Ejemplo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Uso</a:t>
                      </a:r>
                    </a:p>
                  </a:txBody>
                  <a:tcPr marL="114300" marR="114300" marT="76200" marB="76200" anchor="ctr">
                    <a:solidFill>
                      <a:srgbClr val="0B1020"/>
                    </a:solidFill>
                  </a:tcPr>
                </a:tc>
              </a:tr>
              <a:tr h="752475">
                <a:tc>
                  <a:txBody>
                    <a:bodyPr>
                      <a:noAutofit/>
                    </a:bodyPr>
                    <a:lstStyle/>
                    <a:p>
                      <a:r>
                        <a:rPr sz="1688" b="1">
                          <a:solidFill>
                            <a:srgbClr val="172033"/>
                          </a:solidFill>
                          <a:latin typeface="DejaVu Sans"/>
                          <a:ea typeface="DejaVu Sans"/>
                          <a:cs typeface="DejaVu Sans"/>
                        </a:rPr>
                        <a:t>event_time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Instante del bloque o mercado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Fecha del evento</a:t>
                      </a:r>
                    </a:p>
                  </a:txBody>
                  <a:tcPr marL="114300" marR="114300" marT="76200" marB="76200" anchor="ctr">
                    <a:solidFill>
                      <a:srgbClr val="FFFFFF"/>
                    </a:solidFill>
                  </a:tcPr>
                </a:tc>
              </a:tr>
              <a:tr h="752475">
                <a:tc>
                  <a:txBody>
                    <a:bodyPr>
                      <a:noAutofit/>
                    </a:bodyPr>
                    <a:lstStyle/>
                    <a:p>
                      <a:r>
                        <a:rPr sz="1688" b="1">
                          <a:solidFill>
                            <a:srgbClr val="172033"/>
                          </a:solidFill>
                          <a:latin typeface="DejaVu Sans"/>
                          <a:ea typeface="DejaVu Sans"/>
                          <a:cs typeface="DejaVu Sans"/>
                        </a:rPr>
                        <a:t>available_at</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Momento de publicación o extracción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Información accesible al decidir</a:t>
                      </a:r>
                    </a:p>
                  </a:txBody>
                  <a:tcPr marL="114300" marR="114300" marT="76200" marB="76200" anchor="ctr">
                    <a:solidFill>
                      <a:srgbClr val="EEF2F7"/>
                    </a:solidFill>
                  </a:tcPr>
                </a:tc>
              </a:tr>
              <a:tr h="752475">
                <a:tc>
                  <a:txBody>
                    <a:bodyPr>
                      <a:noAutofit/>
                    </a:bodyPr>
                    <a:lstStyle/>
                    <a:p>
                      <a:r>
                        <a:rPr sz="1688" b="1">
                          <a:solidFill>
                            <a:srgbClr val="172033"/>
                          </a:solidFill>
                          <a:latin typeface="DejaVu Sans"/>
                          <a:ea typeface="DejaVu Sans"/>
                          <a:cs typeface="DejaVu Sans"/>
                        </a:rPr>
                        <a:t>decision_time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Cierre de la ventana de entrada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Corte de cada ejemplo</a:t>
                      </a:r>
                    </a:p>
                  </a:txBody>
                  <a:tcPr marL="114300" marR="114300" marT="76200" marB="76200" anchor="ctr">
                    <a:solidFill>
                      <a:srgbClr val="FFFFFF"/>
                    </a:solidFill>
                  </a:tcPr>
                </a:tc>
              </a:tr>
              <a:tr h="752475">
                <a:tc>
                  <a:txBody>
                    <a:bodyPr>
                      <a:noAutofit/>
                    </a:bodyPr>
                    <a:lstStyle/>
                    <a:p>
                      <a:r>
                        <a:rPr sz="1688" b="1">
                          <a:solidFill>
                            <a:srgbClr val="172033"/>
                          </a:solidFill>
                          <a:latin typeface="DejaVu Sans"/>
                          <a:ea typeface="DejaVu Sans"/>
                          <a:cs typeface="DejaVu Sans"/>
                        </a:rPr>
                        <a:t>target_end</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Fin del horizonte realizado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Maduración de la etiqueta</a:t>
                      </a:r>
                    </a:p>
                  </a:txBody>
                  <a:tcPr marL="114300" marR="114300" marT="76200" marB="76200" anchor="ctr">
                    <a:solidFill>
                      <a:srgbClr val="EEF2F7"/>
                    </a:solidFill>
                  </a:tcPr>
                </a:tc>
              </a:tr>
            </a:tbl>
          </a:graphicData>
        </a:graphic>
      </p:graphicFrame>
      <p:sp>
        <p:nvSpPr>
          <p:cNvPr id="6" name="caption">
            <a:extLst xmlns:a="http://schemas.openxmlformats.org/drawingml/2006/main">
              <a:ext uri="{FF2B5EF4-FFF2-40B4-BE49-F238E27FC236}">
                <a16:creationId xmlns:a16="http://schemas.microsoft.com/office/drawing/2014/main" id="{081A6A9D-F5D9-4DB6-B3BC-DE00CFFCB329}"/>
              </a:ext>
            </a:extLst>
          </p:cNvPr>
          <p:cNvSpPr>
            <a:spLocks xmlns:a="http://schemas.openxmlformats.org/drawingml/2006/main" noGrp="1"/>
          </p:cNvSpPr>
          <p:nvPr/>
        </p:nvSpPr>
        <p:spPr>
          <a:xfrm xmlns:a="http://schemas.openxmlformats.org/drawingml/2006/main">
            <a:off x="609600" y="57340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A85605"/>
                </a:solidFill>
                <a:latin typeface="DejaVu Sans"/>
                <a:ea typeface="DejaVu Sans"/>
                <a:cs typeface="DejaVu Sans"/>
              </a:defRPr>
            </a:pPr>
            <a:r>
              <a:rPr sz="1650" b="1">
                <a:solidFill>
                  <a:srgbClr val="A85605"/>
                </a:solidFill>
                <a:latin typeface="DejaVu Sans"/>
                <a:ea typeface="DejaVu Sans"/>
                <a:cs typeface="DejaVu Sans"/>
              </a:rPr>
              <a:t>Una entrada cumple available_at ≤ decision_time. Una etiqueta de train cumple target_end ≤ corte.</a:t>
            </a:r>
          </a:p>
        </p:txBody>
      </p:sp>
    </p:spTree>
    <p:extLst>
      <p:ext uri="{BB962C8B-B14F-4D97-AF65-F5344CB8AC3E}">
        <p14:creationId xmlns:p14="http://schemas.microsoft.com/office/powerpoint/2010/main" val="410060972"/>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B26186C6-81BC-4013-A45C-2B8C9B49F2D7}"/>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0EC370DB-D4B0-4C76-8BB2-2CEFCDF0299B}"/>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Ablaciones del modelo híbrido</a:t>
            </a:r>
          </a:p>
        </p:txBody>
      </p:sp>
      <p:sp>
        <p:nvSpPr>
          <p:cNvPr id="3" name="author">
            <a:extLst xmlns:a="http://schemas.openxmlformats.org/drawingml/2006/main">
              <a:ext uri="{FF2B5EF4-FFF2-40B4-BE49-F238E27FC236}">
                <a16:creationId xmlns:a16="http://schemas.microsoft.com/office/drawing/2014/main" id="{EC6F207D-AF70-4941-8A42-E64EAF170669}"/>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47892760-4CF7-4D93-BB2C-D32FA71E1812}"/>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06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Experimento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Entradas</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Pregunta</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Baseline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Variables mínimas o referencia constante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¿Se supera la referencia?</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Modelo temporal</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Mercado y actividad on-chain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¿Aporta memoria?</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Temporal con métricas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Variables y agregados clásicos de grafo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¿Aporta estructura resumida?</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Temporal con GNN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Variables y embeddings causales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¿Aporta representación aprendida?</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125019589"/>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B0D014F9-2354-488D-A2AE-F65DA935D60B}"/>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1AAE65D3-E3E6-443A-B916-C45BD6D4DA18}"/>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Productos reproducibles del proyecto</a:t>
            </a:r>
          </a:p>
        </p:txBody>
      </p:sp>
      <p:sp>
        <p:nvSpPr>
          <p:cNvPr id="3" name="author">
            <a:extLst xmlns:a="http://schemas.openxmlformats.org/drawingml/2006/main">
              <a:ext uri="{FF2B5EF4-FFF2-40B4-BE49-F238E27FC236}">
                <a16:creationId xmlns:a16="http://schemas.microsoft.com/office/drawing/2014/main" id="{4336A9FD-B57A-45AB-B5D9-0860A1EFE6BB}"/>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8080F11C-4853-414E-8BE4-3BB02041C7B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07 / 16</a:t>
            </a:r>
          </a:p>
        </p:txBody>
      </p:sp>
      <p:sp>
        <p:nvSpPr>
          <p:cNvPr id="5" name="label-0">
            <a:extLst xmlns:a="http://schemas.openxmlformats.org/drawingml/2006/main">
              <a:ext uri="{FF2B5EF4-FFF2-40B4-BE49-F238E27FC236}">
                <a16:creationId xmlns:a16="http://schemas.microsoft.com/office/drawing/2014/main" id="{AF5560FC-331D-4E27-9B39-B2AAAECC5A3E}"/>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Datos y metadatos</a:t>
            </a:r>
          </a:p>
        </p:txBody>
      </p:sp>
      <p:sp>
        <p:nvSpPr>
          <p:cNvPr id="6" name="body-0">
            <a:extLst xmlns:a="http://schemas.openxmlformats.org/drawingml/2006/main">
              <a:ext uri="{FF2B5EF4-FFF2-40B4-BE49-F238E27FC236}">
                <a16:creationId xmlns:a16="http://schemas.microsoft.com/office/drawing/2014/main" id="{2D407728-2044-4037-89F9-4558FD94D06A}"/>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Archivo original, tabla preparada, esquema, timestamps, cobertura y checksum.</a:t>
            </a:r>
          </a:p>
        </p:txBody>
      </p:sp>
      <p:sp>
        <p:nvSpPr>
          <p:cNvPr id="7" name="label-1">
            <a:extLst xmlns:a="http://schemas.openxmlformats.org/drawingml/2006/main">
              <a:ext uri="{FF2B5EF4-FFF2-40B4-BE49-F238E27FC236}">
                <a16:creationId xmlns:a16="http://schemas.microsoft.com/office/drawing/2014/main" id="{13DB11BB-8341-4F05-BF1D-0900583968DA}"/>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Configuración y predicciones</a:t>
            </a:r>
          </a:p>
        </p:txBody>
      </p:sp>
      <p:sp>
        <p:nvSpPr>
          <p:cNvPr id="8" name="body-1">
            <a:extLst xmlns:a="http://schemas.openxmlformats.org/drawingml/2006/main">
              <a:ext uri="{FF2B5EF4-FFF2-40B4-BE49-F238E27FC236}">
                <a16:creationId xmlns:a16="http://schemas.microsoft.com/office/drawing/2014/main" id="{9321083A-D98F-46EB-A4B1-49272A3ED386}"/>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Versiones, semillas, cortes, hiperparámetros y salidas fechadas por modelo.</a:t>
            </a:r>
          </a:p>
        </p:txBody>
      </p:sp>
      <p:sp>
        <p:nvSpPr>
          <p:cNvPr id="9" name="label-2">
            <a:extLst xmlns:a="http://schemas.openxmlformats.org/drawingml/2006/main">
              <a:ext uri="{FF2B5EF4-FFF2-40B4-BE49-F238E27FC236}">
                <a16:creationId xmlns:a16="http://schemas.microsoft.com/office/drawing/2014/main" id="{7F641B38-63DB-4F08-9AB3-9645E4362C3B}"/>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Interpretación</a:t>
            </a:r>
          </a:p>
        </p:txBody>
      </p:sp>
      <p:sp>
        <p:nvSpPr>
          <p:cNvPr id="10" name="body-2">
            <a:extLst xmlns:a="http://schemas.openxmlformats.org/drawingml/2006/main">
              <a:ext uri="{FF2B5EF4-FFF2-40B4-BE49-F238E27FC236}">
                <a16:creationId xmlns:a16="http://schemas.microsoft.com/office/drawing/2014/main" id="{B4C9A526-0B68-4445-B1EA-5F05DBE2E0C1}"/>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Métricas por fold, errores, ablaciones y explicaciones vinculadas con el experimento.</a:t>
            </a:r>
          </a:p>
        </p:txBody>
      </p:sp>
    </p:spTree>
    <p:extLst>
      <p:ext uri="{BB962C8B-B14F-4D97-AF65-F5344CB8AC3E}">
        <p14:creationId xmlns:p14="http://schemas.microsoft.com/office/powerpoint/2010/main" val="1620539415"/>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3" name="unit">
            <a:extLst xmlns:a="http://schemas.openxmlformats.org/drawingml/2006/main">
              <a:ext uri="{FF2B5EF4-FFF2-40B4-BE49-F238E27FC236}">
                <a16:creationId xmlns:a16="http://schemas.microsoft.com/office/drawing/2014/main" id="{38717E35-9914-4DF7-BDBD-477754919FBA}"/>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EECA9C9F-8E6A-4548-919C-F44DBB90ABF2}"/>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SHAP: explicación aditiva</a:t>
            </a:r>
          </a:p>
        </p:txBody>
      </p:sp>
      <p:sp>
        <p:nvSpPr>
          <p:cNvPr id="3" name="author">
            <a:extLst xmlns:a="http://schemas.openxmlformats.org/drawingml/2006/main">
              <a:ext uri="{FF2B5EF4-FFF2-40B4-BE49-F238E27FC236}">
                <a16:creationId xmlns:a16="http://schemas.microsoft.com/office/drawing/2014/main" id="{85EE1AA0-6AE0-4094-BA01-1F43F9F0BF45}"/>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DE17A24E-7B01-47F2-B46B-E944E0DEC6CC}"/>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08 / 16</a:t>
            </a:r>
          </a:p>
        </p:txBody>
      </p:sp>
      <p:sp>
        <p:nvSpPr>
          <p:cNvPr id="5" name="equation-0">
            <a:extLst xmlns:a="http://schemas.openxmlformats.org/drawingml/2006/main">
              <a:ext uri="{FF2B5EF4-FFF2-40B4-BE49-F238E27FC236}">
                <a16:creationId xmlns:a16="http://schemas.microsoft.com/office/drawing/2014/main" id="{4B7ABBFA-3C7C-43F8-976E-B4985703351B}"/>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f(x) = valor base + Σⱼ φⱼ</a:t>
            </a:r>
          </a:p>
        </p:txBody>
      </p:sp>
      <p:sp>
        <p:nvSpPr>
          <p:cNvPr id="6" name="equation-1">
            <a:extLst xmlns:a="http://schemas.openxmlformats.org/drawingml/2006/main">
              <a:ext uri="{FF2B5EF4-FFF2-40B4-BE49-F238E27FC236}">
                <a16:creationId xmlns:a16="http://schemas.microsoft.com/office/drawing/2014/main" id="{30120188-1770-4AC3-9BC9-D493399C800D}"/>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Ejemplo: 0,10 + 0,20 - 0,10 = 0,20 puntos porcentuales</a:t>
            </a:r>
          </a:p>
        </p:txBody>
      </p:sp>
      <p:sp>
        <p:nvSpPr>
          <p:cNvPr id="7" name="label-0">
            <a:extLst xmlns:a="http://schemas.openxmlformats.org/drawingml/2006/main">
              <a:ext uri="{FF2B5EF4-FFF2-40B4-BE49-F238E27FC236}">
                <a16:creationId xmlns:a16="http://schemas.microsoft.com/office/drawing/2014/main" id="{2B237E53-24C0-4F26-BDE2-E50D2CD64E05}"/>
              </a:ext>
            </a:extLst>
          </p:cNvPr>
          <p:cNvSpPr>
            <a:spLocks xmlns:a="http://schemas.openxmlformats.org/drawingml/2006/main" noGrp="1"/>
          </p:cNvSpPr>
          <p:nvPr/>
        </p:nvSpPr>
        <p:spPr>
          <a:xfrm xmlns:a="http://schemas.openxmlformats.org/drawingml/2006/main">
            <a:off x="609600" y="3086100"/>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Atribuciones φ</a:t>
            </a:r>
          </a:p>
        </p:txBody>
      </p:sp>
      <p:sp>
        <p:nvSpPr>
          <p:cNvPr id="8" name="body-0">
            <a:extLst xmlns:a="http://schemas.openxmlformats.org/drawingml/2006/main">
              <a:ext uri="{FF2B5EF4-FFF2-40B4-BE49-F238E27FC236}">
                <a16:creationId xmlns:a16="http://schemas.microsoft.com/office/drawing/2014/main" id="{B846DD89-4E4A-422E-82A6-828949EC4FF9}"/>
              </a:ext>
            </a:extLst>
          </p:cNvPr>
          <p:cNvSpPr>
            <a:spLocks xmlns:a="http://schemas.openxmlformats.org/drawingml/2006/main" noGrp="1"/>
          </p:cNvSpPr>
          <p:nvPr/>
        </p:nvSpPr>
        <p:spPr>
          <a:xfrm xmlns:a="http://schemas.openxmlformats.org/drawingml/2006/main">
            <a:off x="609600" y="3790950"/>
            <a:ext cx="34036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Describen contribuciones del modelo respecto de un valor de referencia y un procedimiento definidos.</a:t>
            </a:r>
          </a:p>
        </p:txBody>
      </p:sp>
      <p:sp>
        <p:nvSpPr>
          <p:cNvPr id="9" name="label-1">
            <a:extLst xmlns:a="http://schemas.openxmlformats.org/drawingml/2006/main">
              <a:ext uri="{FF2B5EF4-FFF2-40B4-BE49-F238E27FC236}">
                <a16:creationId xmlns:a16="http://schemas.microsoft.com/office/drawing/2014/main" id="{5988AF4F-4C87-40C5-AC18-108BAD36FE31}"/>
              </a:ext>
            </a:extLst>
          </p:cNvPr>
          <p:cNvSpPr>
            <a:spLocks xmlns:a="http://schemas.openxmlformats.org/drawingml/2006/main" noGrp="1"/>
          </p:cNvSpPr>
          <p:nvPr/>
        </p:nvSpPr>
        <p:spPr>
          <a:xfrm xmlns:a="http://schemas.openxmlformats.org/drawingml/2006/main">
            <a:off x="4394200" y="3086100"/>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Contexto</a:t>
            </a:r>
          </a:p>
        </p:txBody>
      </p:sp>
      <p:sp>
        <p:nvSpPr>
          <p:cNvPr id="10" name="body-1">
            <a:extLst xmlns:a="http://schemas.openxmlformats.org/drawingml/2006/main">
              <a:ext uri="{FF2B5EF4-FFF2-40B4-BE49-F238E27FC236}">
                <a16:creationId xmlns:a16="http://schemas.microsoft.com/office/drawing/2014/main" id="{FA836BD4-2704-41D0-8DEB-8ABCEBC771FF}"/>
              </a:ext>
            </a:extLst>
          </p:cNvPr>
          <p:cNvSpPr>
            <a:spLocks xmlns:a="http://schemas.openxmlformats.org/drawingml/2006/main" noGrp="1"/>
          </p:cNvSpPr>
          <p:nvPr/>
        </p:nvSpPr>
        <p:spPr>
          <a:xfrm xmlns:a="http://schemas.openxmlformats.org/drawingml/2006/main">
            <a:off x="4394200" y="3790950"/>
            <a:ext cx="34036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La selección del background y la correlación entre variables afectan la interpretación.</a:t>
            </a:r>
          </a:p>
        </p:txBody>
      </p:sp>
      <p:sp>
        <p:nvSpPr>
          <p:cNvPr id="11" name="label-2">
            <a:extLst xmlns:a="http://schemas.openxmlformats.org/drawingml/2006/main">
              <a:ext uri="{FF2B5EF4-FFF2-40B4-BE49-F238E27FC236}">
                <a16:creationId xmlns:a16="http://schemas.microsoft.com/office/drawing/2014/main" id="{3DC8AD3B-DA37-4BC0-9B71-682C424E9237}"/>
              </a:ext>
            </a:extLst>
          </p:cNvPr>
          <p:cNvSpPr>
            <a:spLocks xmlns:a="http://schemas.openxmlformats.org/drawingml/2006/main" noGrp="1"/>
          </p:cNvSpPr>
          <p:nvPr/>
        </p:nvSpPr>
        <p:spPr>
          <a:xfrm xmlns:a="http://schemas.openxmlformats.org/drawingml/2006/main">
            <a:off x="8178800" y="3086100"/>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Comparación BTC/ETH</a:t>
            </a:r>
          </a:p>
        </p:txBody>
      </p:sp>
      <p:sp>
        <p:nvSpPr>
          <p:cNvPr id="12" name="body-2">
            <a:extLst xmlns:a="http://schemas.openxmlformats.org/drawingml/2006/main">
              <a:ext uri="{FF2B5EF4-FFF2-40B4-BE49-F238E27FC236}">
                <a16:creationId xmlns:a16="http://schemas.microsoft.com/office/drawing/2014/main" id="{28347E25-FCE3-4DA1-BB7D-A78E75509F13}"/>
              </a:ext>
            </a:extLst>
          </p:cNvPr>
          <p:cNvSpPr>
            <a:spLocks xmlns:a="http://schemas.openxmlformats.org/drawingml/2006/main" noGrp="1"/>
          </p:cNvSpPr>
          <p:nvPr/>
        </p:nvSpPr>
        <p:spPr>
          <a:xfrm xmlns:a="http://schemas.openxmlformats.org/drawingml/2006/main">
            <a:off x="8178800" y="3790950"/>
            <a:ext cx="34036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Utilizar mismo objetivo, unidades y protocolo de explicación.</a:t>
            </a:r>
          </a:p>
        </p:txBody>
      </p:sp>
    </p:spTree>
    <p:extLst>
      <p:ext uri="{BB962C8B-B14F-4D97-AF65-F5344CB8AC3E}">
        <p14:creationId xmlns:p14="http://schemas.microsoft.com/office/powerpoint/2010/main" val="172334105"/>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5235832C-FE51-4188-8AFA-FEDF0A2928FF}"/>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23BF539F-4F05-4AAF-987B-B88FED5B87B8}"/>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Regímenes y concept drift</a:t>
            </a:r>
          </a:p>
        </p:txBody>
      </p:sp>
      <p:sp>
        <p:nvSpPr>
          <p:cNvPr id="3" name="author">
            <a:extLst xmlns:a="http://schemas.openxmlformats.org/drawingml/2006/main">
              <a:ext uri="{FF2B5EF4-FFF2-40B4-BE49-F238E27FC236}">
                <a16:creationId xmlns:a16="http://schemas.microsoft.com/office/drawing/2014/main" id="{0B724222-DA4B-4839-AD7A-0C00459A4C98}"/>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13862F32-FFE8-4980-AEE1-33D4BE82ADE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09 / 16</a:t>
            </a:r>
          </a:p>
        </p:txBody>
      </p:sp>
      <p:sp>
        <p:nvSpPr>
          <p:cNvPr id="5" name="label-0">
            <a:extLst xmlns:a="http://schemas.openxmlformats.org/drawingml/2006/main">
              <a:ext uri="{FF2B5EF4-FFF2-40B4-BE49-F238E27FC236}">
                <a16:creationId xmlns:a16="http://schemas.microsoft.com/office/drawing/2014/main" id="{05CCD5B8-0EBC-452D-A1BF-FB4EDD832EE4}"/>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Régimen observable</a:t>
            </a:r>
          </a:p>
        </p:txBody>
      </p:sp>
      <p:sp>
        <p:nvSpPr>
          <p:cNvPr id="6" name="body-0">
            <a:extLst xmlns:a="http://schemas.openxmlformats.org/drawingml/2006/main">
              <a:ext uri="{FF2B5EF4-FFF2-40B4-BE49-F238E27FC236}">
                <a16:creationId xmlns:a16="http://schemas.microsoft.com/office/drawing/2014/main" id="{20F5AF11-A65A-4060-A2AD-D226114BC8E2}"/>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Definir estados con reglas disponibles al momento de decisión, o distinguir una descripción retrospectiva.</a:t>
            </a:r>
          </a:p>
        </p:txBody>
      </p:sp>
      <p:sp>
        <p:nvSpPr>
          <p:cNvPr id="7" name="label-1">
            <a:extLst xmlns:a="http://schemas.openxmlformats.org/drawingml/2006/main">
              <a:ext uri="{FF2B5EF4-FFF2-40B4-BE49-F238E27FC236}">
                <a16:creationId xmlns:a16="http://schemas.microsoft.com/office/drawing/2014/main" id="{BD06598F-E093-46A4-A3CC-5043A2240555}"/>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Cambios del dato</a:t>
            </a:r>
          </a:p>
        </p:txBody>
      </p:sp>
      <p:sp>
        <p:nvSpPr>
          <p:cNvPr id="8" name="body-1">
            <a:extLst xmlns:a="http://schemas.openxmlformats.org/drawingml/2006/main">
              <a:ext uri="{FF2B5EF4-FFF2-40B4-BE49-F238E27FC236}">
                <a16:creationId xmlns:a16="http://schemas.microsoft.com/office/drawing/2014/main" id="{92FAA905-1348-468C-ADB9-220BADF7102A}"/>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Analizar distribución de entradas, prevalencia de etiquetas y relación entre X e y.</a:t>
            </a:r>
          </a:p>
        </p:txBody>
      </p:sp>
      <p:sp>
        <p:nvSpPr>
          <p:cNvPr id="9" name="label-2">
            <a:extLst xmlns:a="http://schemas.openxmlformats.org/drawingml/2006/main">
              <a:ext uri="{FF2B5EF4-FFF2-40B4-BE49-F238E27FC236}">
                <a16:creationId xmlns:a16="http://schemas.microsoft.com/office/drawing/2014/main" id="{640F8177-3D7A-4CE8-A9D7-77945B055832}"/>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Seguimiento</a:t>
            </a:r>
          </a:p>
        </p:txBody>
      </p:sp>
      <p:sp>
        <p:nvSpPr>
          <p:cNvPr id="10" name="body-2">
            <a:extLst xmlns:a="http://schemas.openxmlformats.org/drawingml/2006/main">
              <a:ext uri="{FF2B5EF4-FFF2-40B4-BE49-F238E27FC236}">
                <a16:creationId xmlns:a16="http://schemas.microsoft.com/office/drawing/2014/main" id="{F29D8082-4ABB-43A3-9C72-445F02D5991B}"/>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Reportar métricas por período y régimen. Definir cuándo revisar o reentrenar el modelo.</a:t>
            </a:r>
          </a:p>
        </p:txBody>
      </p:sp>
    </p:spTree>
    <p:extLst>
      <p:ext uri="{BB962C8B-B14F-4D97-AF65-F5344CB8AC3E}">
        <p14:creationId xmlns:p14="http://schemas.microsoft.com/office/powerpoint/2010/main" val="24754135"/>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EEE185D4-355F-4A41-9D26-264AF74BAC53}"/>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D07E0E65-E845-4138-AFA8-735D71C3F38E}"/>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Backtesting con ejecución explícita</a:t>
            </a:r>
          </a:p>
        </p:txBody>
      </p:sp>
      <p:sp>
        <p:nvSpPr>
          <p:cNvPr id="3" name="author">
            <a:extLst xmlns:a="http://schemas.openxmlformats.org/drawingml/2006/main">
              <a:ext uri="{FF2B5EF4-FFF2-40B4-BE49-F238E27FC236}">
                <a16:creationId xmlns:a16="http://schemas.microsoft.com/office/drawing/2014/main" id="{7D7067C8-E952-4CBD-ACE7-DC7B6D556353}"/>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FFF9CE3A-9D3B-4F77-8903-5E36EC74FB6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10 / 16</a:t>
            </a:r>
          </a:p>
        </p:txBody>
      </p:sp>
      <p:sp>
        <p:nvSpPr>
          <p:cNvPr id="5" name="equation-0">
            <a:extLst xmlns:a="http://schemas.openxmlformats.org/drawingml/2006/main">
              <a:ext uri="{FF2B5EF4-FFF2-40B4-BE49-F238E27FC236}">
                <a16:creationId xmlns:a16="http://schemas.microsoft.com/office/drawing/2014/main" id="{9B6D1274-0030-48DF-939A-E5E10F94E60D}"/>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Señal al cierre t: posición pₜ para el intervalo t a t+1</a:t>
            </a:r>
          </a:p>
        </p:txBody>
      </p:sp>
      <p:sp>
        <p:nvSpPr>
          <p:cNvPr id="6" name="equation-1">
            <a:extLst xmlns:a="http://schemas.openxmlformats.org/drawingml/2006/main">
              <a:ext uri="{FF2B5EF4-FFF2-40B4-BE49-F238E27FC236}">
                <a16:creationId xmlns:a16="http://schemas.microsoft.com/office/drawing/2014/main" id="{B85DFE3A-D87B-4B11-8202-1224ECD2C6A6}"/>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R netoₜ₊₁ = pₜ R simpleₜ₊₁ - c |pₜ - pₜ₋₁|</a:t>
            </a:r>
          </a:p>
        </p:txBody>
      </p:sp>
      <p:sp>
        <p:nvSpPr>
          <p:cNvPr id="7" name="label-0">
            <a:extLst xmlns:a="http://schemas.openxmlformats.org/drawingml/2006/main">
              <a:ext uri="{FF2B5EF4-FFF2-40B4-BE49-F238E27FC236}">
                <a16:creationId xmlns:a16="http://schemas.microsoft.com/office/drawing/2014/main" id="{BF6471C6-5995-489E-9CA9-B4237550E84D}"/>
              </a:ext>
            </a:extLst>
          </p:cNvPr>
          <p:cNvSpPr>
            <a:spLocks xmlns:a="http://schemas.openxmlformats.org/drawingml/2006/main" noGrp="1"/>
          </p:cNvSpPr>
          <p:nvPr/>
        </p:nvSpPr>
        <p:spPr>
          <a:xfrm xmlns:a="http://schemas.openxmlformats.org/drawingml/2006/main">
            <a:off x="6096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Supuesto del ejemplo</a:t>
            </a:r>
          </a:p>
        </p:txBody>
      </p:sp>
      <p:sp>
        <p:nvSpPr>
          <p:cNvPr id="8" name="body-0">
            <a:extLst xmlns:a="http://schemas.openxmlformats.org/drawingml/2006/main">
              <a:ext uri="{FF2B5EF4-FFF2-40B4-BE49-F238E27FC236}">
                <a16:creationId xmlns:a16="http://schemas.microsoft.com/office/drawing/2014/main" id="{F61E5999-BBAC-47CA-AEA3-A1A97FF76561}"/>
              </a:ext>
            </a:extLst>
          </p:cNvPr>
          <p:cNvSpPr>
            <a:spLocks xmlns:a="http://schemas.openxmlformats.org/drawingml/2006/main" noGrp="1"/>
          </p:cNvSpPr>
          <p:nvPr/>
        </p:nvSpPr>
        <p:spPr>
          <a:xfrm xmlns:a="http://schemas.openxmlformats.org/drawingml/2006/main">
            <a:off x="6096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Una posición sin apalancamiento y un costo proporcional c por cambio de posición.</a:t>
            </a:r>
          </a:p>
        </p:txBody>
      </p:sp>
      <p:sp>
        <p:nvSpPr>
          <p:cNvPr id="9" name="label-1">
            <a:extLst xmlns:a="http://schemas.openxmlformats.org/drawingml/2006/main">
              <a:ext uri="{FF2B5EF4-FFF2-40B4-BE49-F238E27FC236}">
                <a16:creationId xmlns:a16="http://schemas.microsoft.com/office/drawing/2014/main" id="{815043C1-7241-48A7-8A49-2678A0D7FAB6}"/>
              </a:ext>
            </a:extLst>
          </p:cNvPr>
          <p:cNvSpPr>
            <a:spLocks xmlns:a="http://schemas.openxmlformats.org/drawingml/2006/main" noGrp="1"/>
          </p:cNvSpPr>
          <p:nvPr/>
        </p:nvSpPr>
        <p:spPr>
          <a:xfrm xmlns:a="http://schemas.openxmlformats.org/drawingml/2006/main">
            <a:off x="62865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Ejecución</a:t>
            </a:r>
          </a:p>
        </p:txBody>
      </p:sp>
      <p:sp>
        <p:nvSpPr>
          <p:cNvPr id="10" name="body-1">
            <a:extLst xmlns:a="http://schemas.openxmlformats.org/drawingml/2006/main">
              <a:ext uri="{FF2B5EF4-FFF2-40B4-BE49-F238E27FC236}">
                <a16:creationId xmlns:a16="http://schemas.microsoft.com/office/drawing/2014/main" id="{8C6886CA-F73B-4DCB-8725-11C23FF98BF7}"/>
              </a:ext>
            </a:extLst>
          </p:cNvPr>
          <p:cNvSpPr>
            <a:spLocks xmlns:a="http://schemas.openxmlformats.org/drawingml/2006/main" noGrp="1"/>
          </p:cNvSpPr>
          <p:nvPr/>
        </p:nvSpPr>
        <p:spPr>
          <a:xfrm xmlns:a="http://schemas.openxmlformats.org/drawingml/2006/main">
            <a:off x="62865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Definir precio ejecutable, spread, fees, slippage y retrasos según el instrumento.</a:t>
            </a:r>
          </a:p>
        </p:txBody>
      </p:sp>
    </p:spTree>
    <p:extLst>
      <p:ext uri="{BB962C8B-B14F-4D97-AF65-F5344CB8AC3E}">
        <p14:creationId xmlns:p14="http://schemas.microsoft.com/office/powerpoint/2010/main" val="1493380515"/>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78CFB361-2AA1-4BD1-977D-4F2128E2A483}"/>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25EE48AB-5DBA-4F8D-AF45-03B0E181932D}"/>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Evaluación del backtest</a:t>
            </a:r>
          </a:p>
        </p:txBody>
      </p:sp>
      <p:sp>
        <p:nvSpPr>
          <p:cNvPr id="3" name="author">
            <a:extLst xmlns:a="http://schemas.openxmlformats.org/drawingml/2006/main">
              <a:ext uri="{FF2B5EF4-FFF2-40B4-BE49-F238E27FC236}">
                <a16:creationId xmlns:a16="http://schemas.microsoft.com/office/drawing/2014/main" id="{94FEBEFC-AFF3-479B-890B-EDADE34607EE}"/>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A8ADB3EF-E9D0-47CE-8E20-B37534D1E8B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11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Medida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Qué informa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Qué documentar</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Retorno neto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Resultado de la regla aplicada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Costos, exposición y ejecución</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Drawdown máximo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Caída desde un máximo previo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Curva de capital y período</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Sharpe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Retorno excedente por volatilidad</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Frecuencia, referencia y anualización</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Benchmarks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Comparación de estrategias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Buy-and-hold y cash con supuestos iguales</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212402345"/>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719910F9-7EBF-4C60-A84C-FCFDAE352C00}"/>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59A52DEE-6D93-4037-B6F5-224FF3A482FB}"/>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Proyecto integrador</a:t>
            </a:r>
          </a:p>
        </p:txBody>
      </p:sp>
      <p:sp>
        <p:nvSpPr>
          <p:cNvPr id="3" name="author">
            <a:extLst xmlns:a="http://schemas.openxmlformats.org/drawingml/2006/main">
              <a:ext uri="{FF2B5EF4-FFF2-40B4-BE49-F238E27FC236}">
                <a16:creationId xmlns:a16="http://schemas.microsoft.com/office/drawing/2014/main" id="{E1E77CC5-6AA5-45E6-A0A6-D39A567FC5FD}"/>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5CA5F992-C9A1-47CD-ACB9-C10E727616E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12 / 16</a:t>
            </a:r>
          </a:p>
        </p:txBody>
      </p:sp>
      <p:sp>
        <p:nvSpPr>
          <p:cNvPr id="5" name="label-0">
            <a:extLst xmlns:a="http://schemas.openxmlformats.org/drawingml/2006/main">
              <a:ext uri="{FF2B5EF4-FFF2-40B4-BE49-F238E27FC236}">
                <a16:creationId xmlns:a16="http://schemas.microsoft.com/office/drawing/2014/main" id="{A597D88C-67E7-48F2-92B5-B093B6855A92}"/>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Pregunta</a:t>
            </a:r>
          </a:p>
        </p:txBody>
      </p:sp>
      <p:sp>
        <p:nvSpPr>
          <p:cNvPr id="6" name="body-0">
            <a:extLst xmlns:a="http://schemas.openxmlformats.org/drawingml/2006/main">
              <a:ext uri="{FF2B5EF4-FFF2-40B4-BE49-F238E27FC236}">
                <a16:creationId xmlns:a16="http://schemas.microsoft.com/office/drawing/2014/main" id="{C415B247-9DB2-4B39-A74E-CBF585F85428}"/>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¿Qué información mejora la estimación del objetivo elegido en BTC o ETH, bajo un protocolo temporal definido?</a:t>
            </a:r>
          </a:p>
        </p:txBody>
      </p:sp>
      <p:sp>
        <p:nvSpPr>
          <p:cNvPr id="7" name="label-1">
            <a:extLst xmlns:a="http://schemas.openxmlformats.org/drawingml/2006/main">
              <a:ext uri="{FF2B5EF4-FFF2-40B4-BE49-F238E27FC236}">
                <a16:creationId xmlns:a16="http://schemas.microsoft.com/office/drawing/2014/main" id="{7888962A-F1C6-4F58-A800-8F7E8D50797D}"/>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Comparación</a:t>
            </a:r>
          </a:p>
        </p:txBody>
      </p:sp>
      <p:sp>
        <p:nvSpPr>
          <p:cNvPr id="8" name="body-1">
            <a:extLst xmlns:a="http://schemas.openxmlformats.org/drawingml/2006/main">
              <a:ext uri="{FF2B5EF4-FFF2-40B4-BE49-F238E27FC236}">
                <a16:creationId xmlns:a16="http://schemas.microsoft.com/office/drawing/2014/main" id="{5CF75F76-F400-4312-926E-0862BC6524C1}"/>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Dataset documentado, baseline, modelo tabular, modelo temporal y componente de grafo cuando resulte pertinente.</a:t>
            </a:r>
          </a:p>
        </p:txBody>
      </p:sp>
      <p:sp>
        <p:nvSpPr>
          <p:cNvPr id="9" name="label-2">
            <a:extLst xmlns:a="http://schemas.openxmlformats.org/drawingml/2006/main">
              <a:ext uri="{FF2B5EF4-FFF2-40B4-BE49-F238E27FC236}">
                <a16:creationId xmlns:a16="http://schemas.microsoft.com/office/drawing/2014/main" id="{FBC74791-949F-47D5-B2EC-58489C172B82}"/>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Entrega</a:t>
            </a:r>
          </a:p>
        </p:txBody>
      </p:sp>
      <p:sp>
        <p:nvSpPr>
          <p:cNvPr id="10" name="body-2">
            <a:extLst xmlns:a="http://schemas.openxmlformats.org/drawingml/2006/main">
              <a:ext uri="{FF2B5EF4-FFF2-40B4-BE49-F238E27FC236}">
                <a16:creationId xmlns:a16="http://schemas.microsoft.com/office/drawing/2014/main" id="{4E045E51-BB11-4CF6-83E3-443E3B0D4FBE}"/>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Notebook reproducible, predicciones, reporte de resultados, visualización y defensa de decisiones.</a:t>
            </a:r>
          </a:p>
        </p:txBody>
      </p:sp>
    </p:spTree>
    <p:extLst>
      <p:ext uri="{BB962C8B-B14F-4D97-AF65-F5344CB8AC3E}">
        <p14:creationId xmlns:p14="http://schemas.microsoft.com/office/powerpoint/2010/main" val="1313530935"/>
      </p:ext>
    </p:extLst>
  </p:cSld>
</p:sld>
</file>

<file path=ppt/slides/slide1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33876524-D08F-4B1B-ACFE-CC05435E2034}"/>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CED820AE-AAD8-47CF-95AD-D473F61C13FF}"/>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Rúbrica del proyecto</a:t>
            </a:r>
          </a:p>
        </p:txBody>
      </p:sp>
      <p:sp>
        <p:nvSpPr>
          <p:cNvPr id="3" name="author">
            <a:extLst xmlns:a="http://schemas.openxmlformats.org/drawingml/2006/main">
              <a:ext uri="{FF2B5EF4-FFF2-40B4-BE49-F238E27FC236}">
                <a16:creationId xmlns:a16="http://schemas.microsoft.com/office/drawing/2014/main" id="{B4B7CD8F-BFF7-48ED-8687-9D5785B05E90}"/>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0CE8E0FC-1670-41AF-A94C-BDF5CD989CBF}"/>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13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601436">
                <a:tc>
                  <a:txBody>
                    <a:bodyPr>
                      <a:noAutofit/>
                    </a:bodyPr>
                    <a:lstStyle/>
                    <a:p>
                      <a:r>
                        <a:rPr sz="1575" b="1">
                          <a:solidFill>
                            <a:srgbClr val="FFFFFF"/>
                          </a:solidFill>
                          <a:latin typeface="DejaVu Sans"/>
                          <a:ea typeface="DejaVu Sans"/>
                          <a:cs typeface="DejaVu Sans"/>
                        </a:rPr>
                        <a:t>Dimensión</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Peso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Evidencia esperada</a:t>
                      </a:r>
                    </a:p>
                  </a:txBody>
                  <a:tcPr marL="114300" marR="114300" marT="76200" marB="76200" anchor="ctr">
                    <a:solidFill>
                      <a:srgbClr val="0B1020"/>
                    </a:solidFill>
                  </a:tcPr>
                </a:tc>
              </a:tr>
              <a:tr h="601436">
                <a:tc>
                  <a:txBody>
                    <a:bodyPr>
                      <a:noAutofit/>
                    </a:bodyPr>
                    <a:lstStyle/>
                    <a:p>
                      <a:r>
                        <a:rPr sz="1575" b="1">
                          <a:solidFill>
                            <a:srgbClr val="172033"/>
                          </a:solidFill>
                          <a:latin typeface="DejaVu Sans"/>
                          <a:ea typeface="DejaVu Sans"/>
                          <a:cs typeface="DejaVu Sans"/>
                        </a:rPr>
                        <a:t>Formulación</a:t>
                      </a:r>
                    </a:p>
                  </a:txBody>
                  <a:tcPr marL="114300" marR="114300" marT="76200" marB="76200" anchor="ctr">
                    <a:solidFill>
                      <a:srgbClr val="FFFFFF"/>
                    </a:solidFill>
                  </a:tcPr>
                </a:tc>
                <a:tc>
                  <a:txBody>
                    <a:bodyPr>
                      <a:noAutofit/>
                    </a:bodyPr>
                    <a:lstStyle/>
                    <a:p>
                      <a:r>
                        <a:rPr sz="1575" b="0">
                          <a:solidFill>
                            <a:srgbClr val="172033"/>
                          </a:solidFill>
                          <a:latin typeface="DejaVu Sans"/>
                          <a:ea typeface="DejaVu Sans"/>
                          <a:cs typeface="DejaVu Sans"/>
                        </a:rPr>
                        <a:t>20 %</a:t>
                      </a:r>
                    </a:p>
                  </a:txBody>
                  <a:tcPr marL="114300" marR="114300" marT="76200" marB="76200" anchor="ctr">
                    <a:solidFill>
                      <a:srgbClr val="FFFFFF"/>
                    </a:solidFill>
                  </a:tcPr>
                </a:tc>
                <a:tc>
                  <a:txBody>
                    <a:bodyPr>
                      <a:noAutofit/>
                    </a:bodyPr>
                    <a:lstStyle/>
                    <a:p>
                      <a:r>
                        <a:rPr sz="1575" b="0">
                          <a:solidFill>
                            <a:srgbClr val="172033"/>
                          </a:solidFill>
                          <a:latin typeface="DejaVu Sans"/>
                          <a:ea typeface="DejaVu Sans"/>
                          <a:cs typeface="DejaVu Sans"/>
                        </a:rPr>
                        <a:t>Objetivo, unidad, horizonte y baseline</a:t>
                      </a:r>
                    </a:p>
                  </a:txBody>
                  <a:tcPr marL="114300" marR="114300" marT="76200" marB="76200" anchor="ctr">
                    <a:solidFill>
                      <a:srgbClr val="FFFFFF"/>
                    </a:solidFill>
                  </a:tcPr>
                </a:tc>
              </a:tr>
              <a:tr h="601436">
                <a:tc>
                  <a:txBody>
                    <a:bodyPr>
                      <a:noAutofit/>
                    </a:bodyPr>
                    <a:lstStyle/>
                    <a:p>
                      <a:r>
                        <a:rPr sz="1575" b="1">
                          <a:solidFill>
                            <a:srgbClr val="172033"/>
                          </a:solidFill>
                          <a:latin typeface="DejaVu Sans"/>
                          <a:ea typeface="DejaVu Sans"/>
                          <a:cs typeface="DejaVu Sans"/>
                        </a:rPr>
                        <a:t>Datos</a:t>
                      </a:r>
                    </a:p>
                  </a:txBody>
                  <a:tcPr marL="114300" marR="114300" marT="76200" marB="76200" anchor="ctr">
                    <a:solidFill>
                      <a:srgbClr val="EEF2F7"/>
                    </a:solidFill>
                  </a:tcPr>
                </a:tc>
                <a:tc>
                  <a:txBody>
                    <a:bodyPr>
                      <a:noAutofit/>
                    </a:bodyPr>
                    <a:lstStyle/>
                    <a:p>
                      <a:r>
                        <a:rPr sz="1575" b="0">
                          <a:solidFill>
                            <a:srgbClr val="172033"/>
                          </a:solidFill>
                          <a:latin typeface="DejaVu Sans"/>
                          <a:ea typeface="DejaVu Sans"/>
                          <a:cs typeface="DejaVu Sans"/>
                        </a:rPr>
                        <a:t>15 %</a:t>
                      </a:r>
                    </a:p>
                  </a:txBody>
                  <a:tcPr marL="114300" marR="114300" marT="76200" marB="76200" anchor="ctr">
                    <a:solidFill>
                      <a:srgbClr val="EEF2F7"/>
                    </a:solidFill>
                  </a:tcPr>
                </a:tc>
                <a:tc>
                  <a:txBody>
                    <a:bodyPr>
                      <a:noAutofit/>
                    </a:bodyPr>
                    <a:lstStyle/>
                    <a:p>
                      <a:r>
                        <a:rPr sz="1575" b="0">
                          <a:solidFill>
                            <a:srgbClr val="172033"/>
                          </a:solidFill>
                          <a:latin typeface="DejaVu Sans"/>
                          <a:ea typeface="DejaVu Sans"/>
                          <a:cs typeface="DejaVu Sans"/>
                        </a:rPr>
                        <a:t>Calidad, disponibilidad y trazabilidad</a:t>
                      </a:r>
                    </a:p>
                  </a:txBody>
                  <a:tcPr marL="114300" marR="114300" marT="76200" marB="76200" anchor="ctr">
                    <a:solidFill>
                      <a:srgbClr val="EEF2F7"/>
                    </a:solidFill>
                  </a:tcPr>
                </a:tc>
              </a:tr>
              <a:tr h="601436">
                <a:tc>
                  <a:txBody>
                    <a:bodyPr>
                      <a:noAutofit/>
                    </a:bodyPr>
                    <a:lstStyle/>
                    <a:p>
                      <a:r>
                        <a:rPr sz="1575" b="1">
                          <a:solidFill>
                            <a:srgbClr val="172033"/>
                          </a:solidFill>
                          <a:latin typeface="DejaVu Sans"/>
                          <a:ea typeface="DejaVu Sans"/>
                          <a:cs typeface="DejaVu Sans"/>
                        </a:rPr>
                        <a:t>Validación</a:t>
                      </a:r>
                    </a:p>
                  </a:txBody>
                  <a:tcPr marL="114300" marR="114300" marT="76200" marB="76200" anchor="ctr">
                    <a:solidFill>
                      <a:srgbClr val="FFFFFF"/>
                    </a:solidFill>
                  </a:tcPr>
                </a:tc>
                <a:tc>
                  <a:txBody>
                    <a:bodyPr>
                      <a:noAutofit/>
                    </a:bodyPr>
                    <a:lstStyle/>
                    <a:p>
                      <a:r>
                        <a:rPr sz="1575" b="0">
                          <a:solidFill>
                            <a:srgbClr val="172033"/>
                          </a:solidFill>
                          <a:latin typeface="DejaVu Sans"/>
                          <a:ea typeface="DejaVu Sans"/>
                          <a:cs typeface="DejaVu Sans"/>
                        </a:rPr>
                        <a:t>20 %</a:t>
                      </a:r>
                    </a:p>
                  </a:txBody>
                  <a:tcPr marL="114300" marR="114300" marT="76200" marB="76200" anchor="ctr">
                    <a:solidFill>
                      <a:srgbClr val="FFFFFF"/>
                    </a:solidFill>
                  </a:tcPr>
                </a:tc>
                <a:tc>
                  <a:txBody>
                    <a:bodyPr>
                      <a:noAutofit/>
                    </a:bodyPr>
                    <a:lstStyle/>
                    <a:p>
                      <a:r>
                        <a:rPr sz="1575" b="0">
                          <a:solidFill>
                            <a:srgbClr val="172033"/>
                          </a:solidFill>
                          <a:latin typeface="DejaVu Sans"/>
                          <a:ea typeface="DejaVu Sans"/>
                          <a:cs typeface="DejaVu Sans"/>
                        </a:rPr>
                        <a:t>Cortes, purga y ausencia de leakage</a:t>
                      </a:r>
                    </a:p>
                  </a:txBody>
                  <a:tcPr marL="114300" marR="114300" marT="76200" marB="76200" anchor="ctr">
                    <a:solidFill>
                      <a:srgbClr val="FFFFFF"/>
                    </a:solidFill>
                  </a:tcPr>
                </a:tc>
              </a:tr>
              <a:tr h="601436">
                <a:tc>
                  <a:txBody>
                    <a:bodyPr>
                      <a:noAutofit/>
                    </a:bodyPr>
                    <a:lstStyle/>
                    <a:p>
                      <a:r>
                        <a:rPr sz="1575" b="1">
                          <a:solidFill>
                            <a:srgbClr val="172033"/>
                          </a:solidFill>
                          <a:latin typeface="DejaVu Sans"/>
                          <a:ea typeface="DejaVu Sans"/>
                          <a:cs typeface="DejaVu Sans"/>
                        </a:rPr>
                        <a:t>Modelos</a:t>
                      </a:r>
                    </a:p>
                  </a:txBody>
                  <a:tcPr marL="114300" marR="114300" marT="76200" marB="76200" anchor="ctr">
                    <a:solidFill>
                      <a:srgbClr val="EEF2F7"/>
                    </a:solidFill>
                  </a:tcPr>
                </a:tc>
                <a:tc>
                  <a:txBody>
                    <a:bodyPr>
                      <a:noAutofit/>
                    </a:bodyPr>
                    <a:lstStyle/>
                    <a:p>
                      <a:r>
                        <a:rPr sz="1575" b="0">
                          <a:solidFill>
                            <a:srgbClr val="172033"/>
                          </a:solidFill>
                          <a:latin typeface="DejaVu Sans"/>
                          <a:ea typeface="DejaVu Sans"/>
                          <a:cs typeface="DejaVu Sans"/>
                        </a:rPr>
                        <a:t>15 %</a:t>
                      </a:r>
                    </a:p>
                  </a:txBody>
                  <a:tcPr marL="114300" marR="114300" marT="76200" marB="76200" anchor="ctr">
                    <a:solidFill>
                      <a:srgbClr val="EEF2F7"/>
                    </a:solidFill>
                  </a:tcPr>
                </a:tc>
                <a:tc>
                  <a:txBody>
                    <a:bodyPr>
                      <a:noAutofit/>
                    </a:bodyPr>
                    <a:lstStyle/>
                    <a:p>
                      <a:r>
                        <a:rPr sz="1575" b="0">
                          <a:solidFill>
                            <a:srgbClr val="172033"/>
                          </a:solidFill>
                          <a:latin typeface="DejaVu Sans"/>
                          <a:ea typeface="DejaVu Sans"/>
                          <a:cs typeface="DejaVu Sans"/>
                        </a:rPr>
                        <a:t>Comparación, ablación y configuración</a:t>
                      </a:r>
                    </a:p>
                  </a:txBody>
                  <a:tcPr marL="114300" marR="114300" marT="76200" marB="76200" anchor="ctr">
                    <a:solidFill>
                      <a:srgbClr val="EEF2F7"/>
                    </a:solidFill>
                  </a:tcPr>
                </a:tc>
              </a:tr>
              <a:tr h="601436">
                <a:tc>
                  <a:txBody>
                    <a:bodyPr>
                      <a:noAutofit/>
                    </a:bodyPr>
                    <a:lstStyle/>
                    <a:p>
                      <a:r>
                        <a:rPr sz="1575" b="1">
                          <a:solidFill>
                            <a:srgbClr val="172033"/>
                          </a:solidFill>
                          <a:latin typeface="DejaVu Sans"/>
                          <a:ea typeface="DejaVu Sans"/>
                          <a:cs typeface="DejaVu Sans"/>
                        </a:rPr>
                        <a:t>Interpretación</a:t>
                      </a:r>
                    </a:p>
                  </a:txBody>
                  <a:tcPr marL="114300" marR="114300" marT="76200" marB="76200" anchor="ctr">
                    <a:solidFill>
                      <a:srgbClr val="FFFFFF"/>
                    </a:solidFill>
                  </a:tcPr>
                </a:tc>
                <a:tc>
                  <a:txBody>
                    <a:bodyPr>
                      <a:noAutofit/>
                    </a:bodyPr>
                    <a:lstStyle/>
                    <a:p>
                      <a:r>
                        <a:rPr sz="1575" b="0">
                          <a:solidFill>
                            <a:srgbClr val="172033"/>
                          </a:solidFill>
                          <a:latin typeface="DejaVu Sans"/>
                          <a:ea typeface="DejaVu Sans"/>
                          <a:cs typeface="DejaVu Sans"/>
                        </a:rPr>
                        <a:t>15 %</a:t>
                      </a:r>
                    </a:p>
                  </a:txBody>
                  <a:tcPr marL="114300" marR="114300" marT="76200" marB="76200" anchor="ctr">
                    <a:solidFill>
                      <a:srgbClr val="FFFFFF"/>
                    </a:solidFill>
                  </a:tcPr>
                </a:tc>
                <a:tc>
                  <a:txBody>
                    <a:bodyPr>
                      <a:noAutofit/>
                    </a:bodyPr>
                    <a:lstStyle/>
                    <a:p>
                      <a:r>
                        <a:rPr sz="1575" b="0">
                          <a:solidFill>
                            <a:srgbClr val="172033"/>
                          </a:solidFill>
                          <a:latin typeface="DejaVu Sans"/>
                          <a:ea typeface="DejaVu Sans"/>
                          <a:cs typeface="DejaVu Sans"/>
                        </a:rPr>
                        <a:t>Errores, estabilidad y límites</a:t>
                      </a:r>
                    </a:p>
                  </a:txBody>
                  <a:tcPr marL="114300" marR="114300" marT="76200" marB="76200" anchor="ctr">
                    <a:solidFill>
                      <a:srgbClr val="FFFFFF"/>
                    </a:solidFill>
                  </a:tcPr>
                </a:tc>
              </a:tr>
              <a:tr h="601436">
                <a:tc>
                  <a:txBody>
                    <a:bodyPr>
                      <a:noAutofit/>
                    </a:bodyPr>
                    <a:lstStyle/>
                    <a:p>
                      <a:r>
                        <a:rPr sz="1575" b="1">
                          <a:solidFill>
                            <a:srgbClr val="172033"/>
                          </a:solidFill>
                          <a:latin typeface="DejaVu Sans"/>
                          <a:ea typeface="DejaVu Sans"/>
                          <a:cs typeface="DejaVu Sans"/>
                        </a:rPr>
                        <a:t>Comunicación</a:t>
                      </a:r>
                    </a:p>
                  </a:txBody>
                  <a:tcPr marL="114300" marR="114300" marT="76200" marB="76200" anchor="ctr">
                    <a:solidFill>
                      <a:srgbClr val="EEF2F7"/>
                    </a:solidFill>
                  </a:tcPr>
                </a:tc>
                <a:tc>
                  <a:txBody>
                    <a:bodyPr>
                      <a:noAutofit/>
                    </a:bodyPr>
                    <a:lstStyle/>
                    <a:p>
                      <a:r>
                        <a:rPr sz="1575" b="0">
                          <a:solidFill>
                            <a:srgbClr val="172033"/>
                          </a:solidFill>
                          <a:latin typeface="DejaVu Sans"/>
                          <a:ea typeface="DejaVu Sans"/>
                          <a:cs typeface="DejaVu Sans"/>
                        </a:rPr>
                        <a:t>15 %</a:t>
                      </a:r>
                    </a:p>
                  </a:txBody>
                  <a:tcPr marL="114300" marR="114300" marT="76200" marB="76200" anchor="ctr">
                    <a:solidFill>
                      <a:srgbClr val="EEF2F7"/>
                    </a:solidFill>
                  </a:tcPr>
                </a:tc>
                <a:tc>
                  <a:txBody>
                    <a:bodyPr>
                      <a:noAutofit/>
                    </a:bodyPr>
                    <a:lstStyle/>
                    <a:p>
                      <a:r>
                        <a:rPr sz="1575" b="0">
                          <a:solidFill>
                            <a:srgbClr val="172033"/>
                          </a:solidFill>
                          <a:latin typeface="DejaVu Sans"/>
                          <a:ea typeface="DejaVu Sans"/>
                          <a:cs typeface="DejaVu Sans"/>
                        </a:rPr>
                        <a:t>Reporte, código y defensa</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1939583842"/>
      </p:ext>
    </p:extLst>
  </p:cSld>
</p:sld>
</file>

<file path=ppt/slides/slide1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7188E8CA-54C1-40AF-BC92-E2087A736368}"/>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91861DC7-1068-46CD-993D-AC41A9E9177C}"/>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Preguntas para la defensa</a:t>
            </a:r>
          </a:p>
        </p:txBody>
      </p:sp>
      <p:sp>
        <p:nvSpPr>
          <p:cNvPr id="3" name="author">
            <a:extLst xmlns:a="http://schemas.openxmlformats.org/drawingml/2006/main">
              <a:ext uri="{FF2B5EF4-FFF2-40B4-BE49-F238E27FC236}">
                <a16:creationId xmlns:a16="http://schemas.microsoft.com/office/drawing/2014/main" id="{973DD238-BC76-424D-B9C0-C6D28BA8668E}"/>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10A295A2-455F-4D30-8D95-2577B84B63F4}"/>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14 / 16</a:t>
            </a:r>
          </a:p>
        </p:txBody>
      </p:sp>
      <p:sp>
        <p:nvSpPr>
          <p:cNvPr id="5" name="label-0">
            <a:extLst xmlns:a="http://schemas.openxmlformats.org/drawingml/2006/main">
              <a:ext uri="{FF2B5EF4-FFF2-40B4-BE49-F238E27FC236}">
                <a16:creationId xmlns:a16="http://schemas.microsoft.com/office/drawing/2014/main" id="{3AE22E70-E0D5-4756-BA4D-AC1943218B10}"/>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Disponibilidad</a:t>
            </a:r>
          </a:p>
        </p:txBody>
      </p:sp>
      <p:sp>
        <p:nvSpPr>
          <p:cNvPr id="6" name="body-0">
            <a:extLst xmlns:a="http://schemas.openxmlformats.org/drawingml/2006/main">
              <a:ext uri="{FF2B5EF4-FFF2-40B4-BE49-F238E27FC236}">
                <a16:creationId xmlns:a16="http://schemas.microsoft.com/office/drawing/2014/main" id="{5ABB27B6-A0F9-480C-897C-0E7DF8AEA0F5}"/>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¿Qué dato pudo conocerse exactamente al instante de cada predicción?</a:t>
            </a:r>
          </a:p>
        </p:txBody>
      </p:sp>
      <p:sp>
        <p:nvSpPr>
          <p:cNvPr id="7" name="label-1">
            <a:extLst xmlns:a="http://schemas.openxmlformats.org/drawingml/2006/main">
              <a:ext uri="{FF2B5EF4-FFF2-40B4-BE49-F238E27FC236}">
                <a16:creationId xmlns:a16="http://schemas.microsoft.com/office/drawing/2014/main" id="{333478BE-9925-4D22-98D5-C2FA1B56A06D}"/>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Valor incremental</a:t>
            </a:r>
          </a:p>
        </p:txBody>
      </p:sp>
      <p:sp>
        <p:nvSpPr>
          <p:cNvPr id="8" name="body-1">
            <a:extLst xmlns:a="http://schemas.openxmlformats.org/drawingml/2006/main">
              <a:ext uri="{FF2B5EF4-FFF2-40B4-BE49-F238E27FC236}">
                <a16:creationId xmlns:a16="http://schemas.microsoft.com/office/drawing/2014/main" id="{3AFC4D44-4BEF-47BA-A117-B8223E2A946F}"/>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¿Qué cambió al retirar las variables on-chain, las métricas de grafo o el embedding?</a:t>
            </a:r>
          </a:p>
        </p:txBody>
      </p:sp>
      <p:sp>
        <p:nvSpPr>
          <p:cNvPr id="9" name="label-2">
            <a:extLst xmlns:a="http://schemas.openxmlformats.org/drawingml/2006/main">
              <a:ext uri="{FF2B5EF4-FFF2-40B4-BE49-F238E27FC236}">
                <a16:creationId xmlns:a16="http://schemas.microsoft.com/office/drawing/2014/main" id="{4AF531B1-D7B3-46B2-BFB0-328857BF4AA2}"/>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Generalización</a:t>
            </a:r>
          </a:p>
        </p:txBody>
      </p:sp>
      <p:sp>
        <p:nvSpPr>
          <p:cNvPr id="10" name="body-2">
            <a:extLst xmlns:a="http://schemas.openxmlformats.org/drawingml/2006/main">
              <a:ext uri="{FF2B5EF4-FFF2-40B4-BE49-F238E27FC236}">
                <a16:creationId xmlns:a16="http://schemas.microsoft.com/office/drawing/2014/main" id="{85BDC92C-216F-4572-AFAA-5FE48E2577CF}"/>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¿Cómo varían los errores por período? ¿Qué resultados y limitaciones puede sostener el experimento?</a:t>
            </a:r>
          </a:p>
        </p:txBody>
      </p:sp>
    </p:spTree>
    <p:extLst>
      <p:ext uri="{BB962C8B-B14F-4D97-AF65-F5344CB8AC3E}">
        <p14:creationId xmlns:p14="http://schemas.microsoft.com/office/powerpoint/2010/main" val="1280213730"/>
      </p:ext>
    </p:extLst>
  </p:cSld>
</p:sld>
</file>

<file path=ppt/slides/slide1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28D20246-562D-4546-9C47-0F061D9D14A2}"/>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C023C8B3-5297-4A4D-B544-849644000327}"/>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Lectura crítica de un resultado publicado</a:t>
            </a:r>
          </a:p>
        </p:txBody>
      </p:sp>
      <p:sp>
        <p:nvSpPr>
          <p:cNvPr id="3" name="author">
            <a:extLst xmlns:a="http://schemas.openxmlformats.org/drawingml/2006/main">
              <a:ext uri="{FF2B5EF4-FFF2-40B4-BE49-F238E27FC236}">
                <a16:creationId xmlns:a16="http://schemas.microsoft.com/office/drawing/2014/main" id="{22A0B726-FA11-48C7-9913-3F77B68DB66C}"/>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B2C7F3F9-D871-436C-AF04-97A2C378EBB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15 / 16</a:t>
            </a:r>
          </a:p>
        </p:txBody>
      </p:sp>
      <p:sp>
        <p:nvSpPr>
          <p:cNvPr id="5" name="label-0">
            <a:extLst xmlns:a="http://schemas.openxmlformats.org/drawingml/2006/main">
              <a:ext uri="{FF2B5EF4-FFF2-40B4-BE49-F238E27FC236}">
                <a16:creationId xmlns:a16="http://schemas.microsoft.com/office/drawing/2014/main" id="{14433B5C-567A-431C-9A25-ED7D05E05F65}"/>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Diseño reportado</a:t>
            </a:r>
          </a:p>
        </p:txBody>
      </p:sp>
      <p:sp>
        <p:nvSpPr>
          <p:cNvPr id="6" name="body-0">
            <a:extLst xmlns:a="http://schemas.openxmlformats.org/drawingml/2006/main">
              <a:ext uri="{FF2B5EF4-FFF2-40B4-BE49-F238E27FC236}">
                <a16:creationId xmlns:a16="http://schemas.microsoft.com/office/drawing/2014/main" id="{52C82ED4-D4A7-4509-8712-C246DE182241}"/>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Identificar dataset, etiquetas, partición temporal, benchmark y conjunto que utiliza la tabla de resultados.</a:t>
            </a:r>
          </a:p>
        </p:txBody>
      </p:sp>
      <p:sp>
        <p:nvSpPr>
          <p:cNvPr id="7" name="label-1">
            <a:extLst xmlns:a="http://schemas.openxmlformats.org/drawingml/2006/main">
              <a:ext uri="{FF2B5EF4-FFF2-40B4-BE49-F238E27FC236}">
                <a16:creationId xmlns:a16="http://schemas.microsoft.com/office/drawing/2014/main" id="{4CBC9BA6-DBEC-48BB-A8A1-81AC108423DE}"/>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Métrica y evidencia</a:t>
            </a:r>
          </a:p>
        </p:txBody>
      </p:sp>
      <p:sp>
        <p:nvSpPr>
          <p:cNvPr id="8" name="body-1">
            <a:extLst xmlns:a="http://schemas.openxmlformats.org/drawingml/2006/main">
              <a:ext uri="{FF2B5EF4-FFF2-40B4-BE49-F238E27FC236}">
                <a16:creationId xmlns:a16="http://schemas.microsoft.com/office/drawing/2014/main" id="{D1817154-0A10-4DEC-B431-8CBC2118547F}"/>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Distinguir diferencias de AUC, precision, recall y desempeño por umbral.</a:t>
            </a:r>
          </a:p>
        </p:txBody>
      </p:sp>
      <p:sp>
        <p:nvSpPr>
          <p:cNvPr id="9" name="label-2">
            <a:extLst xmlns:a="http://schemas.openxmlformats.org/drawingml/2006/main">
              <a:ext uri="{FF2B5EF4-FFF2-40B4-BE49-F238E27FC236}">
                <a16:creationId xmlns:a16="http://schemas.microsoft.com/office/drawing/2014/main" id="{04E14CDA-DDC4-4331-B622-83B9837187BE}"/>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85605"/>
                </a:solidFill>
                <a:latin typeface="DejaVu Sans"/>
                <a:ea typeface="DejaVu Sans"/>
                <a:cs typeface="DejaVu Sans"/>
              </a:defRPr>
            </a:pPr>
            <a:r>
              <a:rPr sz="2025" b="1">
                <a:solidFill>
                  <a:srgbClr val="A85605"/>
                </a:solidFill>
                <a:latin typeface="DejaVu Sans"/>
                <a:ea typeface="DejaVu Sans"/>
                <a:cs typeface="DejaVu Sans"/>
              </a:rPr>
              <a:t>Transferencia</a:t>
            </a:r>
          </a:p>
        </p:txBody>
      </p:sp>
      <p:sp>
        <p:nvSpPr>
          <p:cNvPr id="10" name="body-2">
            <a:extLst xmlns:a="http://schemas.openxmlformats.org/drawingml/2006/main">
              <a:ext uri="{FF2B5EF4-FFF2-40B4-BE49-F238E27FC236}">
                <a16:creationId xmlns:a16="http://schemas.microsoft.com/office/drawing/2014/main" id="{8D4C43E8-8C95-47A8-8F32-EE8E33039732}"/>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Evaluar si el protocolo del paper representa la aplicación que se pretende estudiar.</a:t>
            </a:r>
          </a:p>
        </p:txBody>
      </p:sp>
    </p:spTree>
    <p:extLst>
      <p:ext uri="{BB962C8B-B14F-4D97-AF65-F5344CB8AC3E}">
        <p14:creationId xmlns:p14="http://schemas.microsoft.com/office/powerpoint/2010/main" val="1256889833"/>
      </p:ext>
    </p:extLst>
  </p:cSld>
</p:sld>
</file>

<file path=ppt/slides/slide1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5" name="unit">
            <a:extLst xmlns:a="http://schemas.openxmlformats.org/drawingml/2006/main">
              <a:ext uri="{FF2B5EF4-FFF2-40B4-BE49-F238E27FC236}">
                <a16:creationId xmlns:a16="http://schemas.microsoft.com/office/drawing/2014/main" id="{CAAD8AD9-0FF7-4286-A8E4-F785C662F9EF}"/>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A85605"/>
                </a:solidFill>
                <a:latin typeface="DejaVu Sans"/>
                <a:ea typeface="DejaVu Sans"/>
                <a:cs typeface="DejaVu Sans"/>
              </a:defRPr>
            </a:pPr>
            <a:r>
              <a:rPr sz="1350" b="1">
                <a:solidFill>
                  <a:srgbClr val="A85605"/>
                </a:solidFill>
                <a:latin typeface="DejaVu Sans"/>
                <a:ea typeface="DejaVu Sans"/>
                <a:cs typeface="DejaVu Sans"/>
              </a:rPr>
              <a:t>UNIDAD 8   Integrador</a:t>
            </a:r>
          </a:p>
        </p:txBody>
      </p:sp>
      <p:sp>
        <p:nvSpPr>
          <p:cNvPr id="2" name="title">
            <a:extLst xmlns:a="http://schemas.openxmlformats.org/drawingml/2006/main">
              <a:ext uri="{FF2B5EF4-FFF2-40B4-BE49-F238E27FC236}">
                <a16:creationId xmlns:a16="http://schemas.microsoft.com/office/drawing/2014/main" id="{DB99BF77-DD8C-48F9-88A7-EC29F09904A9}"/>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Bibliografía y documentación</a:t>
            </a:r>
          </a:p>
        </p:txBody>
      </p:sp>
      <p:sp>
        <p:nvSpPr>
          <p:cNvPr id="3" name="author">
            <a:extLst xmlns:a="http://schemas.openxmlformats.org/drawingml/2006/main">
              <a:ext uri="{FF2B5EF4-FFF2-40B4-BE49-F238E27FC236}">
                <a16:creationId xmlns:a16="http://schemas.microsoft.com/office/drawing/2014/main" id="{ECED628D-4389-4CCA-9952-A474D790DD17}"/>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CB36012B-B7CA-4F4A-9976-E2B48D40DFD7}"/>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16 / 16</a:t>
            </a:r>
          </a:p>
        </p:txBody>
      </p:sp>
      <p:sp>
        <p:nvSpPr>
          <p:cNvPr id="5" name="reference-0">
            <a:extLst xmlns:a="http://schemas.openxmlformats.org/drawingml/2006/main">
              <a:ext uri="{FF2B5EF4-FFF2-40B4-BE49-F238E27FC236}">
                <a16:creationId xmlns:a16="http://schemas.microsoft.com/office/drawing/2014/main" id="{2D879FE3-FC02-4937-A020-B898BAB2E47A}"/>
              </a:ext>
            </a:extLst>
          </p:cNvPr>
          <p:cNvSpPr>
            <a:spLocks xmlns:a="http://schemas.openxmlformats.org/drawingml/2006/main" noGrp="1"/>
          </p:cNvSpPr>
          <p:nvPr/>
        </p:nvSpPr>
        <p:spPr>
          <a:xfrm xmlns:a="http://schemas.openxmlformats.org/drawingml/2006/main">
            <a:off x="609600" y="1838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Lundberg y Lee (2017). A Unified Approach to Interpreting Model Predictions</a:t>
            </a:r>
          </a:p>
        </p:txBody>
      </p:sp>
      <p:sp>
        <p:nvSpPr>
          <p:cNvPr id="6" name="reference-url-0">
            <a:extLst xmlns:a="http://schemas.openxmlformats.org/drawingml/2006/main">
              <a:ext uri="{FF2B5EF4-FFF2-40B4-BE49-F238E27FC236}">
                <a16:creationId xmlns:a16="http://schemas.microsoft.com/office/drawing/2014/main" id="{79533765-906E-45F1-B529-B7BC3C35F778}"/>
              </a:ext>
            </a:extLst>
          </p:cNvPr>
          <p:cNvSpPr>
            <a:spLocks xmlns:a="http://schemas.openxmlformats.org/drawingml/2006/main" noGrp="1"/>
          </p:cNvSpPr>
          <p:nvPr/>
        </p:nvSpPr>
        <p:spPr>
          <a:xfrm xmlns:a="http://schemas.openxmlformats.org/drawingml/2006/main">
            <a:off x="609600" y="2209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A85605"/>
                </a:solidFill>
                <a:latin typeface="DejaVu Sans"/>
                <a:ea typeface="DejaVu Sans"/>
                <a:cs typeface="DejaVu Sans"/>
              </a:defRPr>
            </a:pPr>
            <a:r>
              <a:rPr sz="1275" b="0">
                <a:solidFill>
                  <a:srgbClr val="A85605"/>
                </a:solidFill>
                <a:latin typeface="DejaVu Sans"/>
                <a:ea typeface="DejaVu Sans"/>
                <a:cs typeface="DejaVu Sans"/>
                <a:hlinkClick xmlns:r="http://schemas.openxmlformats.org/officeDocument/2006/relationships" r:id="R9bfb08fc3bdd4bf0"/>
              </a:rPr>
              <a:t>https://arxiv.org/abs/1705.07874</a:t>
            </a:r>
          </a:p>
        </p:txBody>
      </p:sp>
      <p:sp>
        <p:nvSpPr>
          <p:cNvPr id="7" name="reference-1">
            <a:extLst xmlns:a="http://schemas.openxmlformats.org/drawingml/2006/main">
              <a:ext uri="{FF2B5EF4-FFF2-40B4-BE49-F238E27FC236}">
                <a16:creationId xmlns:a16="http://schemas.microsoft.com/office/drawing/2014/main" id="{7DF4CC5A-2806-407D-8DD2-0F878F399686}"/>
              </a:ext>
            </a:extLst>
          </p:cNvPr>
          <p:cNvSpPr>
            <a:spLocks xmlns:a="http://schemas.openxmlformats.org/drawingml/2006/main" noGrp="1"/>
          </p:cNvSpPr>
          <p:nvPr/>
        </p:nvSpPr>
        <p:spPr>
          <a:xfrm xmlns:a="http://schemas.openxmlformats.org/drawingml/2006/main">
            <a:off x="609600" y="26384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Weber et al. (2019). Anti-Money Laundering in Bitcoin</a:t>
            </a:r>
          </a:p>
        </p:txBody>
      </p:sp>
      <p:sp>
        <p:nvSpPr>
          <p:cNvPr id="8" name="reference-url-1">
            <a:extLst xmlns:a="http://schemas.openxmlformats.org/drawingml/2006/main">
              <a:ext uri="{FF2B5EF4-FFF2-40B4-BE49-F238E27FC236}">
                <a16:creationId xmlns:a16="http://schemas.microsoft.com/office/drawing/2014/main" id="{671E742A-DE99-4258-98FD-B93683C84223}"/>
              </a:ext>
            </a:extLst>
          </p:cNvPr>
          <p:cNvSpPr>
            <a:spLocks xmlns:a="http://schemas.openxmlformats.org/drawingml/2006/main" noGrp="1"/>
          </p:cNvSpPr>
          <p:nvPr/>
        </p:nvSpPr>
        <p:spPr>
          <a:xfrm xmlns:a="http://schemas.openxmlformats.org/drawingml/2006/main">
            <a:off x="609600" y="3009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A85605"/>
                </a:solidFill>
                <a:latin typeface="DejaVu Sans"/>
                <a:ea typeface="DejaVu Sans"/>
                <a:cs typeface="DejaVu Sans"/>
              </a:defRPr>
            </a:pPr>
            <a:r>
              <a:rPr sz="1275" b="0">
                <a:solidFill>
                  <a:srgbClr val="A85605"/>
                </a:solidFill>
                <a:latin typeface="DejaVu Sans"/>
                <a:ea typeface="DejaVu Sans"/>
                <a:cs typeface="DejaVu Sans"/>
                <a:hlinkClick xmlns:r="http://schemas.openxmlformats.org/officeDocument/2006/relationships" r:id="R8506e285646842a8"/>
              </a:rPr>
              <a:t>https://arxiv.org/abs/1908.02591</a:t>
            </a:r>
          </a:p>
        </p:txBody>
      </p:sp>
      <p:sp>
        <p:nvSpPr>
          <p:cNvPr id="9" name="reference-2">
            <a:extLst xmlns:a="http://schemas.openxmlformats.org/drawingml/2006/main">
              <a:ext uri="{FF2B5EF4-FFF2-40B4-BE49-F238E27FC236}">
                <a16:creationId xmlns:a16="http://schemas.microsoft.com/office/drawing/2014/main" id="{25128176-C26F-47D7-80AF-A68CEC2E8CFB}"/>
              </a:ext>
            </a:extLst>
          </p:cNvPr>
          <p:cNvSpPr>
            <a:spLocks xmlns:a="http://schemas.openxmlformats.org/drawingml/2006/main" noGrp="1"/>
          </p:cNvSpPr>
          <p:nvPr/>
        </p:nvSpPr>
        <p:spPr>
          <a:xfrm xmlns:a="http://schemas.openxmlformats.org/drawingml/2006/main">
            <a:off x="609600" y="3438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Zheng, Zhou y Song (2025). Temporal-Aware Graph Attention Network</a:t>
            </a:r>
          </a:p>
        </p:txBody>
      </p:sp>
      <p:sp>
        <p:nvSpPr>
          <p:cNvPr id="10" name="reference-url-2">
            <a:extLst xmlns:a="http://schemas.openxmlformats.org/drawingml/2006/main">
              <a:ext uri="{FF2B5EF4-FFF2-40B4-BE49-F238E27FC236}">
                <a16:creationId xmlns:a16="http://schemas.microsoft.com/office/drawing/2014/main" id="{37207E68-8A6A-4061-829C-5E36C473BC6F}"/>
              </a:ext>
            </a:extLst>
          </p:cNvPr>
          <p:cNvSpPr>
            <a:spLocks xmlns:a="http://schemas.openxmlformats.org/drawingml/2006/main" noGrp="1"/>
          </p:cNvSpPr>
          <p:nvPr/>
        </p:nvSpPr>
        <p:spPr>
          <a:xfrm xmlns:a="http://schemas.openxmlformats.org/drawingml/2006/main">
            <a:off x="609600" y="3810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A85605"/>
                </a:solidFill>
                <a:latin typeface="DejaVu Sans"/>
                <a:ea typeface="DejaVu Sans"/>
                <a:cs typeface="DejaVu Sans"/>
              </a:defRPr>
            </a:pPr>
            <a:r>
              <a:rPr sz="1275" b="0">
                <a:solidFill>
                  <a:srgbClr val="A85605"/>
                </a:solidFill>
                <a:latin typeface="DejaVu Sans"/>
                <a:ea typeface="DejaVu Sans"/>
                <a:cs typeface="DejaVu Sans"/>
                <a:hlinkClick xmlns:r="http://schemas.openxmlformats.org/officeDocument/2006/relationships" r:id="Rb0ca4decf40d48bf"/>
              </a:rPr>
              <a:t>https://arxiv.org/abs/2506.21382</a:t>
            </a:r>
          </a:p>
        </p:txBody>
      </p:sp>
      <p:sp>
        <p:nvSpPr>
          <p:cNvPr id="11" name="reference-3">
            <a:extLst xmlns:a="http://schemas.openxmlformats.org/drawingml/2006/main">
              <a:ext uri="{FF2B5EF4-FFF2-40B4-BE49-F238E27FC236}">
                <a16:creationId xmlns:a16="http://schemas.microsoft.com/office/drawing/2014/main" id="{232A9ECD-291D-43E0-8364-742D70377C5D}"/>
              </a:ext>
            </a:extLst>
          </p:cNvPr>
          <p:cNvSpPr>
            <a:spLocks xmlns:a="http://schemas.openxmlformats.org/drawingml/2006/main" noGrp="1"/>
          </p:cNvSpPr>
          <p:nvPr/>
        </p:nvSpPr>
        <p:spPr>
          <a:xfrm xmlns:a="http://schemas.openxmlformats.org/drawingml/2006/main">
            <a:off x="609600" y="4238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scikit-learn. TimeSeriesSplit</a:t>
            </a:r>
          </a:p>
        </p:txBody>
      </p:sp>
      <p:sp>
        <p:nvSpPr>
          <p:cNvPr id="12" name="reference-url-3">
            <a:extLst xmlns:a="http://schemas.openxmlformats.org/drawingml/2006/main">
              <a:ext uri="{FF2B5EF4-FFF2-40B4-BE49-F238E27FC236}">
                <a16:creationId xmlns:a16="http://schemas.microsoft.com/office/drawing/2014/main" id="{86414FC9-5394-4D77-A917-B0708E7920E5}"/>
              </a:ext>
            </a:extLst>
          </p:cNvPr>
          <p:cNvSpPr>
            <a:spLocks xmlns:a="http://schemas.openxmlformats.org/drawingml/2006/main" noGrp="1"/>
          </p:cNvSpPr>
          <p:nvPr/>
        </p:nvSpPr>
        <p:spPr>
          <a:xfrm xmlns:a="http://schemas.openxmlformats.org/drawingml/2006/main">
            <a:off x="609600" y="4610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A85605"/>
                </a:solidFill>
                <a:latin typeface="DejaVu Sans"/>
                <a:ea typeface="DejaVu Sans"/>
                <a:cs typeface="DejaVu Sans"/>
              </a:defRPr>
            </a:pPr>
            <a:r>
              <a:rPr sz="1275" b="0">
                <a:solidFill>
                  <a:srgbClr val="A85605"/>
                </a:solidFill>
                <a:latin typeface="DejaVu Sans"/>
                <a:ea typeface="DejaVu Sans"/>
                <a:cs typeface="DejaVu Sans"/>
                <a:hlinkClick xmlns:r="http://schemas.openxmlformats.org/officeDocument/2006/relationships" r:id="Ra2083748ceb64d0d"/>
              </a:rPr>
              <a:t>https://scikit-learn.org/stable/modules/generated/sklearn.model_selection.TimeSeriesSplit.html</a:t>
            </a:r>
          </a:p>
        </p:txBody>
      </p:sp>
      <p:sp>
        <p:nvSpPr>
          <p:cNvPr id="13" name="reference-4">
            <a:extLst xmlns:a="http://schemas.openxmlformats.org/drawingml/2006/main">
              <a:ext uri="{FF2B5EF4-FFF2-40B4-BE49-F238E27FC236}">
                <a16:creationId xmlns:a16="http://schemas.microsoft.com/office/drawing/2014/main" id="{7A8B02A0-F408-4933-9248-DA618BFD7399}"/>
              </a:ext>
            </a:extLst>
          </p:cNvPr>
          <p:cNvSpPr>
            <a:spLocks xmlns:a="http://schemas.openxmlformats.org/drawingml/2006/main" noGrp="1"/>
          </p:cNvSpPr>
          <p:nvPr/>
        </p:nvSpPr>
        <p:spPr>
          <a:xfrm xmlns:a="http://schemas.openxmlformats.org/drawingml/2006/main">
            <a:off x="609600" y="50387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Moiz y Raza (2026). Deep learning and GARCH family models</a:t>
            </a:r>
          </a:p>
        </p:txBody>
      </p:sp>
      <p:sp>
        <p:nvSpPr>
          <p:cNvPr id="14" name="reference-url-4">
            <a:extLst xmlns:a="http://schemas.openxmlformats.org/drawingml/2006/main">
              <a:ext uri="{FF2B5EF4-FFF2-40B4-BE49-F238E27FC236}">
                <a16:creationId xmlns:a16="http://schemas.microsoft.com/office/drawing/2014/main" id="{3E74D135-5BCA-4EDC-A3E9-00A99F94EA2E}"/>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A85605"/>
                </a:solidFill>
                <a:latin typeface="DejaVu Sans"/>
                <a:ea typeface="DejaVu Sans"/>
                <a:cs typeface="DejaVu Sans"/>
              </a:defRPr>
            </a:pPr>
            <a:r>
              <a:rPr sz="1275" b="0">
                <a:solidFill>
                  <a:srgbClr val="A85605"/>
                </a:solidFill>
                <a:latin typeface="DejaVu Sans"/>
                <a:ea typeface="DejaVu Sans"/>
                <a:cs typeface="DejaVu Sans"/>
                <a:hlinkClick xmlns:r="http://schemas.openxmlformats.org/officeDocument/2006/relationships" r:id="R32592006015f4f53"/>
              </a:rPr>
              <a:t>https://mf-journal.com/article/view/370</a:t>
            </a:r>
          </a:p>
        </p:txBody>
      </p:sp>
    </p:spTree>
    <p:extLst>
      <p:ext uri="{BB962C8B-B14F-4D97-AF65-F5344CB8AC3E}">
        <p14:creationId xmlns:p14="http://schemas.microsoft.com/office/powerpoint/2010/main" val="709592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2026-10-02T13:02:18.2540000Z</dcterms:created>
  <dcterms:modified xsi:type="dcterms:W3CDTF">2026-10-02T13:02:18.2540000Z</dcterms:modified>
</coreProperties>
</file>